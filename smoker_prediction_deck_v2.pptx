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94B"/>
                </a:solidFill>
                <a:latin typeface="Arial"/>
              </a:defRPr>
            </a:pPr>
            <a:r>
              <a:rPr sz="1300" b="0" i="0" u="none" strike="noStrike">
                <a:solidFill>
                  <a:srgbClr val="13294B"/>
                </a:solidFill>
                <a:latin typeface="Arial"/>
              </a:rPr>
              <a:t>Class Distribution</a:t>
            </a:r>
          </a:p>
        </c:rich>
      </c:tx>
      <c:layout/>
      <c:overlay val="0"/>
    </c:title>
    <c:autoTitleDeleted val="0"/>
    <c:plotArea>
      <c:layout/>
      <c:pieChart>
        <c:varyColors val="1"/>
        <c:ser>
          <c:idx val="0"/>
          <c:order val="0"/>
          <c:tx>
            <c:strRef>
              <c:f>Sheet1!$B$1</c:f>
              <c:strCache>
                <c:ptCount val="1"/>
                <c:pt idx="0">
                  <c:v>Class</c:v>
                </c:pt>
              </c:strCache>
            </c:strRef>
          </c:tx>
          <c:spPr>
            <a:solidFill>
              <a:schemeClr val="accent1"/>
            </a:solidFill>
            <a:ln w="9525" cap="flat">
              <a:solidFill>
                <a:srgbClr val="F9F9F9"/>
              </a:solidFill>
              <a:prstDash val="solid"/>
              <a:round/>
            </a:ln>
            <a:effectLst/>
          </c:spPr>
          <c:dPt>
            <c:idx val="0"/>
            <c:bubble3D val="0"/>
            <c:spPr>
              <a:solidFill>
                <a:srgbClr val="13294B"/>
              </a:solidFill>
              <a:effectLst/>
            </c:spPr>
          </c:dPt>
          <c:dPt>
            <c:idx val="1"/>
            <c:bubble3D val="0"/>
            <c:spPr>
              <a:solidFill>
                <a:srgbClr val="4B9CD3"/>
              </a:solidFill>
              <a:effectLst/>
            </c:spPr>
          </c:dPt>
          <c:dLbls>
            <c:dLbl>
              <c:idx val="0"/>
              <c:numFmt formatCode="0%" sourceLinked="0"/>
              <c:spPr/>
              <c:txPr>
                <a:bodyPr/>
                <a:lstStyle/>
                <a:p>
                  <a:pPr>
                    <a:defRPr sz="1300" b="0" i="0" u="none" strike="noStrike">
                      <a:solidFill>
                        <a:srgbClr val="000000"/>
                      </a:solidFill>
                      <a:latin typeface="Arial"/>
                    </a:defRPr>
                  </a:pPr>
                </a:p>
              </c:txPr>
              <c:showLegendKey val="0"/>
              <c:showVal val="0"/>
              <c:showCatName val="0"/>
              <c:showSerName val="0"/>
              <c:showPercent val="1"/>
              <c:showBubbleSize val="0"/>
            </c:dLbl>
            <c:dLbl>
              <c:idx val="1"/>
              <c:numFmt formatCode="0%" sourceLinked="0"/>
              <c:spPr/>
              <c:txPr>
                <a:bodyPr/>
                <a:lstStyle/>
                <a:p>
                  <a:pPr>
                    <a:defRPr sz="1300" b="0" i="0" u="none" strike="noStrike">
                      <a:solidFill>
                        <a:srgbClr val="000000"/>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Non-Smoker (63.5%)</c:v>
                </c:pt>
                <c:pt idx="1">
                  <c:v>Smoker (36.5%)</c:v>
                </c:pt>
              </c:strCache>
            </c:strRef>
          </c:cat>
          <c:val>
            <c:numRef>
              <c:f>Sheet1!$B$2:$B$3</c:f>
              <c:numCache>
                <c:ptCount val="2"/>
                <c:pt idx="0">
                  <c:v>63.5</c:v>
                </c:pt>
                <c:pt idx="1">
                  <c:v>36.5</c:v>
                </c:pt>
              </c:numCache>
            </c:numRef>
          </c:val>
        </c:ser>
        <c:firstSliceAng val="0"/>
      </c:pieChart>
      <c:spPr>
        <a:noFill/>
        <a:ln>
          <a:noFill/>
        </a:ln>
        <a:effectLst/>
      </c:spPr>
    </c:plotArea>
    <c:legend>
      <c:legendPos val="b"/>
      <c:overlay val="0"/>
    </c:legend>
    <c:plotVisOnly val="1"/>
    <c:dispBlanksAs val="span"/>
  </c:chart>
  <c:spPr>
    <a:solidFill>
      <a:srgbClr val="F5F7F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3294B"/>
                </a:solidFill>
                <a:latin typeface="Arial"/>
              </a:defRPr>
            </a:pPr>
            <a:r>
              <a:rPr sz="1100" b="0" i="0" u="none" strike="noStrike">
                <a:solidFill>
                  <a:srgbClr val="13294B"/>
                </a:solidFill>
                <a:latin typeface="Arial"/>
              </a:rPr>
              <a:t>Smoking Rate by Age (dataset artifact)</a:t>
            </a:r>
          </a:p>
        </c:rich>
      </c:tx>
      <c:layout/>
      <c:overlay val="0"/>
    </c:title>
    <c:autoTitleDeleted val="0"/>
    <c:plotArea>
      <c:layout/>
      <c:barChart>
        <c:barDir val="col"/>
        <c:grouping val="clustered"/>
        <c:varyColors val="0"/>
        <c:ser>
          <c:idx val="0"/>
          <c:order val="0"/>
          <c:tx>
            <c:strRef>
              <c:f>Sheet1!$B$1</c:f>
              <c:strCache>
                <c:ptCount val="1"/>
                <c:pt idx="0">
                  <c:v>Smoking Rate (%)</c:v>
                </c:pt>
              </c:strCache>
            </c:strRef>
          </c:tx>
          <c:spPr>
            <a:solidFill>
              <a:srgbClr val="4B9CD3"/>
            </a:solidFill>
            <a:effectLst/>
          </c:spPr>
          <c:invertIfNegative val="0"/>
          <c:dLbls>
            <c:numFmt formatCode="#,##0" sourceLinked="0"/>
            <c:txPr>
              <a:bodyPr/>
              <a:lstStyle/>
              <a:p>
                <a:pPr>
                  <a:defRPr b="0" i="0" strike="noStrike" sz="900" u="none">
                    <a:solidFill>
                      <a:srgbClr val="13294B"/>
                    </a:solidFill>
                    <a:latin typeface="Arial"/>
                  </a:defRPr>
                </a:pPr>
              </a:p>
            </c:txPr>
            <c:showLegendKey val="0"/>
            <c:showVal val="1"/>
            <c:showCatName val="0"/>
            <c:showSerName val="0"/>
            <c:showPercent val="0"/>
            <c:showBubbleSize val="0"/>
            <c:showLeaderLines val="0"/>
          </c:dLbls>
          <c:cat>
            <c:multiLvlStrRef>
              <c:f>Sheet1!$A$2:$A$7</c:f>
              <c:multiLvlStrCache>
                <c:ptCount val="6"/>
                <c:lvl>
                  <c:pt idx="0">
                    <c:v>Age 20</c:v>
                  </c:pt>
                  <c:pt idx="1">
                    <c:v>Age 35</c:v>
                  </c:pt>
                  <c:pt idx="2">
                    <c:v>Age 40</c:v>
                  </c:pt>
                  <c:pt idx="3">
                    <c:v>Age 45</c:v>
                  </c:pt>
                  <c:pt idx="4">
                    <c:v>Age 60</c:v>
                  </c:pt>
                  <c:pt idx="5">
                    <c:v>Age 80</c:v>
                  </c:pt>
                </c:lvl>
              </c:multiLvlStrCache>
            </c:multiLvlStrRef>
          </c:cat>
          <c:val>
            <c:numRef>
              <c:f>Sheet1!$B$2:$B$7</c:f>
              <c:numCache>
                <c:formatCode>General</c:formatCode>
                <c:ptCount val="6"/>
                <c:pt idx="0">
                  <c:v>62.4</c:v>
                </c:pt>
                <c:pt idx="1">
                  <c:v>59</c:v>
                </c:pt>
                <c:pt idx="2">
                  <c:v>35.4</c:v>
                </c:pt>
                <c:pt idx="3">
                  <c:v>29.9</c:v>
                </c:pt>
                <c:pt idx="4">
                  <c:v>25.4</c:v>
                </c:pt>
                <c:pt idx="5">
                  <c:v>5</c:v>
                </c:pt>
              </c:numCache>
            </c:numRef>
          </c:val>
        </c:ser>
        <c:dLbls>
          <c:numFmt formatCode="#,##0" sourceLinked="0"/>
          <c:txPr>
            <a:bodyPr/>
            <a:lstStyle/>
            <a:p>
              <a:pPr>
                <a:defRPr b="0" i="0" strike="noStrike" sz="900" u="none">
                  <a:solidFill>
                    <a:srgbClr val="13294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5F7FA"/>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Perfect Calibration</c:v>
                </c:pt>
              </c:strCache>
            </c:strRef>
          </c:tx>
          <c:spPr>
            <a:solidFill>
              <a:srgbClr val="E8ECF0"/>
            </a:solidFill>
            <a:ln w="31750" cap="flat">
              <a:solidFill>
                <a:srgbClr val="E8ECF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8ECF0"/>
              </a:solidFill>
              <a:ln w="9525" cap="flat">
                <a:solidFill>
                  <a:srgbClr val="E8ECF0"/>
                </a:solidFill>
                <a:prstDash val="solid"/>
                <a:round/>
              </a:ln>
              <a:effectLst/>
            </c:spPr>
          </c:marker>
          <c:cat>
            <c:multiLvlStrRef>
              <c:f>Sheet1!$A$2:$A$11</c:f>
              <c:multiLvlStrCache>
                <c:ptCount val="10"/>
                <c:lvl>
                  <c:pt idx="0">
                    <c:v>0.1</c:v>
                  </c:pt>
                  <c:pt idx="1">
                    <c:v>0.2</c:v>
                  </c:pt>
                  <c:pt idx="2">
                    <c:v>0.3</c:v>
                  </c:pt>
                  <c:pt idx="3">
                    <c:v>0.4</c:v>
                  </c:pt>
                  <c:pt idx="4">
                    <c:v>0.5</c:v>
                  </c:pt>
                  <c:pt idx="5">
                    <c:v>0.6</c:v>
                  </c:pt>
                  <c:pt idx="6">
                    <c:v>0.7</c:v>
                  </c:pt>
                  <c:pt idx="7">
                    <c:v>0.8</c:v>
                  </c:pt>
                  <c:pt idx="8">
                    <c:v>0.9</c:v>
                  </c:pt>
                  <c:pt idx="9">
                    <c:v>1.0</c:v>
                  </c:pt>
                </c:lvl>
              </c:multiLvlStrCache>
            </c:multiLvlStrRef>
          </c:cat>
          <c:val>
            <c:numRef>
              <c:f>Sheet1!$B$2:$B$11</c:f>
              <c:numCache>
                <c:formatCode>General</c:formatCode>
                <c:ptCount val="10"/>
                <c:pt idx="0">
                  <c:v>0.1</c:v>
                </c:pt>
                <c:pt idx="1">
                  <c:v>0.2</c:v>
                </c:pt>
                <c:pt idx="2">
                  <c:v>0.3</c:v>
                </c:pt>
                <c:pt idx="3">
                  <c:v>0.4</c:v>
                </c:pt>
                <c:pt idx="4">
                  <c:v>0.5</c:v>
                </c:pt>
                <c:pt idx="5">
                  <c:v>0.6</c:v>
                </c:pt>
                <c:pt idx="6">
                  <c:v>0.7</c:v>
                </c:pt>
                <c:pt idx="7">
                  <c:v>0.8</c:v>
                </c:pt>
                <c:pt idx="8">
                  <c:v>0.9</c:v>
                </c:pt>
                <c:pt idx="9">
                  <c:v>1</c:v>
                </c:pt>
              </c:numCache>
            </c:numRef>
          </c:val>
          <c:smooth val="0"/>
        </c:ser>
        <c:ser>
          <c:idx val="1"/>
          <c:order val="1"/>
          <c:tx>
            <c:strRef>
              <c:f>Sheet1!$C$1</c:f>
              <c:strCache>
                <c:ptCount val="1"/>
                <c:pt idx="0">
                  <c:v>Gradient Boosting</c:v>
                </c:pt>
              </c:strCache>
            </c:strRef>
          </c:tx>
          <c:spPr>
            <a:solidFill>
              <a:srgbClr val="4B9CD3"/>
            </a:solidFill>
            <a:ln w="31750" cap="flat">
              <a:solidFill>
                <a:srgbClr val="4B9CD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4B9CD3"/>
              </a:solidFill>
              <a:ln w="9525" cap="flat">
                <a:solidFill>
                  <a:srgbClr val="4B9CD3"/>
                </a:solidFill>
                <a:prstDash val="solid"/>
                <a:round/>
              </a:ln>
              <a:effectLst/>
            </c:spPr>
          </c:marker>
          <c:cat>
            <c:multiLvlStrRef>
              <c:f>Sheet1!$A$2:$A$11</c:f>
              <c:multiLvlStrCache>
                <c:ptCount val="10"/>
                <c:lvl>
                  <c:pt idx="0">
                    <c:v>0.1</c:v>
                  </c:pt>
                  <c:pt idx="1">
                    <c:v>0.2</c:v>
                  </c:pt>
                  <c:pt idx="2">
                    <c:v>0.3</c:v>
                  </c:pt>
                  <c:pt idx="3">
                    <c:v>0.4</c:v>
                  </c:pt>
                  <c:pt idx="4">
                    <c:v>0.5</c:v>
                  </c:pt>
                  <c:pt idx="5">
                    <c:v>0.6</c:v>
                  </c:pt>
                  <c:pt idx="6">
                    <c:v>0.7</c:v>
                  </c:pt>
                  <c:pt idx="7">
                    <c:v>0.8</c:v>
                  </c:pt>
                  <c:pt idx="8">
                    <c:v>0.9</c:v>
                  </c:pt>
                  <c:pt idx="9">
                    <c:v>1.0</c:v>
                  </c:pt>
                </c:lvl>
              </c:multiLvlStrCache>
            </c:multiLvlStrRef>
          </c:cat>
          <c:val>
            <c:numRef>
              <c:f>Sheet1!$C$2:$C$11</c:f>
              <c:numCache>
                <c:formatCode>General</c:formatCode>
                <c:ptCount val="10"/>
                <c:pt idx="0">
                  <c:v>0.05</c:v>
                </c:pt>
                <c:pt idx="1">
                  <c:v>0.18</c:v>
                </c:pt>
                <c:pt idx="2">
                  <c:v>0.3</c:v>
                </c:pt>
                <c:pt idx="3">
                  <c:v>0.41</c:v>
                </c:pt>
                <c:pt idx="4">
                  <c:v>0.53</c:v>
                </c:pt>
                <c:pt idx="5">
                  <c:v>0.56</c:v>
                </c:pt>
                <c:pt idx="6">
                  <c:v>0.72</c:v>
                </c:pt>
                <c:pt idx="7">
                  <c:v>0.82</c:v>
                </c:pt>
                <c:pt idx="8">
                  <c:v>0.88</c:v>
                </c:pt>
                <c:pt idx="9">
                  <c:v>0.85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Precision</c:v>
                </c:pt>
              </c:strCache>
            </c:strRef>
          </c:tx>
          <c:spPr>
            <a:solidFill>
              <a:srgbClr val="13294B"/>
            </a:solidFill>
            <a:ln w="31750" cap="flat">
              <a:solidFill>
                <a:srgbClr val="13294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3294B"/>
              </a:solidFill>
              <a:ln w="9525" cap="flat">
                <a:solidFill>
                  <a:srgbClr val="13294B"/>
                </a:solidFill>
                <a:prstDash val="solid"/>
                <a:round/>
              </a:ln>
              <a:effectLst/>
            </c:spPr>
          </c:marker>
          <c:cat>
            <c:multiLvlStrRef>
              <c:f>Sheet1!$A$2:$A$12</c:f>
              <c:multiLvlStrCache>
                <c:ptCount val="11"/>
                <c:lvl>
                  <c:pt idx="0">
                    <c:v>0.20</c:v>
                  </c:pt>
                  <c:pt idx="1">
                    <c:v>0.25</c:v>
                  </c:pt>
                  <c:pt idx="2">
                    <c:v>0.30</c:v>
                  </c:pt>
                  <c:pt idx="3">
                    <c:v>0.35</c:v>
                  </c:pt>
                  <c:pt idx="4">
                    <c:v>0.40</c:v>
                  </c:pt>
                  <c:pt idx="5">
                    <c:v>0.45</c:v>
                  </c:pt>
                  <c:pt idx="6">
                    <c:v>0.50</c:v>
                  </c:pt>
                  <c:pt idx="7">
                    <c:v>0.55</c:v>
                  </c:pt>
                  <c:pt idx="8">
                    <c:v>0.60</c:v>
                  </c:pt>
                  <c:pt idx="9">
                    <c:v>0.65</c:v>
                  </c:pt>
                  <c:pt idx="10">
                    <c:v>0.70</c:v>
                  </c:pt>
                </c:lvl>
              </c:multiLvlStrCache>
            </c:multiLvlStrRef>
          </c:cat>
          <c:val>
            <c:numRef>
              <c:f>Sheet1!$B$2:$B$12</c:f>
              <c:numCache>
                <c:formatCode>General</c:formatCode>
                <c:ptCount val="11"/>
                <c:pt idx="0">
                  <c:v>0.54</c:v>
                </c:pt>
                <c:pt idx="1">
                  <c:v>0.57</c:v>
                </c:pt>
                <c:pt idx="2">
                  <c:v>0.6</c:v>
                </c:pt>
                <c:pt idx="3">
                  <c:v>0.62</c:v>
                </c:pt>
                <c:pt idx="4">
                  <c:v>0.65</c:v>
                </c:pt>
                <c:pt idx="5">
                  <c:v>0.68</c:v>
                </c:pt>
                <c:pt idx="6">
                  <c:v>0.71</c:v>
                </c:pt>
                <c:pt idx="7">
                  <c:v>0.74</c:v>
                </c:pt>
                <c:pt idx="8">
                  <c:v>0.77</c:v>
                </c:pt>
                <c:pt idx="9">
                  <c:v>0.8</c:v>
                </c:pt>
                <c:pt idx="10">
                  <c:v>0.83</c:v>
                </c:pt>
              </c:numCache>
            </c:numRef>
          </c:val>
          <c:smooth val="1"/>
        </c:ser>
        <c:ser>
          <c:idx val="1"/>
          <c:order val="1"/>
          <c:tx>
            <c:strRef>
              <c:f>Sheet1!$C$1</c:f>
              <c:strCache>
                <c:ptCount val="1"/>
                <c:pt idx="0">
                  <c:v>Recall</c:v>
                </c:pt>
              </c:strCache>
            </c:strRef>
          </c:tx>
          <c:spPr>
            <a:solidFill>
              <a:srgbClr val="4B9CD3"/>
            </a:solidFill>
            <a:ln w="31750" cap="flat">
              <a:solidFill>
                <a:srgbClr val="4B9CD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4B9CD3"/>
              </a:solidFill>
              <a:ln w="9525" cap="flat">
                <a:solidFill>
                  <a:srgbClr val="4B9CD3"/>
                </a:solidFill>
                <a:prstDash val="solid"/>
                <a:round/>
              </a:ln>
              <a:effectLst/>
            </c:spPr>
          </c:marker>
          <c:cat>
            <c:multiLvlStrRef>
              <c:f>Sheet1!$A$2:$A$12</c:f>
              <c:multiLvlStrCache>
                <c:ptCount val="11"/>
                <c:lvl>
                  <c:pt idx="0">
                    <c:v>0.20</c:v>
                  </c:pt>
                  <c:pt idx="1">
                    <c:v>0.25</c:v>
                  </c:pt>
                  <c:pt idx="2">
                    <c:v>0.30</c:v>
                  </c:pt>
                  <c:pt idx="3">
                    <c:v>0.35</c:v>
                  </c:pt>
                  <c:pt idx="4">
                    <c:v>0.40</c:v>
                  </c:pt>
                  <c:pt idx="5">
                    <c:v>0.45</c:v>
                  </c:pt>
                  <c:pt idx="6">
                    <c:v>0.50</c:v>
                  </c:pt>
                  <c:pt idx="7">
                    <c:v>0.55</c:v>
                  </c:pt>
                  <c:pt idx="8">
                    <c:v>0.60</c:v>
                  </c:pt>
                  <c:pt idx="9">
                    <c:v>0.65</c:v>
                  </c:pt>
                  <c:pt idx="10">
                    <c:v>0.70</c:v>
                  </c:pt>
                </c:lvl>
              </c:multiLvlStrCache>
            </c:multiLvlStrRef>
          </c:cat>
          <c:val>
            <c:numRef>
              <c:f>Sheet1!$C$2:$C$12</c:f>
              <c:numCache>
                <c:formatCode>General</c:formatCode>
                <c:ptCount val="11"/>
                <c:pt idx="0">
                  <c:v>0.95</c:v>
                </c:pt>
                <c:pt idx="1">
                  <c:v>0.93</c:v>
                </c:pt>
                <c:pt idx="2">
                  <c:v>0.89</c:v>
                </c:pt>
                <c:pt idx="3">
                  <c:v>0.85</c:v>
                </c:pt>
                <c:pt idx="4">
                  <c:v>0.83</c:v>
                </c:pt>
                <c:pt idx="5">
                  <c:v>0.81</c:v>
                </c:pt>
                <c:pt idx="6">
                  <c:v>0.79</c:v>
                </c:pt>
                <c:pt idx="7">
                  <c:v>0.73</c:v>
                </c:pt>
                <c:pt idx="8">
                  <c:v>0.65</c:v>
                </c:pt>
                <c:pt idx="9">
                  <c:v>0.55</c:v>
                </c:pt>
                <c:pt idx="10">
                  <c:v>0.43</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94B"/>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4B9CD3"/>
          </a:solidFill>
          <a:ln w="12700">
            <a:solidFill>
              <a:srgbClr val="4B9CD3"/>
            </a:solidFill>
            <a:prstDash val="solid"/>
          </a:ln>
        </p:spPr>
      </p:sp>
      <p:sp>
        <p:nvSpPr>
          <p:cNvPr id="3" name="Shape 1"/>
          <p:cNvSpPr/>
          <p:nvPr/>
        </p:nvSpPr>
        <p:spPr>
          <a:xfrm>
            <a:off x="7406640" y="201168"/>
            <a:ext cx="1508760" cy="475488"/>
          </a:xfrm>
          <a:prstGeom prst="rect">
            <a:avLst/>
          </a:prstGeom>
          <a:solidFill>
            <a:srgbClr val="4B9CD3"/>
          </a:solidFill>
          <a:ln w="12700">
            <a:solidFill>
              <a:srgbClr val="4B9CD3"/>
            </a:solidFill>
            <a:prstDash val="solid"/>
          </a:ln>
        </p:spPr>
      </p:sp>
      <p:sp>
        <p:nvSpPr>
          <p:cNvPr id="4" name="Text 2"/>
          <p:cNvSpPr/>
          <p:nvPr/>
        </p:nvSpPr>
        <p:spPr>
          <a:xfrm>
            <a:off x="7406640" y="201168"/>
            <a:ext cx="1508760" cy="47548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UNC Chapel Hill</a:t>
            </a:r>
            <a:endParaRPr lang="en-US" sz="1100" dirty="0"/>
          </a:p>
        </p:txBody>
      </p:sp>
      <p:sp>
        <p:nvSpPr>
          <p:cNvPr id="5" name="Text 3"/>
          <p:cNvSpPr/>
          <p:nvPr/>
        </p:nvSpPr>
        <p:spPr>
          <a:xfrm>
            <a:off x="457200" y="731520"/>
            <a:ext cx="8321040" cy="1051560"/>
          </a:xfrm>
          <a:prstGeom prst="rect">
            <a:avLst/>
          </a:prstGeom>
          <a:noFill/>
          <a:ln/>
        </p:spPr>
        <p:txBody>
          <a:bodyPr wrap="square"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Smoker Status Prediction</a:t>
            </a:r>
            <a:endParaRPr lang="en-US" sz="4200" dirty="0"/>
          </a:p>
        </p:txBody>
      </p:sp>
      <p:sp>
        <p:nvSpPr>
          <p:cNvPr id="6" name="Text 4"/>
          <p:cNvSpPr/>
          <p:nvPr/>
        </p:nvSpPr>
        <p:spPr>
          <a:xfrm>
            <a:off x="457200" y="1783080"/>
            <a:ext cx="8321040" cy="594360"/>
          </a:xfrm>
          <a:prstGeom prst="rect">
            <a:avLst/>
          </a:prstGeom>
          <a:noFill/>
          <a:ln/>
        </p:spPr>
        <p:txBody>
          <a:bodyPr wrap="square" rtlCol="0" anchor="ctr"/>
          <a:lstStyle/>
          <a:p>
            <a:pPr indent="0" marL="0">
              <a:buNone/>
            </a:pPr>
            <a:r>
              <a:rPr lang="en-US" sz="2000" dirty="0">
                <a:solidFill>
                  <a:srgbClr val="9BC4E2"/>
                </a:solidFill>
                <a:latin typeface="Calibri" pitchFamily="34" charset="0"/>
                <a:ea typeface="Calibri" pitchFamily="34" charset="-122"/>
                <a:cs typeface="Calibri" pitchFamily="34" charset="-120"/>
              </a:rPr>
              <a:t>Using Clinical Biomarkers &amp; Ensemble Machine Learning</a:t>
            </a:r>
            <a:endParaRPr lang="en-US" sz="2000" dirty="0"/>
          </a:p>
        </p:txBody>
      </p:sp>
      <p:sp>
        <p:nvSpPr>
          <p:cNvPr id="7" name="Shape 5"/>
          <p:cNvSpPr/>
          <p:nvPr/>
        </p:nvSpPr>
        <p:spPr>
          <a:xfrm>
            <a:off x="457200" y="2542032"/>
            <a:ext cx="3657600" cy="45720"/>
          </a:xfrm>
          <a:prstGeom prst="rect">
            <a:avLst/>
          </a:prstGeom>
          <a:solidFill>
            <a:srgbClr val="4B9CD3"/>
          </a:solidFill>
          <a:ln w="12700">
            <a:solidFill>
              <a:srgbClr val="4B9CD3"/>
            </a:solidFill>
            <a:prstDash val="solid"/>
          </a:ln>
        </p:spPr>
      </p:sp>
      <p:sp>
        <p:nvSpPr>
          <p:cNvPr id="8" name="Text 6"/>
          <p:cNvSpPr/>
          <p:nvPr/>
        </p:nvSpPr>
        <p:spPr>
          <a:xfrm>
            <a:off x="457200" y="2697480"/>
            <a:ext cx="5943600" cy="1005840"/>
          </a:xfrm>
          <a:prstGeom prst="rect">
            <a:avLst/>
          </a:prstGeom>
          <a:noFill/>
          <a:ln/>
        </p:spPr>
        <p:txBody>
          <a:bodyPr wrap="square" rtlCol="0" anchor="ctr"/>
          <a:lstStyle/>
          <a:p>
            <a:pPr indent="0" marL="0">
              <a:buNone/>
            </a:pPr>
            <a:r>
              <a:rPr lang="en-US" sz="1300" b="1" dirty="0">
                <a:solidFill>
                  <a:srgbClr val="D6EAF8"/>
                </a:solidFill>
                <a:latin typeface="Calibri" pitchFamily="34" charset="0"/>
                <a:ea typeface="Calibri" pitchFamily="34" charset="-122"/>
                <a:cs typeface="Calibri" pitchFamily="34" charset="-120"/>
              </a:rPr>
              <a:t>Aidan Colvin</a:t>
            </a:r>
            <a:endParaRPr lang="en-US" sz="1300" dirty="0"/>
          </a:p>
          <a:p>
            <a:pPr indent="0" marL="0">
              <a:buNone/>
            </a:pPr>
            <a:r>
              <a:rPr lang="en-US" sz="1300" dirty="0">
                <a:solidFill>
                  <a:srgbClr val="D6EAF8"/>
                </a:solidFill>
                <a:latin typeface="Calibri" pitchFamily="34" charset="0"/>
                <a:ea typeface="Calibri" pitchFamily="34" charset="-122"/>
                <a:cs typeface="Calibri" pitchFamily="34" charset="-120"/>
              </a:rPr>
              <a:t>Data Mining  ·  UNC Chapel Hill</a:t>
            </a:r>
            <a:endParaRPr lang="en-US" sz="1300" dirty="0"/>
          </a:p>
          <a:p>
            <a:pPr indent="0" marL="0">
              <a:buNone/>
            </a:pPr>
            <a:r>
              <a:rPr lang="en-US" sz="1300" dirty="0">
                <a:solidFill>
                  <a:srgbClr val="D6EAF8"/>
                </a:solidFill>
                <a:latin typeface="Calibri" pitchFamily="34" charset="0"/>
                <a:ea typeface="Calibri" pitchFamily="34" charset="-122"/>
                <a:cs typeface="Calibri" pitchFamily="34" charset="-120"/>
              </a:rPr>
              <a:t>github.com/AidanColvin/ml-smoker-status-prediction</a:t>
            </a:r>
            <a:endParaRPr lang="en-US" sz="1300" dirty="0"/>
          </a:p>
        </p:txBody>
      </p:sp>
      <p:sp>
        <p:nvSpPr>
          <p:cNvPr id="9" name="Shape 7"/>
          <p:cNvSpPr/>
          <p:nvPr/>
        </p:nvSpPr>
        <p:spPr>
          <a:xfrm>
            <a:off x="5486400" y="3474720"/>
            <a:ext cx="1097280" cy="1325880"/>
          </a:xfrm>
          <a:prstGeom prst="rect">
            <a:avLst/>
          </a:prstGeom>
          <a:solidFill>
            <a:srgbClr val="4B9CD3"/>
          </a:solidFill>
          <a:ln w="12700">
            <a:solidFill>
              <a:srgbClr val="4B9CD3"/>
            </a:solidFill>
            <a:prstDash val="solid"/>
          </a:ln>
        </p:spPr>
      </p:sp>
      <p:sp>
        <p:nvSpPr>
          <p:cNvPr id="10" name="Text 8"/>
          <p:cNvSpPr/>
          <p:nvPr/>
        </p:nvSpPr>
        <p:spPr>
          <a:xfrm>
            <a:off x="5486400" y="3547872"/>
            <a:ext cx="1097280" cy="685800"/>
          </a:xfrm>
          <a:prstGeom prst="rect">
            <a:avLst/>
          </a:prstGeom>
          <a:noFill/>
          <a:ln/>
        </p:spPr>
        <p:txBody>
          <a:bodyPr wrap="square" rtlCol="0" anchor="b"/>
          <a:lstStyle/>
          <a:p>
            <a:pPr algn="ctr" indent="0" marL="0">
              <a:buNone/>
            </a:pPr>
            <a:r>
              <a:rPr lang="en-US" sz="2400" b="1" dirty="0">
                <a:solidFill>
                  <a:srgbClr val="FFFFFF"/>
                </a:solidFill>
                <a:latin typeface="Calibri" pitchFamily="34" charset="0"/>
                <a:ea typeface="Calibri" pitchFamily="34" charset="-122"/>
                <a:cs typeface="Calibri" pitchFamily="34" charset="-120"/>
              </a:rPr>
              <a:t>0.8887</a:t>
            </a:r>
            <a:endParaRPr lang="en-US" sz="2400" dirty="0"/>
          </a:p>
        </p:txBody>
      </p:sp>
      <p:sp>
        <p:nvSpPr>
          <p:cNvPr id="11" name="Text 9"/>
          <p:cNvSpPr/>
          <p:nvPr/>
        </p:nvSpPr>
        <p:spPr>
          <a:xfrm>
            <a:off x="5486400" y="4251960"/>
            <a:ext cx="1097280" cy="384048"/>
          </a:xfrm>
          <a:prstGeom prst="rect">
            <a:avLst/>
          </a:prstGeom>
          <a:noFill/>
          <a:ln/>
        </p:spPr>
        <p:txBody>
          <a:bodyPr wrap="square" rtlCol="0" anchor="t"/>
          <a:lstStyle/>
          <a:p>
            <a:pPr algn="ctr" indent="0" marL="0">
              <a:buNone/>
            </a:pPr>
            <a:r>
              <a:rPr lang="en-US" sz="1100" dirty="0">
                <a:solidFill>
                  <a:srgbClr val="13294B"/>
                </a:solidFill>
                <a:latin typeface="Calibri" pitchFamily="34" charset="0"/>
                <a:ea typeface="Calibri" pitchFamily="34" charset="-122"/>
                <a:cs typeface="Calibri" pitchFamily="34" charset="-120"/>
              </a:rPr>
              <a:t>Test AUC</a:t>
            </a:r>
            <a:endParaRPr lang="en-US" sz="1100" dirty="0"/>
          </a:p>
        </p:txBody>
      </p:sp>
      <p:sp>
        <p:nvSpPr>
          <p:cNvPr id="12" name="Shape 10"/>
          <p:cNvSpPr/>
          <p:nvPr/>
        </p:nvSpPr>
        <p:spPr>
          <a:xfrm>
            <a:off x="6693408" y="3474720"/>
            <a:ext cx="1097280" cy="1325880"/>
          </a:xfrm>
          <a:prstGeom prst="rect">
            <a:avLst/>
          </a:prstGeom>
          <a:solidFill>
            <a:srgbClr val="4B9CD3"/>
          </a:solidFill>
          <a:ln w="12700">
            <a:solidFill>
              <a:srgbClr val="4B9CD3"/>
            </a:solidFill>
            <a:prstDash val="solid"/>
          </a:ln>
        </p:spPr>
      </p:sp>
      <p:sp>
        <p:nvSpPr>
          <p:cNvPr id="13" name="Text 11"/>
          <p:cNvSpPr/>
          <p:nvPr/>
        </p:nvSpPr>
        <p:spPr>
          <a:xfrm>
            <a:off x="6693408" y="3547872"/>
            <a:ext cx="1097280" cy="685800"/>
          </a:xfrm>
          <a:prstGeom prst="rect">
            <a:avLst/>
          </a:prstGeom>
          <a:noFill/>
          <a:ln/>
        </p:spPr>
        <p:txBody>
          <a:bodyPr wrap="square" rtlCol="0" anchor="b"/>
          <a:lstStyle/>
          <a:p>
            <a:pPr algn="ctr" indent="0" marL="0">
              <a:buNone/>
            </a:pPr>
            <a:r>
              <a:rPr lang="en-US" sz="2400" b="1" dirty="0">
                <a:solidFill>
                  <a:srgbClr val="FFFFFF"/>
                </a:solidFill>
                <a:latin typeface="Calibri" pitchFamily="34" charset="0"/>
                <a:ea typeface="Calibri" pitchFamily="34" charset="-122"/>
                <a:cs typeface="Calibri" pitchFamily="34" charset="-120"/>
              </a:rPr>
              <a:t>15K</a:t>
            </a:r>
            <a:endParaRPr lang="en-US" sz="2400" dirty="0"/>
          </a:p>
        </p:txBody>
      </p:sp>
      <p:sp>
        <p:nvSpPr>
          <p:cNvPr id="14" name="Text 12"/>
          <p:cNvSpPr/>
          <p:nvPr/>
        </p:nvSpPr>
        <p:spPr>
          <a:xfrm>
            <a:off x="6693408" y="4251960"/>
            <a:ext cx="1097280" cy="384048"/>
          </a:xfrm>
          <a:prstGeom prst="rect">
            <a:avLst/>
          </a:prstGeom>
          <a:noFill/>
          <a:ln/>
        </p:spPr>
        <p:txBody>
          <a:bodyPr wrap="square" rtlCol="0" anchor="t"/>
          <a:lstStyle/>
          <a:p>
            <a:pPr algn="ctr" indent="0" marL="0">
              <a:buNone/>
            </a:pPr>
            <a:r>
              <a:rPr lang="en-US" sz="1100" dirty="0">
                <a:solidFill>
                  <a:srgbClr val="13294B"/>
                </a:solidFill>
                <a:latin typeface="Calibri" pitchFamily="34" charset="0"/>
                <a:ea typeface="Calibri" pitchFamily="34" charset="-122"/>
                <a:cs typeface="Calibri" pitchFamily="34" charset="-120"/>
              </a:rPr>
              <a:t>Training Obs</a:t>
            </a:r>
            <a:endParaRPr lang="en-US" sz="1100" dirty="0"/>
          </a:p>
        </p:txBody>
      </p:sp>
      <p:sp>
        <p:nvSpPr>
          <p:cNvPr id="15" name="Shape 13"/>
          <p:cNvSpPr/>
          <p:nvPr/>
        </p:nvSpPr>
        <p:spPr>
          <a:xfrm>
            <a:off x="7900416" y="3474720"/>
            <a:ext cx="1097280" cy="1325880"/>
          </a:xfrm>
          <a:prstGeom prst="rect">
            <a:avLst/>
          </a:prstGeom>
          <a:solidFill>
            <a:srgbClr val="4B9CD3"/>
          </a:solidFill>
          <a:ln w="12700">
            <a:solidFill>
              <a:srgbClr val="4B9CD3"/>
            </a:solidFill>
            <a:prstDash val="solid"/>
          </a:ln>
        </p:spPr>
      </p:sp>
      <p:sp>
        <p:nvSpPr>
          <p:cNvPr id="16" name="Text 14"/>
          <p:cNvSpPr/>
          <p:nvPr/>
        </p:nvSpPr>
        <p:spPr>
          <a:xfrm>
            <a:off x="7900416" y="3547872"/>
            <a:ext cx="1097280" cy="685800"/>
          </a:xfrm>
          <a:prstGeom prst="rect">
            <a:avLst/>
          </a:prstGeom>
          <a:noFill/>
          <a:ln/>
        </p:spPr>
        <p:txBody>
          <a:bodyPr wrap="square" rtlCol="0" anchor="b"/>
          <a:lstStyle/>
          <a:p>
            <a:pPr algn="ctr" indent="0" marL="0">
              <a:buNone/>
            </a:pPr>
            <a:r>
              <a:rPr lang="en-US" sz="2400" b="1" dirty="0">
                <a:solidFill>
                  <a:srgbClr val="FFFFFF"/>
                </a:solidFill>
                <a:latin typeface="Calibri" pitchFamily="34" charset="0"/>
                <a:ea typeface="Calibri" pitchFamily="34" charset="-122"/>
                <a:cs typeface="Calibri" pitchFamily="34" charset="-120"/>
              </a:rPr>
              <a:t>24</a:t>
            </a:r>
            <a:endParaRPr lang="en-US" sz="2400" dirty="0"/>
          </a:p>
        </p:txBody>
      </p:sp>
      <p:sp>
        <p:nvSpPr>
          <p:cNvPr id="17" name="Text 15"/>
          <p:cNvSpPr/>
          <p:nvPr/>
        </p:nvSpPr>
        <p:spPr>
          <a:xfrm>
            <a:off x="7900416" y="4251960"/>
            <a:ext cx="1097280" cy="384048"/>
          </a:xfrm>
          <a:prstGeom prst="rect">
            <a:avLst/>
          </a:prstGeom>
          <a:noFill/>
          <a:ln/>
        </p:spPr>
        <p:txBody>
          <a:bodyPr wrap="square" rtlCol="0" anchor="t"/>
          <a:lstStyle/>
          <a:p>
            <a:pPr algn="ctr" indent="0" marL="0">
              <a:buNone/>
            </a:pPr>
            <a:r>
              <a:rPr lang="en-US" sz="1100" dirty="0">
                <a:solidFill>
                  <a:srgbClr val="13294B"/>
                </a:solidFill>
                <a:latin typeface="Calibri" pitchFamily="34" charset="0"/>
                <a:ea typeface="Calibri" pitchFamily="34" charset="-122"/>
                <a:cs typeface="Calibri" pitchFamily="34" charset="-120"/>
              </a:rPr>
              <a:t>Biomarkers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3294B"/>
          </a:solidFill>
          <a:ln w="12700">
            <a:solidFill>
              <a:srgbClr val="13294B"/>
            </a:solidFill>
            <a:prstDash val="solid"/>
          </a:ln>
        </p:spPr>
      </p:sp>
      <p:sp>
        <p:nvSpPr>
          <p:cNvPr id="3" name="Text 1"/>
          <p:cNvSpPr/>
          <p:nvPr/>
        </p:nvSpPr>
        <p:spPr>
          <a:xfrm>
            <a:off x="320040" y="0"/>
            <a:ext cx="8503920" cy="54864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Agenda</a:t>
            </a:r>
            <a:endParaRPr lang="en-US" sz="2000" dirty="0"/>
          </a:p>
        </p:txBody>
      </p:sp>
      <p:sp>
        <p:nvSpPr>
          <p:cNvPr id="4" name="Shape 2"/>
          <p:cNvSpPr/>
          <p:nvPr/>
        </p:nvSpPr>
        <p:spPr>
          <a:xfrm>
            <a:off x="0" y="548640"/>
            <a:ext cx="9144000" cy="54864"/>
          </a:xfrm>
          <a:prstGeom prst="rect">
            <a:avLst/>
          </a:prstGeom>
          <a:solidFill>
            <a:srgbClr val="4B9CD3"/>
          </a:solidFill>
          <a:ln w="12700">
            <a:solidFill>
              <a:srgbClr val="4B9CD3"/>
            </a:solidFill>
            <a:prstDash val="solid"/>
          </a:ln>
        </p:spPr>
      </p:sp>
      <p:sp>
        <p:nvSpPr>
          <p:cNvPr id="5" name="Shape 3"/>
          <p:cNvSpPr/>
          <p:nvPr/>
        </p:nvSpPr>
        <p:spPr>
          <a:xfrm>
            <a:off x="320040" y="804672"/>
            <a:ext cx="457200" cy="457200"/>
          </a:xfrm>
          <a:prstGeom prst="rect">
            <a:avLst/>
          </a:prstGeom>
          <a:solidFill>
            <a:srgbClr val="4B9CD3"/>
          </a:solidFill>
          <a:ln w="12700">
            <a:solidFill>
              <a:srgbClr val="4B9CD3"/>
            </a:solidFill>
            <a:prstDash val="solid"/>
          </a:ln>
        </p:spPr>
      </p:sp>
      <p:sp>
        <p:nvSpPr>
          <p:cNvPr id="6" name="Text 4"/>
          <p:cNvSpPr/>
          <p:nvPr/>
        </p:nvSpPr>
        <p:spPr>
          <a:xfrm>
            <a:off x="320040" y="804672"/>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7" name="Shape 5"/>
          <p:cNvSpPr/>
          <p:nvPr/>
        </p:nvSpPr>
        <p:spPr>
          <a:xfrm>
            <a:off x="932688" y="996696"/>
            <a:ext cx="7882128" cy="9144"/>
          </a:xfrm>
          <a:prstGeom prst="rect">
            <a:avLst/>
          </a:prstGeom>
          <a:solidFill>
            <a:srgbClr val="E8ECF0"/>
          </a:solidFill>
          <a:ln w="12700">
            <a:solidFill>
              <a:srgbClr val="E8ECF0"/>
            </a:solidFill>
            <a:prstDash val="solid"/>
          </a:ln>
        </p:spPr>
      </p:sp>
      <p:sp>
        <p:nvSpPr>
          <p:cNvPr id="8" name="Text 6"/>
          <p:cNvSpPr/>
          <p:nvPr/>
        </p:nvSpPr>
        <p:spPr>
          <a:xfrm>
            <a:off x="960120" y="786384"/>
            <a:ext cx="3200400" cy="320040"/>
          </a:xfrm>
          <a:prstGeom prst="rect">
            <a:avLst/>
          </a:prstGeom>
          <a:noFill/>
          <a:ln/>
        </p:spPr>
        <p:txBody>
          <a:bodyPr wrap="square" lIns="0" tIns="0" rIns="0" bIns="0" rtlCol="0" anchor="ctr"/>
          <a:lstStyle/>
          <a:p>
            <a:pPr indent="0" marL="0">
              <a:buNone/>
            </a:pPr>
            <a:r>
              <a:rPr lang="en-US" sz="1400" b="1" dirty="0">
                <a:solidFill>
                  <a:srgbClr val="13294B"/>
                </a:solidFill>
                <a:latin typeface="Calibri" pitchFamily="34" charset="0"/>
                <a:ea typeface="Calibri" pitchFamily="34" charset="-122"/>
                <a:cs typeface="Calibri" pitchFamily="34" charset="-120"/>
              </a:rPr>
              <a:t>Clinical Problem</a:t>
            </a:r>
            <a:endParaRPr lang="en-US" sz="1400" dirty="0"/>
          </a:p>
        </p:txBody>
      </p:sp>
      <p:sp>
        <p:nvSpPr>
          <p:cNvPr id="9" name="Text 7"/>
          <p:cNvSpPr/>
          <p:nvPr/>
        </p:nvSpPr>
        <p:spPr>
          <a:xfrm>
            <a:off x="960120" y="1069848"/>
            <a:ext cx="7863840" cy="22860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Why self-report fails — 20–30% of smokers deny tobacco use</a:t>
            </a:r>
            <a:endParaRPr lang="en-US" sz="1100" dirty="0"/>
          </a:p>
        </p:txBody>
      </p:sp>
      <p:sp>
        <p:nvSpPr>
          <p:cNvPr id="10" name="Shape 8"/>
          <p:cNvSpPr/>
          <p:nvPr/>
        </p:nvSpPr>
        <p:spPr>
          <a:xfrm>
            <a:off x="320040" y="1421892"/>
            <a:ext cx="457200" cy="457200"/>
          </a:xfrm>
          <a:prstGeom prst="rect">
            <a:avLst/>
          </a:prstGeom>
          <a:solidFill>
            <a:srgbClr val="4B9CD3"/>
          </a:solidFill>
          <a:ln w="12700">
            <a:solidFill>
              <a:srgbClr val="4B9CD3"/>
            </a:solidFill>
            <a:prstDash val="solid"/>
          </a:ln>
        </p:spPr>
      </p:sp>
      <p:sp>
        <p:nvSpPr>
          <p:cNvPr id="11" name="Text 9"/>
          <p:cNvSpPr/>
          <p:nvPr/>
        </p:nvSpPr>
        <p:spPr>
          <a:xfrm>
            <a:off x="320040" y="1421892"/>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2" name="Shape 10"/>
          <p:cNvSpPr/>
          <p:nvPr/>
        </p:nvSpPr>
        <p:spPr>
          <a:xfrm>
            <a:off x="932688" y="1613916"/>
            <a:ext cx="7882128" cy="9144"/>
          </a:xfrm>
          <a:prstGeom prst="rect">
            <a:avLst/>
          </a:prstGeom>
          <a:solidFill>
            <a:srgbClr val="E8ECF0"/>
          </a:solidFill>
          <a:ln w="12700">
            <a:solidFill>
              <a:srgbClr val="E8ECF0"/>
            </a:solidFill>
            <a:prstDash val="solid"/>
          </a:ln>
        </p:spPr>
      </p:sp>
      <p:sp>
        <p:nvSpPr>
          <p:cNvPr id="13" name="Text 11"/>
          <p:cNvSpPr/>
          <p:nvPr/>
        </p:nvSpPr>
        <p:spPr>
          <a:xfrm>
            <a:off x="960120" y="1403604"/>
            <a:ext cx="3200400" cy="320040"/>
          </a:xfrm>
          <a:prstGeom prst="rect">
            <a:avLst/>
          </a:prstGeom>
          <a:noFill/>
          <a:ln/>
        </p:spPr>
        <p:txBody>
          <a:bodyPr wrap="square" lIns="0" tIns="0" rIns="0" bIns="0" rtlCol="0" anchor="ctr"/>
          <a:lstStyle/>
          <a:p>
            <a:pPr indent="0" marL="0">
              <a:buNone/>
            </a:pPr>
            <a:r>
              <a:rPr lang="en-US" sz="1400" b="1" dirty="0">
                <a:solidFill>
                  <a:srgbClr val="13294B"/>
                </a:solidFill>
                <a:latin typeface="Calibri" pitchFamily="34" charset="0"/>
                <a:ea typeface="Calibri" pitchFamily="34" charset="-122"/>
                <a:cs typeface="Calibri" pitchFamily="34" charset="-120"/>
              </a:rPr>
              <a:t>Data &amp; Dataset Quirks</a:t>
            </a:r>
            <a:endParaRPr lang="en-US" sz="1400" dirty="0"/>
          </a:p>
        </p:txBody>
      </p:sp>
      <p:sp>
        <p:nvSpPr>
          <p:cNvPr id="14" name="Text 12"/>
          <p:cNvSpPr/>
          <p:nvPr/>
        </p:nvSpPr>
        <p:spPr>
          <a:xfrm>
            <a:off x="960120" y="1687068"/>
            <a:ext cx="7863840" cy="22860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15K synthetic Korean health records — provenance and limitations</a:t>
            </a:r>
            <a:endParaRPr lang="en-US" sz="1100" dirty="0"/>
          </a:p>
        </p:txBody>
      </p:sp>
      <p:sp>
        <p:nvSpPr>
          <p:cNvPr id="15" name="Shape 13"/>
          <p:cNvSpPr/>
          <p:nvPr/>
        </p:nvSpPr>
        <p:spPr>
          <a:xfrm>
            <a:off x="320040" y="2039112"/>
            <a:ext cx="457200" cy="457200"/>
          </a:xfrm>
          <a:prstGeom prst="rect">
            <a:avLst/>
          </a:prstGeom>
          <a:solidFill>
            <a:srgbClr val="4B9CD3"/>
          </a:solidFill>
          <a:ln w="12700">
            <a:solidFill>
              <a:srgbClr val="4B9CD3"/>
            </a:solidFill>
            <a:prstDash val="solid"/>
          </a:ln>
        </p:spPr>
      </p:sp>
      <p:sp>
        <p:nvSpPr>
          <p:cNvPr id="16" name="Text 14"/>
          <p:cNvSpPr/>
          <p:nvPr/>
        </p:nvSpPr>
        <p:spPr>
          <a:xfrm>
            <a:off x="320040" y="2039112"/>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7" name="Shape 15"/>
          <p:cNvSpPr/>
          <p:nvPr/>
        </p:nvSpPr>
        <p:spPr>
          <a:xfrm>
            <a:off x="932688" y="2231136"/>
            <a:ext cx="7882128" cy="9144"/>
          </a:xfrm>
          <a:prstGeom prst="rect">
            <a:avLst/>
          </a:prstGeom>
          <a:solidFill>
            <a:srgbClr val="E8ECF0"/>
          </a:solidFill>
          <a:ln w="12700">
            <a:solidFill>
              <a:srgbClr val="E8ECF0"/>
            </a:solidFill>
            <a:prstDash val="solid"/>
          </a:ln>
        </p:spPr>
      </p:sp>
      <p:sp>
        <p:nvSpPr>
          <p:cNvPr id="18" name="Text 16"/>
          <p:cNvSpPr/>
          <p:nvPr/>
        </p:nvSpPr>
        <p:spPr>
          <a:xfrm>
            <a:off x="960120" y="2020824"/>
            <a:ext cx="3200400" cy="320040"/>
          </a:xfrm>
          <a:prstGeom prst="rect">
            <a:avLst/>
          </a:prstGeom>
          <a:noFill/>
          <a:ln/>
        </p:spPr>
        <p:txBody>
          <a:bodyPr wrap="square" lIns="0" tIns="0" rIns="0" bIns="0" rtlCol="0" anchor="ctr"/>
          <a:lstStyle/>
          <a:p>
            <a:pPr indent="0" marL="0">
              <a:buNone/>
            </a:pPr>
            <a:r>
              <a:rPr lang="en-US" sz="1400" b="1" dirty="0">
                <a:solidFill>
                  <a:srgbClr val="13294B"/>
                </a:solidFill>
                <a:latin typeface="Calibri" pitchFamily="34" charset="0"/>
                <a:ea typeface="Calibri" pitchFamily="34" charset="-122"/>
                <a:cs typeface="Calibri" pitchFamily="34" charset="-120"/>
              </a:rPr>
              <a:t>Exploratory Analysis</a:t>
            </a:r>
            <a:endParaRPr lang="en-US" sz="1400" dirty="0"/>
          </a:p>
        </p:txBody>
      </p:sp>
      <p:sp>
        <p:nvSpPr>
          <p:cNvPr id="19" name="Text 17"/>
          <p:cNvSpPr/>
          <p:nvPr/>
        </p:nvSpPr>
        <p:spPr>
          <a:xfrm>
            <a:off x="960120" y="2304288"/>
            <a:ext cx="7863840" cy="22860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Hemoglobin biology, feature correlations, class distribution</a:t>
            </a:r>
            <a:endParaRPr lang="en-US" sz="1100" dirty="0"/>
          </a:p>
        </p:txBody>
      </p:sp>
      <p:sp>
        <p:nvSpPr>
          <p:cNvPr id="20" name="Shape 18"/>
          <p:cNvSpPr/>
          <p:nvPr/>
        </p:nvSpPr>
        <p:spPr>
          <a:xfrm>
            <a:off x="320040" y="2656332"/>
            <a:ext cx="457200" cy="457200"/>
          </a:xfrm>
          <a:prstGeom prst="rect">
            <a:avLst/>
          </a:prstGeom>
          <a:solidFill>
            <a:srgbClr val="4B9CD3"/>
          </a:solidFill>
          <a:ln w="12700">
            <a:solidFill>
              <a:srgbClr val="4B9CD3"/>
            </a:solidFill>
            <a:prstDash val="solid"/>
          </a:ln>
        </p:spPr>
      </p:sp>
      <p:sp>
        <p:nvSpPr>
          <p:cNvPr id="21" name="Text 19"/>
          <p:cNvSpPr/>
          <p:nvPr/>
        </p:nvSpPr>
        <p:spPr>
          <a:xfrm>
            <a:off x="320040" y="2656332"/>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2" name="Shape 20"/>
          <p:cNvSpPr/>
          <p:nvPr/>
        </p:nvSpPr>
        <p:spPr>
          <a:xfrm>
            <a:off x="932688" y="2848356"/>
            <a:ext cx="7882128" cy="9144"/>
          </a:xfrm>
          <a:prstGeom prst="rect">
            <a:avLst/>
          </a:prstGeom>
          <a:solidFill>
            <a:srgbClr val="E8ECF0"/>
          </a:solidFill>
          <a:ln w="12700">
            <a:solidFill>
              <a:srgbClr val="E8ECF0"/>
            </a:solidFill>
            <a:prstDash val="solid"/>
          </a:ln>
        </p:spPr>
      </p:sp>
      <p:sp>
        <p:nvSpPr>
          <p:cNvPr id="23" name="Text 21"/>
          <p:cNvSpPr/>
          <p:nvPr/>
        </p:nvSpPr>
        <p:spPr>
          <a:xfrm>
            <a:off x="960120" y="2638044"/>
            <a:ext cx="3200400" cy="320040"/>
          </a:xfrm>
          <a:prstGeom prst="rect">
            <a:avLst/>
          </a:prstGeom>
          <a:noFill/>
          <a:ln/>
        </p:spPr>
        <p:txBody>
          <a:bodyPr wrap="square" lIns="0" tIns="0" rIns="0" bIns="0" rtlCol="0" anchor="ctr"/>
          <a:lstStyle/>
          <a:p>
            <a:pPr indent="0" marL="0">
              <a:buNone/>
            </a:pPr>
            <a:r>
              <a:rPr lang="en-US" sz="1400" b="1" dirty="0">
                <a:solidFill>
                  <a:srgbClr val="13294B"/>
                </a:solidFill>
                <a:latin typeface="Calibri" pitchFamily="34" charset="0"/>
                <a:ea typeface="Calibri" pitchFamily="34" charset="-122"/>
                <a:cs typeface="Calibri" pitchFamily="34" charset="-120"/>
              </a:rPr>
              <a:t>The Research: Feature Biology</a:t>
            </a:r>
            <a:endParaRPr lang="en-US" sz="1400" dirty="0"/>
          </a:p>
        </p:txBody>
      </p:sp>
      <p:sp>
        <p:nvSpPr>
          <p:cNvPr id="24" name="Text 22"/>
          <p:cNvSpPr/>
          <p:nvPr/>
        </p:nvSpPr>
        <p:spPr>
          <a:xfrm>
            <a:off x="960120" y="2921508"/>
            <a:ext cx="7863840" cy="22860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Why each biomarker associates with smoking — published evidence</a:t>
            </a:r>
            <a:endParaRPr lang="en-US" sz="1100" dirty="0"/>
          </a:p>
        </p:txBody>
      </p:sp>
      <p:sp>
        <p:nvSpPr>
          <p:cNvPr id="25" name="Shape 23"/>
          <p:cNvSpPr/>
          <p:nvPr/>
        </p:nvSpPr>
        <p:spPr>
          <a:xfrm>
            <a:off x="320040" y="3273552"/>
            <a:ext cx="457200" cy="457200"/>
          </a:xfrm>
          <a:prstGeom prst="rect">
            <a:avLst/>
          </a:prstGeom>
          <a:solidFill>
            <a:srgbClr val="4B9CD3"/>
          </a:solidFill>
          <a:ln w="12700">
            <a:solidFill>
              <a:srgbClr val="4B9CD3"/>
            </a:solidFill>
            <a:prstDash val="solid"/>
          </a:ln>
        </p:spPr>
      </p:sp>
      <p:sp>
        <p:nvSpPr>
          <p:cNvPr id="26" name="Text 24"/>
          <p:cNvSpPr/>
          <p:nvPr/>
        </p:nvSpPr>
        <p:spPr>
          <a:xfrm>
            <a:off x="320040" y="3273552"/>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27" name="Shape 25"/>
          <p:cNvSpPr/>
          <p:nvPr/>
        </p:nvSpPr>
        <p:spPr>
          <a:xfrm>
            <a:off x="932688" y="3465576"/>
            <a:ext cx="7882128" cy="9144"/>
          </a:xfrm>
          <a:prstGeom prst="rect">
            <a:avLst/>
          </a:prstGeom>
          <a:solidFill>
            <a:srgbClr val="E8ECF0"/>
          </a:solidFill>
          <a:ln w="12700">
            <a:solidFill>
              <a:srgbClr val="E8ECF0"/>
            </a:solidFill>
            <a:prstDash val="solid"/>
          </a:ln>
        </p:spPr>
      </p:sp>
      <p:sp>
        <p:nvSpPr>
          <p:cNvPr id="28" name="Text 26"/>
          <p:cNvSpPr/>
          <p:nvPr/>
        </p:nvSpPr>
        <p:spPr>
          <a:xfrm>
            <a:off x="960120" y="3255264"/>
            <a:ext cx="3200400" cy="320040"/>
          </a:xfrm>
          <a:prstGeom prst="rect">
            <a:avLst/>
          </a:prstGeom>
          <a:noFill/>
          <a:ln/>
        </p:spPr>
        <p:txBody>
          <a:bodyPr wrap="square" lIns="0" tIns="0" rIns="0" bIns="0" rtlCol="0" anchor="ctr"/>
          <a:lstStyle/>
          <a:p>
            <a:pPr indent="0" marL="0">
              <a:buNone/>
            </a:pPr>
            <a:r>
              <a:rPr lang="en-US" sz="1400" b="1" dirty="0">
                <a:solidFill>
                  <a:srgbClr val="13294B"/>
                </a:solidFill>
                <a:latin typeface="Calibri" pitchFamily="34" charset="0"/>
                <a:ea typeface="Calibri" pitchFamily="34" charset="-122"/>
                <a:cs typeface="Calibri" pitchFamily="34" charset="-120"/>
              </a:rPr>
              <a:t>Methodology</a:t>
            </a:r>
            <a:endParaRPr lang="en-US" sz="1400" dirty="0"/>
          </a:p>
        </p:txBody>
      </p:sp>
      <p:sp>
        <p:nvSpPr>
          <p:cNvPr id="29" name="Text 27"/>
          <p:cNvSpPr/>
          <p:nvPr/>
        </p:nvSpPr>
        <p:spPr>
          <a:xfrm>
            <a:off x="960120" y="3538728"/>
            <a:ext cx="7863840" cy="22860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LassoCV selection · Logistic Regression · Random Forest · Gradient Boosting</a:t>
            </a:r>
            <a:endParaRPr lang="en-US" sz="1100" dirty="0"/>
          </a:p>
        </p:txBody>
      </p:sp>
      <p:sp>
        <p:nvSpPr>
          <p:cNvPr id="30" name="Shape 28"/>
          <p:cNvSpPr/>
          <p:nvPr/>
        </p:nvSpPr>
        <p:spPr>
          <a:xfrm>
            <a:off x="320040" y="3890772"/>
            <a:ext cx="457200" cy="457200"/>
          </a:xfrm>
          <a:prstGeom prst="rect">
            <a:avLst/>
          </a:prstGeom>
          <a:solidFill>
            <a:srgbClr val="4B9CD3"/>
          </a:solidFill>
          <a:ln w="12700">
            <a:solidFill>
              <a:srgbClr val="4B9CD3"/>
            </a:solidFill>
            <a:prstDash val="solid"/>
          </a:ln>
        </p:spPr>
      </p:sp>
      <p:sp>
        <p:nvSpPr>
          <p:cNvPr id="31" name="Text 29"/>
          <p:cNvSpPr/>
          <p:nvPr/>
        </p:nvSpPr>
        <p:spPr>
          <a:xfrm>
            <a:off x="320040" y="3890772"/>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
        <p:nvSpPr>
          <p:cNvPr id="32" name="Shape 30"/>
          <p:cNvSpPr/>
          <p:nvPr/>
        </p:nvSpPr>
        <p:spPr>
          <a:xfrm>
            <a:off x="932688" y="4082796"/>
            <a:ext cx="7882128" cy="9144"/>
          </a:xfrm>
          <a:prstGeom prst="rect">
            <a:avLst/>
          </a:prstGeom>
          <a:solidFill>
            <a:srgbClr val="E8ECF0"/>
          </a:solidFill>
          <a:ln w="12700">
            <a:solidFill>
              <a:srgbClr val="E8ECF0"/>
            </a:solidFill>
            <a:prstDash val="solid"/>
          </a:ln>
        </p:spPr>
      </p:sp>
      <p:sp>
        <p:nvSpPr>
          <p:cNvPr id="33" name="Text 31"/>
          <p:cNvSpPr/>
          <p:nvPr/>
        </p:nvSpPr>
        <p:spPr>
          <a:xfrm>
            <a:off x="960120" y="3872484"/>
            <a:ext cx="3200400" cy="320040"/>
          </a:xfrm>
          <a:prstGeom prst="rect">
            <a:avLst/>
          </a:prstGeom>
          <a:noFill/>
          <a:ln/>
        </p:spPr>
        <p:txBody>
          <a:bodyPr wrap="square" lIns="0" tIns="0" rIns="0" bIns="0" rtlCol="0" anchor="ctr"/>
          <a:lstStyle/>
          <a:p>
            <a:pPr indent="0" marL="0">
              <a:buNone/>
            </a:pPr>
            <a:r>
              <a:rPr lang="en-US" sz="1400" b="1" dirty="0">
                <a:solidFill>
                  <a:srgbClr val="13294B"/>
                </a:solidFill>
                <a:latin typeface="Calibri" pitchFamily="34" charset="0"/>
                <a:ea typeface="Calibri" pitchFamily="34" charset="-122"/>
                <a:cs typeface="Calibri" pitchFamily="34" charset="-120"/>
              </a:rPr>
              <a:t>Results &amp; Interpretation</a:t>
            </a:r>
            <a:endParaRPr lang="en-US" sz="1400" dirty="0"/>
          </a:p>
        </p:txBody>
      </p:sp>
      <p:sp>
        <p:nvSpPr>
          <p:cNvPr id="34" name="Text 32"/>
          <p:cNvSpPr/>
          <p:nvPr/>
        </p:nvSpPr>
        <p:spPr>
          <a:xfrm>
            <a:off x="960120" y="4155948"/>
            <a:ext cx="7863840" cy="22860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AUC 0.8887 · Feature importance · Calibration · Threshold analysis</a:t>
            </a:r>
            <a:endParaRPr lang="en-US" sz="1100" dirty="0"/>
          </a:p>
        </p:txBody>
      </p:sp>
      <p:sp>
        <p:nvSpPr>
          <p:cNvPr id="35" name="Shape 33"/>
          <p:cNvSpPr/>
          <p:nvPr/>
        </p:nvSpPr>
        <p:spPr>
          <a:xfrm>
            <a:off x="320040" y="4507992"/>
            <a:ext cx="457200" cy="457200"/>
          </a:xfrm>
          <a:prstGeom prst="rect">
            <a:avLst/>
          </a:prstGeom>
          <a:solidFill>
            <a:srgbClr val="4B9CD3"/>
          </a:solidFill>
          <a:ln w="12700">
            <a:solidFill>
              <a:srgbClr val="4B9CD3"/>
            </a:solidFill>
            <a:prstDash val="solid"/>
          </a:ln>
        </p:spPr>
      </p:sp>
      <p:sp>
        <p:nvSpPr>
          <p:cNvPr id="36" name="Text 34"/>
          <p:cNvSpPr/>
          <p:nvPr/>
        </p:nvSpPr>
        <p:spPr>
          <a:xfrm>
            <a:off x="320040" y="4507992"/>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07</a:t>
            </a:r>
            <a:endParaRPr lang="en-US" sz="1400" dirty="0"/>
          </a:p>
        </p:txBody>
      </p:sp>
      <p:sp>
        <p:nvSpPr>
          <p:cNvPr id="37" name="Shape 35"/>
          <p:cNvSpPr/>
          <p:nvPr/>
        </p:nvSpPr>
        <p:spPr>
          <a:xfrm>
            <a:off x="932688" y="4700016"/>
            <a:ext cx="7882128" cy="9144"/>
          </a:xfrm>
          <a:prstGeom prst="rect">
            <a:avLst/>
          </a:prstGeom>
          <a:solidFill>
            <a:srgbClr val="E8ECF0"/>
          </a:solidFill>
          <a:ln w="12700">
            <a:solidFill>
              <a:srgbClr val="E8ECF0"/>
            </a:solidFill>
            <a:prstDash val="solid"/>
          </a:ln>
        </p:spPr>
      </p:sp>
      <p:sp>
        <p:nvSpPr>
          <p:cNvPr id="38" name="Text 36"/>
          <p:cNvSpPr/>
          <p:nvPr/>
        </p:nvSpPr>
        <p:spPr>
          <a:xfrm>
            <a:off x="960120" y="4489704"/>
            <a:ext cx="3200400" cy="320040"/>
          </a:xfrm>
          <a:prstGeom prst="rect">
            <a:avLst/>
          </a:prstGeom>
          <a:noFill/>
          <a:ln/>
        </p:spPr>
        <p:txBody>
          <a:bodyPr wrap="square" lIns="0" tIns="0" rIns="0" bIns="0" rtlCol="0" anchor="ctr"/>
          <a:lstStyle/>
          <a:p>
            <a:pPr indent="0" marL="0">
              <a:buNone/>
            </a:pPr>
            <a:r>
              <a:rPr lang="en-US" sz="1400" b="1" dirty="0">
                <a:solidFill>
                  <a:srgbClr val="13294B"/>
                </a:solidFill>
                <a:latin typeface="Calibri" pitchFamily="34" charset="0"/>
                <a:ea typeface="Calibri" pitchFamily="34" charset="-122"/>
                <a:cs typeface="Calibri" pitchFamily="34" charset="-120"/>
              </a:rPr>
              <a:t>Conclusions &amp; Next Steps</a:t>
            </a:r>
            <a:endParaRPr lang="en-US" sz="1400" dirty="0"/>
          </a:p>
        </p:txBody>
      </p:sp>
      <p:sp>
        <p:nvSpPr>
          <p:cNvPr id="39" name="Text 37"/>
          <p:cNvSpPr/>
          <p:nvPr/>
        </p:nvSpPr>
        <p:spPr>
          <a:xfrm>
            <a:off x="960120" y="4773168"/>
            <a:ext cx="7863840" cy="22860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Path to 0.90+ AUC and clinical deployment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3294B"/>
          </a:solidFill>
          <a:ln w="12700">
            <a:solidFill>
              <a:srgbClr val="13294B"/>
            </a:solidFill>
            <a:prstDash val="solid"/>
          </a:ln>
        </p:spPr>
      </p:sp>
      <p:sp>
        <p:nvSpPr>
          <p:cNvPr id="3" name="Text 1"/>
          <p:cNvSpPr/>
          <p:nvPr/>
        </p:nvSpPr>
        <p:spPr>
          <a:xfrm>
            <a:off x="320040" y="0"/>
            <a:ext cx="8503920" cy="54864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01 · Clinical Problem — Why Self-Report Fails</a:t>
            </a:r>
            <a:endParaRPr lang="en-US" sz="2000" dirty="0"/>
          </a:p>
        </p:txBody>
      </p:sp>
      <p:sp>
        <p:nvSpPr>
          <p:cNvPr id="4" name="Shape 2"/>
          <p:cNvSpPr/>
          <p:nvPr/>
        </p:nvSpPr>
        <p:spPr>
          <a:xfrm>
            <a:off x="0" y="548640"/>
            <a:ext cx="9144000" cy="54864"/>
          </a:xfrm>
          <a:prstGeom prst="rect">
            <a:avLst/>
          </a:prstGeom>
          <a:solidFill>
            <a:srgbClr val="4B9CD3"/>
          </a:solidFill>
          <a:ln w="12700">
            <a:solidFill>
              <a:srgbClr val="4B9CD3"/>
            </a:solidFill>
            <a:prstDash val="solid"/>
          </a:ln>
        </p:spPr>
      </p:sp>
      <p:sp>
        <p:nvSpPr>
          <p:cNvPr id="5" name="Text 3"/>
          <p:cNvSpPr/>
          <p:nvPr/>
        </p:nvSpPr>
        <p:spPr>
          <a:xfrm>
            <a:off x="320040" y="749808"/>
            <a:ext cx="4937760" cy="475488"/>
          </a:xfrm>
          <a:prstGeom prst="rect">
            <a:avLst/>
          </a:prstGeom>
          <a:noFill/>
          <a:ln/>
        </p:spPr>
        <p:txBody>
          <a:bodyPr wrap="square" rtlCol="0" anchor="ctr"/>
          <a:lstStyle/>
          <a:p>
            <a:pPr indent="0" marL="0">
              <a:buNone/>
            </a:pPr>
            <a:r>
              <a:rPr lang="en-US" sz="1600" b="1" dirty="0">
                <a:solidFill>
                  <a:srgbClr val="13294B"/>
                </a:solidFill>
                <a:latin typeface="Calibri" pitchFamily="34" charset="0"/>
                <a:ea typeface="Calibri" pitchFamily="34" charset="-122"/>
                <a:cs typeface="Calibri" pitchFamily="34" charset="-120"/>
              </a:rPr>
              <a:t>Smoking is the #1 preventable cause of death globally.</a:t>
            </a:r>
            <a:endParaRPr lang="en-US" sz="1600" dirty="0"/>
          </a:p>
        </p:txBody>
      </p:sp>
      <p:sp>
        <p:nvSpPr>
          <p:cNvPr id="6" name="Text 4"/>
          <p:cNvSpPr/>
          <p:nvPr/>
        </p:nvSpPr>
        <p:spPr>
          <a:xfrm>
            <a:off x="320040" y="1298448"/>
            <a:ext cx="4937760" cy="2194560"/>
          </a:xfrm>
          <a:prstGeom prst="rect">
            <a:avLst/>
          </a:prstGeom>
          <a:noFill/>
          <a:ln/>
        </p:spPr>
        <p:txBody>
          <a:bodyPr wrap="square" rtlCol="0" anchor="ctr"/>
          <a:lstStyle/>
          <a:p>
            <a:pPr indent="0" marL="0">
              <a:buNone/>
            </a:pPr>
            <a:r>
              <a:rPr lang="en-US" sz="1300" b="1" dirty="0">
                <a:solidFill>
                  <a:srgbClr val="13294B"/>
                </a:solidFill>
                <a:latin typeface="Calibri" pitchFamily="34" charset="0"/>
                <a:ea typeface="Calibri" pitchFamily="34" charset="-122"/>
                <a:cs typeface="Calibri" pitchFamily="34" charset="-120"/>
              </a:rPr>
              <a:t>Self-reported smoking status is unreliable.</a:t>
            </a:r>
            <a:endParaRPr lang="en-US" sz="1300" dirty="0"/>
          </a:p>
          <a:p>
            <a:pPr indent="0" marL="0">
              <a:buNone/>
            </a:pPr>
            <a:endParaRPr lang="en-US" sz="1300" dirty="0"/>
          </a:p>
          <a:p>
            <a:pPr indent="0" marL="0">
              <a:buNone/>
            </a:pPr>
            <a:r>
              <a:rPr lang="en-US" sz="1300" dirty="0">
                <a:solidFill>
                  <a:srgbClr val="4A5568"/>
                </a:solidFill>
                <a:latin typeface="Calibri" pitchFamily="34" charset="0"/>
                <a:ea typeface="Calibri" pitchFamily="34" charset="-122"/>
                <a:cs typeface="Calibri" pitchFamily="34" charset="-120"/>
              </a:rPr>
              <a:t>Published estimates place the denial rate among current smokers at </a:t>
            </a:r>
            <a:endParaRPr lang="en-US" sz="1300" dirty="0"/>
          </a:p>
          <a:p>
            <a:pPr indent="0" marL="0">
              <a:buNone/>
            </a:pPr>
            <a:r>
              <a:rPr lang="en-US" sz="1300" b="1" dirty="0">
                <a:solidFill>
                  <a:srgbClr val="4B9CD3"/>
                </a:solidFill>
                <a:latin typeface="Calibri" pitchFamily="34" charset="0"/>
                <a:ea typeface="Calibri" pitchFamily="34" charset="-122"/>
                <a:cs typeface="Calibri" pitchFamily="34" charset="-120"/>
              </a:rPr>
              <a:t>20–30%</a:t>
            </a:r>
            <a:pPr indent="0" marL="0">
              <a:buNone/>
            </a:pPr>
            <a:r>
              <a:rPr lang="en-US" sz="1300" dirty="0">
                <a:solidFill>
                  <a:srgbClr val="4A5568"/>
                </a:solidFill>
                <a:latin typeface="Calibri" pitchFamily="34" charset="0"/>
                <a:ea typeface="Calibri" pitchFamily="34" charset="-122"/>
                <a:cs typeface="Calibri" pitchFamily="34" charset="-120"/>
              </a:rPr>
              <a:t> in clinical settings. Social desirability bias and fear of treatment consequences drive this underreporting.</a:t>
            </a:r>
            <a:endParaRPr lang="en-US" sz="1300" dirty="0"/>
          </a:p>
          <a:p>
            <a:pPr indent="0" marL="0">
              <a:buNone/>
            </a:pPr>
            <a:endParaRPr lang="en-US" sz="1300" dirty="0"/>
          </a:p>
          <a:p>
            <a:pPr indent="0" marL="0">
              <a:buNone/>
            </a:pPr>
            <a:r>
              <a:rPr lang="en-US" sz="1300" dirty="0">
                <a:solidFill>
                  <a:srgbClr val="4A5568"/>
                </a:solidFill>
                <a:latin typeface="Calibri" pitchFamily="34" charset="0"/>
                <a:ea typeface="Calibri" pitchFamily="34" charset="-122"/>
                <a:cs typeface="Calibri" pitchFamily="34" charset="-120"/>
              </a:rPr>
              <a:t>If routine laboratory measurements can predict smoking status without self-report, clinicians can proactively identify at-risk patients and intervene.</a:t>
            </a:r>
            <a:endParaRPr lang="en-US" sz="1300" dirty="0"/>
          </a:p>
        </p:txBody>
      </p:sp>
      <p:sp>
        <p:nvSpPr>
          <p:cNvPr id="7" name="Shape 5"/>
          <p:cNvSpPr/>
          <p:nvPr/>
        </p:nvSpPr>
        <p:spPr>
          <a:xfrm>
            <a:off x="320040" y="3611880"/>
            <a:ext cx="4937760" cy="658368"/>
          </a:xfrm>
          <a:prstGeom prst="rect">
            <a:avLst/>
          </a:prstGeom>
          <a:solidFill>
            <a:srgbClr val="4B9CD3"/>
          </a:solidFill>
          <a:ln w="12700">
            <a:solidFill>
              <a:srgbClr val="4B9CD3"/>
            </a:solidFill>
            <a:prstDash val="solid"/>
          </a:ln>
        </p:spPr>
      </p:sp>
      <p:sp>
        <p:nvSpPr>
          <p:cNvPr id="8" name="Text 6"/>
          <p:cNvSpPr/>
          <p:nvPr/>
        </p:nvSpPr>
        <p:spPr>
          <a:xfrm>
            <a:off x="320040" y="3611880"/>
            <a:ext cx="4937760" cy="658368"/>
          </a:xfrm>
          <a:prstGeom prst="rect">
            <a:avLst/>
          </a:prstGeom>
          <a:noFill/>
          <a:ln/>
        </p:spPr>
        <p:txBody>
          <a:bodyPr wrap="square" rtlCol="0" anchor="ctr"/>
          <a:lstStyle/>
          <a:p>
            <a:pPr algn="ctr" indent="0" marL="0">
              <a:buNone/>
            </a:pPr>
            <a:r>
              <a:rPr lang="en-US" sz="1400" b="1" i="1" dirty="0">
                <a:solidFill>
                  <a:srgbClr val="FFFFFF"/>
                </a:solidFill>
                <a:latin typeface="Calibri" pitchFamily="34" charset="0"/>
                <a:ea typeface="Calibri" pitchFamily="34" charset="-122"/>
                <a:cs typeface="Calibri" pitchFamily="34" charset="-120"/>
              </a:rPr>
              <a:t>Can 24 routine biomarkers replace self-report for smoking classification?</a:t>
            </a:r>
            <a:endParaRPr lang="en-US" sz="1400" dirty="0"/>
          </a:p>
        </p:txBody>
      </p:sp>
      <p:sp>
        <p:nvSpPr>
          <p:cNvPr id="9" name="Shape 7"/>
          <p:cNvSpPr/>
          <p:nvPr/>
        </p:nvSpPr>
        <p:spPr>
          <a:xfrm>
            <a:off x="5577840" y="749808"/>
            <a:ext cx="3246120" cy="1097280"/>
          </a:xfrm>
          <a:prstGeom prst="rect">
            <a:avLst/>
          </a:prstGeom>
          <a:solidFill>
            <a:srgbClr val="13294B"/>
          </a:solidFill>
          <a:ln w="12700">
            <a:solidFill>
              <a:srgbClr val="13294B"/>
            </a:solidFill>
            <a:prstDash val="solid"/>
          </a:ln>
          <a:effectLst>
            <a:outerShdw sx="100000" sy="100000" kx="0" ky="0" algn="bl" rotWithShape="0" blurRad="50800" dist="25400" dir="8100000">
              <a:srgbClr val="000000">
                <a:alpha val="10000"/>
              </a:srgbClr>
            </a:outerShdw>
          </a:effectLst>
        </p:spPr>
      </p:sp>
      <p:sp>
        <p:nvSpPr>
          <p:cNvPr id="10" name="Shape 8"/>
          <p:cNvSpPr/>
          <p:nvPr/>
        </p:nvSpPr>
        <p:spPr>
          <a:xfrm>
            <a:off x="5577840" y="749808"/>
            <a:ext cx="3246120" cy="54864"/>
          </a:xfrm>
          <a:prstGeom prst="rect">
            <a:avLst/>
          </a:prstGeom>
          <a:solidFill>
            <a:srgbClr val="4B9CD3"/>
          </a:solidFill>
          <a:ln w="12700">
            <a:solidFill>
              <a:srgbClr val="4B9CD3"/>
            </a:solidFill>
            <a:prstDash val="solid"/>
          </a:ln>
        </p:spPr>
      </p:sp>
      <p:sp>
        <p:nvSpPr>
          <p:cNvPr id="11" name="Text 9"/>
          <p:cNvSpPr/>
          <p:nvPr/>
        </p:nvSpPr>
        <p:spPr>
          <a:xfrm>
            <a:off x="5577840" y="841248"/>
            <a:ext cx="3246120" cy="614477"/>
          </a:xfrm>
          <a:prstGeom prst="rect">
            <a:avLst/>
          </a:prstGeom>
          <a:noFill/>
          <a:ln/>
        </p:spPr>
        <p:txBody>
          <a:bodyPr wrap="square" rtlCol="0" anchor="b"/>
          <a:lstStyle/>
          <a:p>
            <a:pPr algn="ctr" indent="0" marL="0">
              <a:buNone/>
            </a:pPr>
            <a:r>
              <a:rPr lang="en-US" sz="3000" b="1" dirty="0">
                <a:solidFill>
                  <a:srgbClr val="FFFFFF"/>
                </a:solidFill>
                <a:latin typeface="Calibri" pitchFamily="34" charset="0"/>
                <a:ea typeface="Calibri" pitchFamily="34" charset="-122"/>
                <a:cs typeface="Calibri" pitchFamily="34" charset="-120"/>
              </a:rPr>
              <a:t>1 in 4</a:t>
            </a:r>
            <a:endParaRPr lang="en-US" sz="3000" dirty="0"/>
          </a:p>
        </p:txBody>
      </p:sp>
      <p:sp>
        <p:nvSpPr>
          <p:cNvPr id="12" name="Text 10"/>
          <p:cNvSpPr/>
          <p:nvPr/>
        </p:nvSpPr>
        <p:spPr>
          <a:xfrm>
            <a:off x="5577840" y="1386230"/>
            <a:ext cx="3246120" cy="416966"/>
          </a:xfrm>
          <a:prstGeom prst="rect">
            <a:avLst/>
          </a:prstGeom>
          <a:noFill/>
          <a:ln/>
        </p:spPr>
        <p:txBody>
          <a:bodyPr wrap="square" rtlCol="0" anchor="t"/>
          <a:lstStyle/>
          <a:p>
            <a:pPr algn="ctr" indent="0" marL="0">
              <a:buNone/>
            </a:pPr>
            <a:r>
              <a:rPr lang="en-US" sz="1100" dirty="0">
                <a:solidFill>
                  <a:srgbClr val="9BC4E2"/>
                </a:solidFill>
                <a:latin typeface="Calibri" pitchFamily="34" charset="0"/>
                <a:ea typeface="Calibri" pitchFamily="34" charset="-122"/>
                <a:cs typeface="Calibri" pitchFamily="34" charset="-120"/>
              </a:rPr>
              <a:t>Smokers deny use in clinical settings</a:t>
            </a:r>
            <a:endParaRPr lang="en-US" sz="1100" dirty="0"/>
          </a:p>
        </p:txBody>
      </p:sp>
      <p:sp>
        <p:nvSpPr>
          <p:cNvPr id="13" name="Shape 11"/>
          <p:cNvSpPr/>
          <p:nvPr/>
        </p:nvSpPr>
        <p:spPr>
          <a:xfrm>
            <a:off x="5577840" y="1993392"/>
            <a:ext cx="3246120" cy="1097280"/>
          </a:xfrm>
          <a:prstGeom prst="rect">
            <a:avLst/>
          </a:prstGeom>
          <a:solidFill>
            <a:srgbClr val="4B9CD3"/>
          </a:solidFill>
          <a:ln w="12700">
            <a:solidFill>
              <a:srgbClr val="4B9CD3"/>
            </a:solidFill>
            <a:prstDash val="solid"/>
          </a:ln>
          <a:effectLst>
            <a:outerShdw sx="100000" sy="100000" kx="0" ky="0" algn="bl" rotWithShape="0" blurRad="50800" dist="25400" dir="8100000">
              <a:srgbClr val="000000">
                <a:alpha val="10000"/>
              </a:srgbClr>
            </a:outerShdw>
          </a:effectLst>
        </p:spPr>
      </p:sp>
      <p:sp>
        <p:nvSpPr>
          <p:cNvPr id="14" name="Shape 12"/>
          <p:cNvSpPr/>
          <p:nvPr/>
        </p:nvSpPr>
        <p:spPr>
          <a:xfrm>
            <a:off x="5577840" y="1993392"/>
            <a:ext cx="3246120" cy="54864"/>
          </a:xfrm>
          <a:prstGeom prst="rect">
            <a:avLst/>
          </a:prstGeom>
          <a:solidFill>
            <a:srgbClr val="13294B"/>
          </a:solidFill>
          <a:ln w="12700">
            <a:solidFill>
              <a:srgbClr val="13294B"/>
            </a:solidFill>
            <a:prstDash val="solid"/>
          </a:ln>
        </p:spPr>
      </p:sp>
      <p:sp>
        <p:nvSpPr>
          <p:cNvPr id="15" name="Text 13"/>
          <p:cNvSpPr/>
          <p:nvPr/>
        </p:nvSpPr>
        <p:spPr>
          <a:xfrm>
            <a:off x="5577840" y="2084832"/>
            <a:ext cx="3246120" cy="614477"/>
          </a:xfrm>
          <a:prstGeom prst="rect">
            <a:avLst/>
          </a:prstGeom>
          <a:noFill/>
          <a:ln/>
        </p:spPr>
        <p:txBody>
          <a:bodyPr wrap="square" rtlCol="0" anchor="b"/>
          <a:lstStyle/>
          <a:p>
            <a:pPr algn="ctr" indent="0" marL="0">
              <a:buNone/>
            </a:pPr>
            <a:r>
              <a:rPr lang="en-US" sz="3000" b="1" dirty="0">
                <a:solidFill>
                  <a:srgbClr val="FFFFFF"/>
                </a:solidFill>
                <a:latin typeface="Calibri" pitchFamily="34" charset="0"/>
                <a:ea typeface="Calibri" pitchFamily="34" charset="-122"/>
                <a:cs typeface="Calibri" pitchFamily="34" charset="-120"/>
              </a:rPr>
              <a:t>AUC 0.8887</a:t>
            </a:r>
            <a:endParaRPr lang="en-US" sz="3000" dirty="0"/>
          </a:p>
        </p:txBody>
      </p:sp>
      <p:sp>
        <p:nvSpPr>
          <p:cNvPr id="16" name="Text 14"/>
          <p:cNvSpPr/>
          <p:nvPr/>
        </p:nvSpPr>
        <p:spPr>
          <a:xfrm>
            <a:off x="5577840" y="2629814"/>
            <a:ext cx="3246120" cy="416966"/>
          </a:xfrm>
          <a:prstGeom prst="rect">
            <a:avLst/>
          </a:prstGeom>
          <a:noFill/>
          <a:ln/>
        </p:spPr>
        <p:txBody>
          <a:bodyPr wrap="square" rtlCol="0" anchor="t"/>
          <a:lstStyle/>
          <a:p>
            <a:pPr algn="ctr" indent="0" marL="0">
              <a:buNone/>
            </a:pPr>
            <a:r>
              <a:rPr lang="en-US" sz="1100" dirty="0">
                <a:solidFill>
                  <a:srgbClr val="9BC4E2"/>
                </a:solidFill>
                <a:latin typeface="Calibri" pitchFamily="34" charset="0"/>
                <a:ea typeface="Calibri" pitchFamily="34" charset="-122"/>
                <a:cs typeface="Calibri" pitchFamily="34" charset="-120"/>
              </a:rPr>
              <a:t>Achieved without any self-report</a:t>
            </a:r>
            <a:endParaRPr lang="en-US" sz="1100" dirty="0"/>
          </a:p>
        </p:txBody>
      </p:sp>
      <p:sp>
        <p:nvSpPr>
          <p:cNvPr id="17" name="Shape 15"/>
          <p:cNvSpPr/>
          <p:nvPr/>
        </p:nvSpPr>
        <p:spPr>
          <a:xfrm>
            <a:off x="5577840" y="3236976"/>
            <a:ext cx="3246120" cy="1097280"/>
          </a:xfrm>
          <a:prstGeom prst="rect">
            <a:avLst/>
          </a:prstGeom>
          <a:solidFill>
            <a:srgbClr val="13294B"/>
          </a:solidFill>
          <a:ln w="12700">
            <a:solidFill>
              <a:srgbClr val="13294B"/>
            </a:solidFill>
            <a:prstDash val="solid"/>
          </a:ln>
          <a:effectLst>
            <a:outerShdw sx="100000" sy="100000" kx="0" ky="0" algn="bl" rotWithShape="0" blurRad="50800" dist="25400" dir="8100000">
              <a:srgbClr val="000000">
                <a:alpha val="10000"/>
              </a:srgbClr>
            </a:outerShdw>
          </a:effectLst>
        </p:spPr>
      </p:sp>
      <p:sp>
        <p:nvSpPr>
          <p:cNvPr id="18" name="Shape 16"/>
          <p:cNvSpPr/>
          <p:nvPr/>
        </p:nvSpPr>
        <p:spPr>
          <a:xfrm>
            <a:off x="5577840" y="3236976"/>
            <a:ext cx="3246120" cy="54864"/>
          </a:xfrm>
          <a:prstGeom prst="rect">
            <a:avLst/>
          </a:prstGeom>
          <a:solidFill>
            <a:srgbClr val="4B9CD3"/>
          </a:solidFill>
          <a:ln w="12700">
            <a:solidFill>
              <a:srgbClr val="4B9CD3"/>
            </a:solidFill>
            <a:prstDash val="solid"/>
          </a:ln>
        </p:spPr>
      </p:sp>
      <p:sp>
        <p:nvSpPr>
          <p:cNvPr id="19" name="Text 17"/>
          <p:cNvSpPr/>
          <p:nvPr/>
        </p:nvSpPr>
        <p:spPr>
          <a:xfrm>
            <a:off x="5577840" y="3328416"/>
            <a:ext cx="3246120" cy="614477"/>
          </a:xfrm>
          <a:prstGeom prst="rect">
            <a:avLst/>
          </a:prstGeom>
          <a:noFill/>
          <a:ln/>
        </p:spPr>
        <p:txBody>
          <a:bodyPr wrap="square" rtlCol="0" anchor="b"/>
          <a:lstStyle/>
          <a:p>
            <a:pPr algn="ctr" indent="0" marL="0">
              <a:buNone/>
            </a:pPr>
            <a:r>
              <a:rPr lang="en-US" sz="3000" b="1" dirty="0">
                <a:solidFill>
                  <a:srgbClr val="FFFFFF"/>
                </a:solidFill>
                <a:latin typeface="Calibri" pitchFamily="34" charset="0"/>
                <a:ea typeface="Calibri" pitchFamily="34" charset="-122"/>
                <a:cs typeface="Calibri" pitchFamily="34" charset="-120"/>
              </a:rPr>
              <a:t>21.2% FNR</a:t>
            </a:r>
            <a:endParaRPr lang="en-US" sz="3000" dirty="0"/>
          </a:p>
        </p:txBody>
      </p:sp>
      <p:sp>
        <p:nvSpPr>
          <p:cNvPr id="20" name="Text 18"/>
          <p:cNvSpPr/>
          <p:nvPr/>
        </p:nvSpPr>
        <p:spPr>
          <a:xfrm>
            <a:off x="5577840" y="3873398"/>
            <a:ext cx="3246120" cy="416966"/>
          </a:xfrm>
          <a:prstGeom prst="rect">
            <a:avLst/>
          </a:prstGeom>
          <a:noFill/>
          <a:ln/>
        </p:spPr>
        <p:txBody>
          <a:bodyPr wrap="square" rtlCol="0" anchor="t"/>
          <a:lstStyle/>
          <a:p>
            <a:pPr algn="ctr" indent="0" marL="0">
              <a:buNone/>
            </a:pPr>
            <a:r>
              <a:rPr lang="en-US" sz="1100" dirty="0">
                <a:solidFill>
                  <a:srgbClr val="9BC4E2"/>
                </a:solidFill>
                <a:latin typeface="Calibri" pitchFamily="34" charset="0"/>
                <a:ea typeface="Calibri" pitchFamily="34" charset="-122"/>
                <a:cs typeface="Calibri" pitchFamily="34" charset="-120"/>
              </a:rPr>
              <a:t>False negative rate — Gradient Boosting</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3294B"/>
          </a:solidFill>
          <a:ln w="12700">
            <a:solidFill>
              <a:srgbClr val="13294B"/>
            </a:solidFill>
            <a:prstDash val="solid"/>
          </a:ln>
        </p:spPr>
      </p:sp>
      <p:sp>
        <p:nvSpPr>
          <p:cNvPr id="3" name="Text 1"/>
          <p:cNvSpPr/>
          <p:nvPr/>
        </p:nvSpPr>
        <p:spPr>
          <a:xfrm>
            <a:off x="320040" y="0"/>
            <a:ext cx="8503920" cy="54864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02 · Dataset Overview — 15K Synthetic Korean Health Records</a:t>
            </a:r>
            <a:endParaRPr lang="en-US" sz="2000" dirty="0"/>
          </a:p>
        </p:txBody>
      </p:sp>
      <p:sp>
        <p:nvSpPr>
          <p:cNvPr id="4" name="Shape 2"/>
          <p:cNvSpPr/>
          <p:nvPr/>
        </p:nvSpPr>
        <p:spPr>
          <a:xfrm>
            <a:off x="0" y="548640"/>
            <a:ext cx="9144000" cy="54864"/>
          </a:xfrm>
          <a:prstGeom prst="rect">
            <a:avLst/>
          </a:prstGeom>
          <a:solidFill>
            <a:srgbClr val="4B9CD3"/>
          </a:solidFill>
          <a:ln w="12700">
            <a:solidFill>
              <a:srgbClr val="4B9CD3"/>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74320" y="713232"/>
          <a:ext cx="5394960" cy="4114800"/>
        </p:xfrm>
        <a:graphic>
          <a:graphicData uri="http://schemas.openxmlformats.org/drawingml/2006/table">
            <a:tbl>
              <a:tblPr/>
              <a:tblGrid>
                <a:gridCol w="1371600"/>
                <a:gridCol w="1463040"/>
                <a:gridCol w="2560320"/>
              </a:tblGrid>
              <a:tr h="45720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Property</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3294B"/>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Value</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3294B"/>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Implication</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3294B"/>
                    </a:solidFill>
                  </a:tcPr>
                </a:tc>
              </a:tr>
              <a:tr h="45720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Source population</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Korean gov. health screening</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Not generalisable to Western populations</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r h="45720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Generation method</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Deep-learning generative model</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Tail compression in skewed features</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r h="45720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Training observations</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15,000</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~10× smaller than original; limits ceiling AUC</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r h="45720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Original dataset size</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159,256 rows</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Full data = most direct path to 0.90+</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r h="45720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Age 40 concentration</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35.9% of all observations</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Model undertrained at ages &lt;30 or &gt;60</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r h="45720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Class imbalance</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63.5% non-smoker / 36.5% smoker</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Stratified CV sufficient; no SMOTE needed</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r h="45720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Sex field</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Absent</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Height absorbs 41pp sex-by-smoking confound</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r h="45720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Alcohol variable</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Absent</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Gtp/ALT/AST cannot separate tobacco vs. alcohol</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bl>
          </a:graphicData>
        </a:graphic>
      </p:graphicFrame>
      <p:graphicFrame>
        <p:nvGraphicFramePr>
          <p:cNvPr id="6" name="Chart 0" descr=""/>
          <p:cNvGraphicFramePr/>
          <p:nvPr/>
        </p:nvGraphicFramePr>
        <p:xfrm>
          <a:off x="5897880" y="713232"/>
          <a:ext cx="2926080" cy="210312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1" descr=""/>
          <p:cNvGraphicFramePr/>
          <p:nvPr/>
        </p:nvGraphicFramePr>
        <p:xfrm>
          <a:off x="5897880" y="2907792"/>
          <a:ext cx="2926080" cy="192024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3294B"/>
          </a:solidFill>
          <a:ln w="12700">
            <a:solidFill>
              <a:srgbClr val="13294B"/>
            </a:solidFill>
            <a:prstDash val="solid"/>
          </a:ln>
        </p:spPr>
      </p:sp>
      <p:sp>
        <p:nvSpPr>
          <p:cNvPr id="3" name="Text 1"/>
          <p:cNvSpPr/>
          <p:nvPr/>
        </p:nvSpPr>
        <p:spPr>
          <a:xfrm>
            <a:off x="320040" y="0"/>
            <a:ext cx="8503920" cy="54864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03 · EDA — Hemoglobin: The Dominant Signal</a:t>
            </a:r>
            <a:endParaRPr lang="en-US" sz="2000" dirty="0"/>
          </a:p>
        </p:txBody>
      </p:sp>
      <p:sp>
        <p:nvSpPr>
          <p:cNvPr id="4" name="Shape 2"/>
          <p:cNvSpPr/>
          <p:nvPr/>
        </p:nvSpPr>
        <p:spPr>
          <a:xfrm>
            <a:off x="0" y="548640"/>
            <a:ext cx="9144000" cy="54864"/>
          </a:xfrm>
          <a:prstGeom prst="rect">
            <a:avLst/>
          </a:prstGeom>
          <a:solidFill>
            <a:srgbClr val="4B9CD3"/>
          </a:solidFill>
          <a:ln w="12700">
            <a:solidFill>
              <a:srgbClr val="4B9CD3"/>
            </a:solidFill>
            <a:prstDash val="solid"/>
          </a:ln>
        </p:spPr>
      </p:sp>
      <p:pic>
        <p:nvPicPr>
          <p:cNvPr id="5" name="Image 0" descr="preencoded.png">    </p:cNvPr>
          <p:cNvPicPr>
            <a:picLocks noChangeAspect="1"/>
          </p:cNvPicPr>
          <p:nvPr/>
        </p:nvPicPr>
        <p:blipFill>
          <a:blip r:embed="rId1"/>
          <a:stretch>
            <a:fillRect/>
          </a:stretch>
        </p:blipFill>
        <p:spPr>
          <a:xfrm>
            <a:off x="274320" y="685800"/>
            <a:ext cx="5303520" cy="4069080"/>
          </a:xfrm>
          <a:prstGeom prst="rect">
            <a:avLst/>
          </a:prstGeom>
        </p:spPr>
      </p:pic>
      <p:sp>
        <p:nvSpPr>
          <p:cNvPr id="6" name="Shape 3"/>
          <p:cNvSpPr/>
          <p:nvPr/>
        </p:nvSpPr>
        <p:spPr>
          <a:xfrm>
            <a:off x="5760720" y="713232"/>
            <a:ext cx="3108960" cy="749808"/>
          </a:xfrm>
          <a:prstGeom prst="rect">
            <a:avLst/>
          </a:prstGeom>
          <a:solidFill>
            <a:srgbClr val="FFFFFF"/>
          </a:solidFill>
          <a:ln w="12700">
            <a:solidFill>
              <a:srgbClr val="E8ECF0"/>
            </a:solidFill>
            <a:prstDash val="solid"/>
          </a:ln>
          <a:effectLst>
            <a:outerShdw sx="100000" sy="100000" kx="0" ky="0" algn="bl" rotWithShape="0" blurRad="50800" dist="25400" dir="8100000">
              <a:srgbClr val="000000">
                <a:alpha val="10000"/>
              </a:srgbClr>
            </a:outerShdw>
          </a:effectLst>
        </p:spPr>
      </p:sp>
      <p:sp>
        <p:nvSpPr>
          <p:cNvPr id="7" name="Shape 4"/>
          <p:cNvSpPr/>
          <p:nvPr/>
        </p:nvSpPr>
        <p:spPr>
          <a:xfrm>
            <a:off x="5760720" y="713232"/>
            <a:ext cx="64008" cy="749808"/>
          </a:xfrm>
          <a:prstGeom prst="rect">
            <a:avLst/>
          </a:prstGeom>
          <a:solidFill>
            <a:srgbClr val="13294B"/>
          </a:solidFill>
          <a:ln w="12700">
            <a:solidFill>
              <a:srgbClr val="13294B"/>
            </a:solidFill>
            <a:prstDash val="solid"/>
          </a:ln>
        </p:spPr>
      </p:sp>
      <p:sp>
        <p:nvSpPr>
          <p:cNvPr id="8" name="Text 5"/>
          <p:cNvSpPr/>
          <p:nvPr/>
        </p:nvSpPr>
        <p:spPr>
          <a:xfrm>
            <a:off x="5943600" y="749808"/>
            <a:ext cx="2834640" cy="347472"/>
          </a:xfrm>
          <a:prstGeom prst="rect">
            <a:avLst/>
          </a:prstGeom>
          <a:noFill/>
          <a:ln/>
        </p:spPr>
        <p:txBody>
          <a:bodyPr wrap="square" lIns="0" tIns="0" rIns="0" bIns="0" rtlCol="0" anchor="ctr"/>
          <a:lstStyle/>
          <a:p>
            <a:pPr indent="0" marL="0">
              <a:buNone/>
            </a:pPr>
            <a:r>
              <a:rPr lang="en-US" sz="2200" b="1" dirty="0">
                <a:solidFill>
                  <a:srgbClr val="13294B"/>
                </a:solidFill>
                <a:latin typeface="Calibri" pitchFamily="34" charset="0"/>
                <a:ea typeface="Calibri" pitchFamily="34" charset="-122"/>
                <a:cs typeface="Calibri" pitchFamily="34" charset="-120"/>
              </a:rPr>
              <a:t>~13.8 g/dL</a:t>
            </a:r>
            <a:endParaRPr lang="en-US" sz="2200" dirty="0"/>
          </a:p>
        </p:txBody>
      </p:sp>
      <p:sp>
        <p:nvSpPr>
          <p:cNvPr id="9" name="Text 6"/>
          <p:cNvSpPr/>
          <p:nvPr/>
        </p:nvSpPr>
        <p:spPr>
          <a:xfrm>
            <a:off x="5943600" y="1115568"/>
            <a:ext cx="2834640" cy="27432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Non-Smoker Mode</a:t>
            </a:r>
            <a:endParaRPr lang="en-US" sz="1200" dirty="0"/>
          </a:p>
        </p:txBody>
      </p:sp>
      <p:sp>
        <p:nvSpPr>
          <p:cNvPr id="10" name="Shape 7"/>
          <p:cNvSpPr/>
          <p:nvPr/>
        </p:nvSpPr>
        <p:spPr>
          <a:xfrm>
            <a:off x="5760720" y="1581912"/>
            <a:ext cx="3108960" cy="749808"/>
          </a:xfrm>
          <a:prstGeom prst="rect">
            <a:avLst/>
          </a:prstGeom>
          <a:solidFill>
            <a:srgbClr val="FFFFFF"/>
          </a:solidFill>
          <a:ln w="12700">
            <a:solidFill>
              <a:srgbClr val="E8ECF0"/>
            </a:solidFill>
            <a:prstDash val="solid"/>
          </a:ln>
          <a:effectLst>
            <a:outerShdw sx="100000" sy="100000" kx="0" ky="0" algn="bl" rotWithShape="0" blurRad="50800" dist="25400" dir="8100000">
              <a:srgbClr val="000000">
                <a:alpha val="10000"/>
              </a:srgbClr>
            </a:outerShdw>
          </a:effectLst>
        </p:spPr>
      </p:sp>
      <p:sp>
        <p:nvSpPr>
          <p:cNvPr id="11" name="Shape 8"/>
          <p:cNvSpPr/>
          <p:nvPr/>
        </p:nvSpPr>
        <p:spPr>
          <a:xfrm>
            <a:off x="5760720" y="1581912"/>
            <a:ext cx="64008" cy="749808"/>
          </a:xfrm>
          <a:prstGeom prst="rect">
            <a:avLst/>
          </a:prstGeom>
          <a:solidFill>
            <a:srgbClr val="4B9CD3"/>
          </a:solidFill>
          <a:ln w="12700">
            <a:solidFill>
              <a:srgbClr val="4B9CD3"/>
            </a:solidFill>
            <a:prstDash val="solid"/>
          </a:ln>
        </p:spPr>
      </p:sp>
      <p:sp>
        <p:nvSpPr>
          <p:cNvPr id="12" name="Text 9"/>
          <p:cNvSpPr/>
          <p:nvPr/>
        </p:nvSpPr>
        <p:spPr>
          <a:xfrm>
            <a:off x="5943600" y="1618488"/>
            <a:ext cx="2834640" cy="347472"/>
          </a:xfrm>
          <a:prstGeom prst="rect">
            <a:avLst/>
          </a:prstGeom>
          <a:noFill/>
          <a:ln/>
        </p:spPr>
        <p:txBody>
          <a:bodyPr wrap="square" lIns="0" tIns="0" rIns="0" bIns="0" rtlCol="0" anchor="ctr"/>
          <a:lstStyle/>
          <a:p>
            <a:pPr indent="0" marL="0">
              <a:buNone/>
            </a:pPr>
            <a:r>
              <a:rPr lang="en-US" sz="2200" b="1" dirty="0">
                <a:solidFill>
                  <a:srgbClr val="4B9CD3"/>
                </a:solidFill>
                <a:latin typeface="Calibri" pitchFamily="34" charset="0"/>
                <a:ea typeface="Calibri" pitchFamily="34" charset="-122"/>
                <a:cs typeface="Calibri" pitchFamily="34" charset="-120"/>
              </a:rPr>
              <a:t>~15.7 g/dL</a:t>
            </a:r>
            <a:endParaRPr lang="en-US" sz="2200" dirty="0"/>
          </a:p>
        </p:txBody>
      </p:sp>
      <p:sp>
        <p:nvSpPr>
          <p:cNvPr id="13" name="Text 10"/>
          <p:cNvSpPr/>
          <p:nvPr/>
        </p:nvSpPr>
        <p:spPr>
          <a:xfrm>
            <a:off x="5943600" y="1984248"/>
            <a:ext cx="2834640" cy="27432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Smoker Mode</a:t>
            </a:r>
            <a:endParaRPr lang="en-US" sz="1200" dirty="0"/>
          </a:p>
        </p:txBody>
      </p:sp>
      <p:sp>
        <p:nvSpPr>
          <p:cNvPr id="14" name="Shape 11"/>
          <p:cNvSpPr/>
          <p:nvPr/>
        </p:nvSpPr>
        <p:spPr>
          <a:xfrm>
            <a:off x="5760720" y="2450592"/>
            <a:ext cx="3108960" cy="749808"/>
          </a:xfrm>
          <a:prstGeom prst="rect">
            <a:avLst/>
          </a:prstGeom>
          <a:solidFill>
            <a:srgbClr val="FFFFFF"/>
          </a:solidFill>
          <a:ln w="12700">
            <a:solidFill>
              <a:srgbClr val="E8ECF0"/>
            </a:solidFill>
            <a:prstDash val="solid"/>
          </a:ln>
          <a:effectLst>
            <a:outerShdw sx="100000" sy="100000" kx="0" ky="0" algn="bl" rotWithShape="0" blurRad="50800" dist="25400" dir="8100000">
              <a:srgbClr val="000000">
                <a:alpha val="10000"/>
              </a:srgbClr>
            </a:outerShdw>
          </a:effectLst>
        </p:spPr>
      </p:sp>
      <p:sp>
        <p:nvSpPr>
          <p:cNvPr id="15" name="Shape 12"/>
          <p:cNvSpPr/>
          <p:nvPr/>
        </p:nvSpPr>
        <p:spPr>
          <a:xfrm>
            <a:off x="5760720" y="2450592"/>
            <a:ext cx="64008" cy="749808"/>
          </a:xfrm>
          <a:prstGeom prst="rect">
            <a:avLst/>
          </a:prstGeom>
          <a:solidFill>
            <a:srgbClr val="1A1A1A"/>
          </a:solidFill>
          <a:ln w="12700">
            <a:solidFill>
              <a:srgbClr val="1A1A1A"/>
            </a:solidFill>
            <a:prstDash val="solid"/>
          </a:ln>
        </p:spPr>
      </p:sp>
      <p:sp>
        <p:nvSpPr>
          <p:cNvPr id="16" name="Text 13"/>
          <p:cNvSpPr/>
          <p:nvPr/>
        </p:nvSpPr>
        <p:spPr>
          <a:xfrm>
            <a:off x="5943600" y="2487168"/>
            <a:ext cx="2834640" cy="347472"/>
          </a:xfrm>
          <a:prstGeom prst="rect">
            <a:avLst/>
          </a:prstGeom>
          <a:noFill/>
          <a:ln/>
        </p:spPr>
        <p:txBody>
          <a:bodyPr wrap="square" lIns="0" tIns="0" rIns="0" bIns="0" rtlCol="0" anchor="ctr"/>
          <a:lstStyle/>
          <a:p>
            <a:pPr indent="0" marL="0">
              <a:buNone/>
            </a:pPr>
            <a:r>
              <a:rPr lang="en-US" sz="2200" b="1" dirty="0">
                <a:solidFill>
                  <a:srgbClr val="1A1A1A"/>
                </a:solidFill>
                <a:latin typeface="Calibri" pitchFamily="34" charset="0"/>
                <a:ea typeface="Calibri" pitchFamily="34" charset="-122"/>
                <a:cs typeface="Calibri" pitchFamily="34" charset="-120"/>
              </a:rPr>
              <a:t>1.9 g/dL</a:t>
            </a:r>
            <a:endParaRPr lang="en-US" sz="2200" dirty="0"/>
          </a:p>
        </p:txBody>
      </p:sp>
      <p:sp>
        <p:nvSpPr>
          <p:cNvPr id="17" name="Text 14"/>
          <p:cNvSpPr/>
          <p:nvPr/>
        </p:nvSpPr>
        <p:spPr>
          <a:xfrm>
            <a:off x="5943600" y="2852928"/>
            <a:ext cx="2834640" cy="27432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Modal Gap</a:t>
            </a:r>
            <a:endParaRPr lang="en-US" sz="1200" dirty="0"/>
          </a:p>
        </p:txBody>
      </p:sp>
      <p:sp>
        <p:nvSpPr>
          <p:cNvPr id="18" name="Shape 15"/>
          <p:cNvSpPr/>
          <p:nvPr/>
        </p:nvSpPr>
        <p:spPr>
          <a:xfrm>
            <a:off x="5760720" y="3319272"/>
            <a:ext cx="3108960" cy="749808"/>
          </a:xfrm>
          <a:prstGeom prst="rect">
            <a:avLst/>
          </a:prstGeom>
          <a:solidFill>
            <a:srgbClr val="FFFFFF"/>
          </a:solidFill>
          <a:ln w="12700">
            <a:solidFill>
              <a:srgbClr val="E8ECF0"/>
            </a:solidFill>
            <a:prstDash val="solid"/>
          </a:ln>
          <a:effectLst>
            <a:outerShdw sx="100000" sy="100000" kx="0" ky="0" algn="bl" rotWithShape="0" blurRad="50800" dist="25400" dir="8100000">
              <a:srgbClr val="000000">
                <a:alpha val="10000"/>
              </a:srgbClr>
            </a:outerShdw>
          </a:effectLst>
        </p:spPr>
      </p:sp>
      <p:sp>
        <p:nvSpPr>
          <p:cNvPr id="19" name="Shape 16"/>
          <p:cNvSpPr/>
          <p:nvPr/>
        </p:nvSpPr>
        <p:spPr>
          <a:xfrm>
            <a:off x="5760720" y="3319272"/>
            <a:ext cx="64008" cy="749808"/>
          </a:xfrm>
          <a:prstGeom prst="rect">
            <a:avLst/>
          </a:prstGeom>
          <a:solidFill>
            <a:srgbClr val="13294B"/>
          </a:solidFill>
          <a:ln w="12700">
            <a:solidFill>
              <a:srgbClr val="13294B"/>
            </a:solidFill>
            <a:prstDash val="solid"/>
          </a:ln>
        </p:spPr>
      </p:sp>
      <p:sp>
        <p:nvSpPr>
          <p:cNvPr id="20" name="Text 17"/>
          <p:cNvSpPr/>
          <p:nvPr/>
        </p:nvSpPr>
        <p:spPr>
          <a:xfrm>
            <a:off x="5943600" y="3355848"/>
            <a:ext cx="2834640" cy="347472"/>
          </a:xfrm>
          <a:prstGeom prst="rect">
            <a:avLst/>
          </a:prstGeom>
          <a:noFill/>
          <a:ln/>
        </p:spPr>
        <p:txBody>
          <a:bodyPr wrap="square" lIns="0" tIns="0" rIns="0" bIns="0" rtlCol="0" anchor="ctr"/>
          <a:lstStyle/>
          <a:p>
            <a:pPr indent="0" marL="0">
              <a:buNone/>
            </a:pPr>
            <a:r>
              <a:rPr lang="en-US" sz="2200" b="1" dirty="0">
                <a:solidFill>
                  <a:srgbClr val="13294B"/>
                </a:solidFill>
                <a:latin typeface="Calibri" pitchFamily="34" charset="0"/>
                <a:ea typeface="Calibri" pitchFamily="34" charset="-122"/>
                <a:cs typeface="Calibri" pitchFamily="34" charset="-120"/>
              </a:rPr>
              <a:t>0.501</a:t>
            </a:r>
            <a:endParaRPr lang="en-US" sz="2200" dirty="0"/>
          </a:p>
        </p:txBody>
      </p:sp>
      <p:sp>
        <p:nvSpPr>
          <p:cNvPr id="21" name="Text 18"/>
          <p:cNvSpPr/>
          <p:nvPr/>
        </p:nvSpPr>
        <p:spPr>
          <a:xfrm>
            <a:off x="5943600" y="3721608"/>
            <a:ext cx="2834640" cy="27432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Pearson r</a:t>
            </a:r>
            <a:endParaRPr lang="en-US" sz="1200" dirty="0"/>
          </a:p>
        </p:txBody>
      </p:sp>
      <p:sp>
        <p:nvSpPr>
          <p:cNvPr id="22" name="Shape 19"/>
          <p:cNvSpPr/>
          <p:nvPr/>
        </p:nvSpPr>
        <p:spPr>
          <a:xfrm>
            <a:off x="5760720" y="4251960"/>
            <a:ext cx="3108960" cy="502920"/>
          </a:xfrm>
          <a:prstGeom prst="rect">
            <a:avLst/>
          </a:prstGeom>
          <a:solidFill>
            <a:srgbClr val="D6EAF8"/>
          </a:solidFill>
          <a:ln w="12700">
            <a:solidFill>
              <a:srgbClr val="4B9CD3"/>
            </a:solidFill>
            <a:prstDash val="solid"/>
          </a:ln>
        </p:spPr>
      </p:sp>
      <p:sp>
        <p:nvSpPr>
          <p:cNvPr id="23" name="Text 20"/>
          <p:cNvSpPr/>
          <p:nvPr/>
        </p:nvSpPr>
        <p:spPr>
          <a:xfrm>
            <a:off x="5760720" y="4251960"/>
            <a:ext cx="3108960" cy="502920"/>
          </a:xfrm>
          <a:prstGeom prst="rect">
            <a:avLst/>
          </a:prstGeom>
          <a:noFill/>
          <a:ln/>
        </p:spPr>
        <p:txBody>
          <a:bodyPr wrap="square" rtlCol="0" anchor="ctr"/>
          <a:lstStyle/>
          <a:p>
            <a:pPr algn="ctr" indent="0" marL="0">
              <a:buNone/>
            </a:pPr>
            <a:r>
              <a:rPr lang="en-US" sz="1100" dirty="0">
                <a:solidFill>
                  <a:srgbClr val="13294B"/>
                </a:solidFill>
                <a:latin typeface="Calibri" pitchFamily="34" charset="0"/>
                <a:ea typeface="Calibri" pitchFamily="34" charset="-122"/>
                <a:cs typeface="Calibri" pitchFamily="34" charset="-120"/>
              </a:rPr>
              <a:t>Overlap at 14–15 g/dL =</a:t>
            </a:r>
            <a:endParaRPr lang="en-US" sz="1100" dirty="0"/>
          </a:p>
          <a:p>
            <a:pPr algn="ctr" indent="0" marL="0">
              <a:buNone/>
            </a:pPr>
            <a:r>
              <a:rPr lang="en-US" sz="1100" dirty="0">
                <a:solidFill>
                  <a:srgbClr val="13294B"/>
                </a:solidFill>
                <a:latin typeface="Calibri" pitchFamily="34" charset="0"/>
                <a:ea typeface="Calibri" pitchFamily="34" charset="-122"/>
                <a:cs typeface="Calibri" pitchFamily="34" charset="-120"/>
              </a:rPr>
              <a:t>primary misclassification zone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3294B"/>
          </a:solidFill>
          <a:ln w="12700">
            <a:solidFill>
              <a:srgbClr val="13294B"/>
            </a:solidFill>
            <a:prstDash val="solid"/>
          </a:ln>
        </p:spPr>
      </p:sp>
      <p:sp>
        <p:nvSpPr>
          <p:cNvPr id="3" name="Text 1"/>
          <p:cNvSpPr/>
          <p:nvPr/>
        </p:nvSpPr>
        <p:spPr>
          <a:xfrm>
            <a:off x="320040" y="0"/>
            <a:ext cx="8503920" cy="54864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03 · EDA — Feature Correlations with Smoking Status</a:t>
            </a:r>
            <a:endParaRPr lang="en-US" sz="2000" dirty="0"/>
          </a:p>
        </p:txBody>
      </p:sp>
      <p:sp>
        <p:nvSpPr>
          <p:cNvPr id="4" name="Shape 2"/>
          <p:cNvSpPr/>
          <p:nvPr/>
        </p:nvSpPr>
        <p:spPr>
          <a:xfrm>
            <a:off x="0" y="548640"/>
            <a:ext cx="9144000" cy="54864"/>
          </a:xfrm>
          <a:prstGeom prst="rect">
            <a:avLst/>
          </a:prstGeom>
          <a:solidFill>
            <a:srgbClr val="4B9CD3"/>
          </a:solidFill>
          <a:ln w="12700">
            <a:solidFill>
              <a:srgbClr val="4B9CD3"/>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713232"/>
          <a:ext cx="8595360" cy="4206240"/>
        </p:xfrm>
        <a:graphic>
          <a:graphicData uri="http://schemas.openxmlformats.org/drawingml/2006/table">
            <a:tbl>
              <a:tblPr/>
              <a:tblGrid>
                <a:gridCol w="457200"/>
                <a:gridCol w="1234440"/>
                <a:gridCol w="777240"/>
                <a:gridCol w="685800"/>
                <a:gridCol w="5440680"/>
              </a:tblGrid>
              <a:tr h="393192">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Rank</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3294B"/>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Feature</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3294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Pearson r</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3294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Direction</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3294B"/>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Interpretation</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3294B"/>
                    </a:solidFill>
                  </a:tcPr>
                </a:tc>
              </a:tr>
              <a:tr h="393192">
                <a:tc>
                  <a:txBody>
                    <a:bodyPr/>
                    <a:lstStyle/>
                    <a:p>
                      <a:pPr algn="ctr" indent="0" marL="0">
                        <a:buNone/>
                      </a:pPr>
                      <a:r>
                        <a:rPr lang="en-US" sz="1150" b="1" dirty="0">
                          <a:solidFill>
                            <a:srgbClr val="4B9CD3"/>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hemoglobin</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1150" b="1" dirty="0">
                          <a:solidFill>
                            <a:srgbClr val="4B9CD3"/>
                          </a:solidFill>
                          <a:latin typeface="Calibri" pitchFamily="34" charset="0"/>
                          <a:ea typeface="Calibri" pitchFamily="34" charset="-122"/>
                          <a:cs typeface="Calibri" pitchFamily="34" charset="-120"/>
                        </a:rPr>
                        <a:t>0.501</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1150" b="1" dirty="0">
                          <a:solidFill>
                            <a:srgbClr val="4B9CD3"/>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Polycythemia pathway — strongest signal by wide margin</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r h="393192">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height (cm)</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0.486</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Sex proxy — no explicit sex field in dataset</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r h="393192">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weight (kg)</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0.403</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Body composition; partially a sex proxy</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r h="393192">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Gtp</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0.378</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Liver enzyme; elevated by tobacco metabolites</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r h="393192">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serum creatinine</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0.346</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Higher in males; sex proxy component</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r h="393192">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triglyceride</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0.346</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VLDL elevation from smoking-induced dyslipidemia</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r h="393192">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waist (cm)</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0.311</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Abdominal adiposity; metabolic syndrome</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r h="393192">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HDL</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1150" b="1" dirty="0">
                          <a:solidFill>
                            <a:srgbClr val="DC2626"/>
                          </a:solidFill>
                          <a:latin typeface="Calibri" pitchFamily="34" charset="0"/>
                          <a:ea typeface="Calibri" pitchFamily="34" charset="-122"/>
                          <a:cs typeface="Calibri" pitchFamily="34" charset="-120"/>
                        </a:rPr>
                        <a:t>-0.292</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1150" b="1" dirty="0">
                          <a:solidFill>
                            <a:srgbClr val="DC262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Smoking suppresses hepatic HDL synthesis</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r h="393192">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9</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ALT</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0.242</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Hepatotoxic stress; synergistic with alcohol</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r h="393192">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age</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1150" dirty="0">
                          <a:solidFill>
                            <a:srgbClr val="DC2626"/>
                          </a:solidFill>
                          <a:latin typeface="Calibri" pitchFamily="34" charset="0"/>
                          <a:ea typeface="Calibri" pitchFamily="34" charset="-122"/>
                          <a:cs typeface="Calibri" pitchFamily="34" charset="-120"/>
                        </a:rPr>
                        <a:t>-0.185</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1150" dirty="0">
                          <a:solidFill>
                            <a:srgbClr val="DC2626"/>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Negative cohort artifact — not causal</a:t>
                      </a:r>
                      <a:endParaRPr lang="en-US" sz="11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3294B"/>
          </a:solidFill>
          <a:ln w="12700">
            <a:solidFill>
              <a:srgbClr val="13294B"/>
            </a:solidFill>
            <a:prstDash val="solid"/>
          </a:ln>
        </p:spPr>
      </p:sp>
      <p:sp>
        <p:nvSpPr>
          <p:cNvPr id="3" name="Text 1"/>
          <p:cNvSpPr/>
          <p:nvPr/>
        </p:nvSpPr>
        <p:spPr>
          <a:xfrm>
            <a:off x="320040" y="0"/>
            <a:ext cx="8503920" cy="54864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04 · Research — Why Each Biomarker Associates with Smoking</a:t>
            </a:r>
            <a:endParaRPr lang="en-US" sz="2000" dirty="0"/>
          </a:p>
        </p:txBody>
      </p:sp>
      <p:sp>
        <p:nvSpPr>
          <p:cNvPr id="4" name="Shape 2"/>
          <p:cNvSpPr/>
          <p:nvPr/>
        </p:nvSpPr>
        <p:spPr>
          <a:xfrm>
            <a:off x="0" y="548640"/>
            <a:ext cx="9144000" cy="54864"/>
          </a:xfrm>
          <a:prstGeom prst="rect">
            <a:avLst/>
          </a:prstGeom>
          <a:solidFill>
            <a:srgbClr val="4B9CD3"/>
          </a:solidFill>
          <a:ln w="12700">
            <a:solidFill>
              <a:srgbClr val="4B9CD3"/>
            </a:solidFill>
            <a:prstDash val="solid"/>
          </a:ln>
        </p:spPr>
      </p:sp>
      <p:sp>
        <p:nvSpPr>
          <p:cNvPr id="5" name="Shape 3"/>
          <p:cNvSpPr/>
          <p:nvPr/>
        </p:nvSpPr>
        <p:spPr>
          <a:xfrm>
            <a:off x="274320" y="713232"/>
            <a:ext cx="4206240" cy="1371600"/>
          </a:xfrm>
          <a:prstGeom prst="rect">
            <a:avLst/>
          </a:prstGeom>
          <a:solidFill>
            <a:srgbClr val="FFFFFF"/>
          </a:solidFill>
          <a:ln w="12700">
            <a:solidFill>
              <a:srgbClr val="E8ECF0"/>
            </a:solidFill>
            <a:prstDash val="solid"/>
          </a:ln>
          <a:effectLst>
            <a:outerShdw sx="100000" sy="100000" kx="0" ky="0" algn="bl" rotWithShape="0" blurRad="50800" dist="25400" dir="8100000">
              <a:srgbClr val="000000">
                <a:alpha val="10000"/>
              </a:srgbClr>
            </a:outerShdw>
          </a:effectLst>
        </p:spPr>
      </p:sp>
      <p:sp>
        <p:nvSpPr>
          <p:cNvPr id="6" name="Shape 4"/>
          <p:cNvSpPr/>
          <p:nvPr/>
        </p:nvSpPr>
        <p:spPr>
          <a:xfrm>
            <a:off x="274320" y="713232"/>
            <a:ext cx="4206240" cy="54864"/>
          </a:xfrm>
          <a:prstGeom prst="rect">
            <a:avLst/>
          </a:prstGeom>
          <a:solidFill>
            <a:srgbClr val="4B9CD3"/>
          </a:solidFill>
          <a:ln w="12700">
            <a:solidFill>
              <a:srgbClr val="4B9CD3"/>
            </a:solidFill>
            <a:prstDash val="solid"/>
          </a:ln>
        </p:spPr>
      </p:sp>
      <p:sp>
        <p:nvSpPr>
          <p:cNvPr id="7" name="Text 5"/>
          <p:cNvSpPr/>
          <p:nvPr/>
        </p:nvSpPr>
        <p:spPr>
          <a:xfrm>
            <a:off x="384048" y="804672"/>
            <a:ext cx="3977640" cy="274320"/>
          </a:xfrm>
          <a:prstGeom prst="rect">
            <a:avLst/>
          </a:prstGeom>
          <a:noFill/>
          <a:ln/>
        </p:spPr>
        <p:txBody>
          <a:bodyPr wrap="square" lIns="0" tIns="0" rIns="0" bIns="0" rtlCol="0" anchor="ctr"/>
          <a:lstStyle/>
          <a:p>
            <a:pPr indent="0" marL="0">
              <a:buNone/>
            </a:pPr>
            <a:r>
              <a:rPr lang="en-US" sz="1200" b="1" dirty="0">
                <a:solidFill>
                  <a:srgbClr val="4B9CD3"/>
                </a:solidFill>
                <a:latin typeface="Calibri" pitchFamily="34" charset="0"/>
                <a:ea typeface="Calibri" pitchFamily="34" charset="-122"/>
                <a:cs typeface="Calibri" pitchFamily="34" charset="-120"/>
              </a:rPr>
              <a:t>Hemoglobin</a:t>
            </a:r>
            <a:pPr indent="0" marL="0">
              <a:buNone/>
            </a:pPr>
            <a:r>
              <a:rPr lang="en-US" sz="1200" dirty="0">
                <a:solidFill>
                  <a:srgbClr val="4A5568"/>
                </a:solidFill>
                <a:latin typeface="Calibri" pitchFamily="34" charset="0"/>
                <a:ea typeface="Calibri" pitchFamily="34" charset="-122"/>
                <a:cs typeface="Calibri" pitchFamily="34" charset="-120"/>
              </a:rPr>
              <a:t>  ·  Polycythemia Pathway</a:t>
            </a:r>
            <a:endParaRPr lang="en-US" sz="1200" dirty="0"/>
          </a:p>
        </p:txBody>
      </p:sp>
      <p:sp>
        <p:nvSpPr>
          <p:cNvPr id="8" name="Text 6"/>
          <p:cNvSpPr/>
          <p:nvPr/>
        </p:nvSpPr>
        <p:spPr>
          <a:xfrm>
            <a:off x="384048" y="1115568"/>
            <a:ext cx="3977640" cy="896112"/>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Smoking produces carboxyhemoglobin → reduced O₂ delivery → renal erythropoietin release → ↑ RBC production → ↑ Hgb. Mean Hgb in smokers is ~1.9 g/dL higher. Confirmed across NEJM (1978), Saudi J. Bio Sci (2020), Mayo Clinic Proc. (2018, n=6,808).</a:t>
            </a:r>
            <a:endParaRPr lang="en-US" sz="1000" dirty="0"/>
          </a:p>
        </p:txBody>
      </p:sp>
      <p:sp>
        <p:nvSpPr>
          <p:cNvPr id="9" name="Shape 7"/>
          <p:cNvSpPr/>
          <p:nvPr/>
        </p:nvSpPr>
        <p:spPr>
          <a:xfrm>
            <a:off x="4709160" y="713232"/>
            <a:ext cx="4206240" cy="1371600"/>
          </a:xfrm>
          <a:prstGeom prst="rect">
            <a:avLst/>
          </a:prstGeom>
          <a:solidFill>
            <a:srgbClr val="FFFFFF"/>
          </a:solidFill>
          <a:ln w="12700">
            <a:solidFill>
              <a:srgbClr val="E8ECF0"/>
            </a:solidFill>
            <a:prstDash val="solid"/>
          </a:ln>
          <a:effectLst>
            <a:outerShdw sx="100000" sy="100000" kx="0" ky="0" algn="bl" rotWithShape="0" blurRad="50800" dist="25400" dir="8100000">
              <a:srgbClr val="000000">
                <a:alpha val="10000"/>
              </a:srgbClr>
            </a:outerShdw>
          </a:effectLst>
        </p:spPr>
      </p:sp>
      <p:sp>
        <p:nvSpPr>
          <p:cNvPr id="10" name="Shape 8"/>
          <p:cNvSpPr/>
          <p:nvPr/>
        </p:nvSpPr>
        <p:spPr>
          <a:xfrm>
            <a:off x="4709160" y="713232"/>
            <a:ext cx="4206240" cy="54864"/>
          </a:xfrm>
          <a:prstGeom prst="rect">
            <a:avLst/>
          </a:prstGeom>
          <a:solidFill>
            <a:srgbClr val="13294B"/>
          </a:solidFill>
          <a:ln w="12700">
            <a:solidFill>
              <a:srgbClr val="13294B"/>
            </a:solidFill>
            <a:prstDash val="solid"/>
          </a:ln>
        </p:spPr>
      </p:sp>
      <p:sp>
        <p:nvSpPr>
          <p:cNvPr id="11" name="Text 9"/>
          <p:cNvSpPr/>
          <p:nvPr/>
        </p:nvSpPr>
        <p:spPr>
          <a:xfrm>
            <a:off x="4818888" y="804672"/>
            <a:ext cx="3977640" cy="274320"/>
          </a:xfrm>
          <a:prstGeom prst="rect">
            <a:avLst/>
          </a:prstGeom>
          <a:noFill/>
          <a:ln/>
        </p:spPr>
        <p:txBody>
          <a:bodyPr wrap="square" lIns="0" tIns="0" rIns="0" bIns="0"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Gtp (GGT)</a:t>
            </a:r>
            <a:pPr indent="0" marL="0">
              <a:buNone/>
            </a:pPr>
            <a:r>
              <a:rPr lang="en-US" sz="1200" dirty="0">
                <a:solidFill>
                  <a:srgbClr val="4A5568"/>
                </a:solidFill>
                <a:latin typeface="Calibri" pitchFamily="34" charset="0"/>
                <a:ea typeface="Calibri" pitchFamily="34" charset="-122"/>
                <a:cs typeface="Calibri" pitchFamily="34" charset="-120"/>
              </a:rPr>
              <a:t>  ·  Hepatotoxic Exposure</a:t>
            </a:r>
            <a:endParaRPr lang="en-US" sz="1200" dirty="0"/>
          </a:p>
        </p:txBody>
      </p:sp>
      <p:sp>
        <p:nvSpPr>
          <p:cNvPr id="12" name="Text 10"/>
          <p:cNvSpPr/>
          <p:nvPr/>
        </p:nvSpPr>
        <p:spPr>
          <a:xfrm>
            <a:off x="4818888" y="1115568"/>
            <a:ext cx="3977640" cy="896112"/>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Gamma-glutamyl transferase is induced by tobacco metabolites. Mean GGT: 20.89 IU/L in smokers vs. 14.51 IU/L in non-smokers (Nomura et al. 2013). Confounded by alcohol — GGT association abolished after CRP adjustment in non-drinkers.</a:t>
            </a:r>
            <a:endParaRPr lang="en-US" sz="1000" dirty="0"/>
          </a:p>
        </p:txBody>
      </p:sp>
      <p:sp>
        <p:nvSpPr>
          <p:cNvPr id="13" name="Shape 11"/>
          <p:cNvSpPr/>
          <p:nvPr/>
        </p:nvSpPr>
        <p:spPr>
          <a:xfrm>
            <a:off x="274320" y="2203704"/>
            <a:ext cx="4206240" cy="1371600"/>
          </a:xfrm>
          <a:prstGeom prst="rect">
            <a:avLst/>
          </a:prstGeom>
          <a:solidFill>
            <a:srgbClr val="FFFFFF"/>
          </a:solidFill>
          <a:ln w="12700">
            <a:solidFill>
              <a:srgbClr val="E8ECF0"/>
            </a:solidFill>
            <a:prstDash val="solid"/>
          </a:ln>
          <a:effectLst>
            <a:outerShdw sx="100000" sy="100000" kx="0" ky="0" algn="bl" rotWithShape="0" blurRad="50800" dist="25400" dir="8100000">
              <a:srgbClr val="000000">
                <a:alpha val="10000"/>
              </a:srgbClr>
            </a:outerShdw>
          </a:effectLst>
        </p:spPr>
      </p:sp>
      <p:sp>
        <p:nvSpPr>
          <p:cNvPr id="14" name="Shape 12"/>
          <p:cNvSpPr/>
          <p:nvPr/>
        </p:nvSpPr>
        <p:spPr>
          <a:xfrm>
            <a:off x="274320" y="2203704"/>
            <a:ext cx="4206240" cy="54864"/>
          </a:xfrm>
          <a:prstGeom prst="rect">
            <a:avLst/>
          </a:prstGeom>
          <a:solidFill>
            <a:srgbClr val="4B9CD3"/>
          </a:solidFill>
          <a:ln w="12700">
            <a:solidFill>
              <a:srgbClr val="4B9CD3"/>
            </a:solidFill>
            <a:prstDash val="solid"/>
          </a:ln>
        </p:spPr>
      </p:sp>
      <p:sp>
        <p:nvSpPr>
          <p:cNvPr id="15" name="Text 13"/>
          <p:cNvSpPr/>
          <p:nvPr/>
        </p:nvSpPr>
        <p:spPr>
          <a:xfrm>
            <a:off x="384048" y="2295144"/>
            <a:ext cx="3977640" cy="274320"/>
          </a:xfrm>
          <a:prstGeom prst="rect">
            <a:avLst/>
          </a:prstGeom>
          <a:noFill/>
          <a:ln/>
        </p:spPr>
        <p:txBody>
          <a:bodyPr wrap="square" lIns="0" tIns="0" rIns="0" bIns="0" rtlCol="0" anchor="ctr"/>
          <a:lstStyle/>
          <a:p>
            <a:pPr indent="0" marL="0">
              <a:buNone/>
            </a:pPr>
            <a:r>
              <a:rPr lang="en-US" sz="1200" b="1" dirty="0">
                <a:solidFill>
                  <a:srgbClr val="4B9CD3"/>
                </a:solidFill>
                <a:latin typeface="Calibri" pitchFamily="34" charset="0"/>
                <a:ea typeface="Calibri" pitchFamily="34" charset="-122"/>
                <a:cs typeface="Calibri" pitchFamily="34" charset="-120"/>
              </a:rPr>
              <a:t>Triglyceride</a:t>
            </a:r>
            <a:pPr indent="0" marL="0">
              <a:buNone/>
            </a:pPr>
            <a:r>
              <a:rPr lang="en-US" sz="1200" dirty="0">
                <a:solidFill>
                  <a:srgbClr val="4A5568"/>
                </a:solidFill>
                <a:latin typeface="Calibri" pitchFamily="34" charset="0"/>
                <a:ea typeface="Calibri" pitchFamily="34" charset="-122"/>
                <a:cs typeface="Calibri" pitchFamily="34" charset="-120"/>
              </a:rPr>
              <a:t>  ·  Dyslipidemia Pathway</a:t>
            </a:r>
            <a:endParaRPr lang="en-US" sz="1200" dirty="0"/>
          </a:p>
        </p:txBody>
      </p:sp>
      <p:sp>
        <p:nvSpPr>
          <p:cNvPr id="16" name="Text 14"/>
          <p:cNvSpPr/>
          <p:nvPr/>
        </p:nvSpPr>
        <p:spPr>
          <a:xfrm>
            <a:off x="384048" y="2606040"/>
            <a:ext cx="3977640" cy="896112"/>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Smoking upregulates VLDL synthesis and impairs lipoprotein lipase activity. Meta-analysis of 169 studies (Mach et al. 2023): triglycerides average +0.50 mmol/L in smokers. Effects persist years after cessation.</a:t>
            </a:r>
            <a:endParaRPr lang="en-US" sz="1000" dirty="0"/>
          </a:p>
        </p:txBody>
      </p:sp>
      <p:sp>
        <p:nvSpPr>
          <p:cNvPr id="17" name="Shape 15"/>
          <p:cNvSpPr/>
          <p:nvPr/>
        </p:nvSpPr>
        <p:spPr>
          <a:xfrm>
            <a:off x="4709160" y="2203704"/>
            <a:ext cx="4206240" cy="1371600"/>
          </a:xfrm>
          <a:prstGeom prst="rect">
            <a:avLst/>
          </a:prstGeom>
          <a:solidFill>
            <a:srgbClr val="FFFFFF"/>
          </a:solidFill>
          <a:ln w="12700">
            <a:solidFill>
              <a:srgbClr val="E8ECF0"/>
            </a:solidFill>
            <a:prstDash val="solid"/>
          </a:ln>
          <a:effectLst>
            <a:outerShdw sx="100000" sy="100000" kx="0" ky="0" algn="bl" rotWithShape="0" blurRad="50800" dist="25400" dir="8100000">
              <a:srgbClr val="000000">
                <a:alpha val="10000"/>
              </a:srgbClr>
            </a:outerShdw>
          </a:effectLst>
        </p:spPr>
      </p:sp>
      <p:sp>
        <p:nvSpPr>
          <p:cNvPr id="18" name="Shape 16"/>
          <p:cNvSpPr/>
          <p:nvPr/>
        </p:nvSpPr>
        <p:spPr>
          <a:xfrm>
            <a:off x="4709160" y="2203704"/>
            <a:ext cx="4206240" cy="54864"/>
          </a:xfrm>
          <a:prstGeom prst="rect">
            <a:avLst/>
          </a:prstGeom>
          <a:solidFill>
            <a:srgbClr val="13294B"/>
          </a:solidFill>
          <a:ln w="12700">
            <a:solidFill>
              <a:srgbClr val="13294B"/>
            </a:solidFill>
            <a:prstDash val="solid"/>
          </a:ln>
        </p:spPr>
      </p:sp>
      <p:sp>
        <p:nvSpPr>
          <p:cNvPr id="19" name="Text 17"/>
          <p:cNvSpPr/>
          <p:nvPr/>
        </p:nvSpPr>
        <p:spPr>
          <a:xfrm>
            <a:off x="4818888" y="2295144"/>
            <a:ext cx="3977640" cy="274320"/>
          </a:xfrm>
          <a:prstGeom prst="rect">
            <a:avLst/>
          </a:prstGeom>
          <a:noFill/>
          <a:ln/>
        </p:spPr>
        <p:txBody>
          <a:bodyPr wrap="square" lIns="0" tIns="0" rIns="0" bIns="0"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HDL</a:t>
            </a:r>
            <a:pPr indent="0" marL="0">
              <a:buNone/>
            </a:pPr>
            <a:r>
              <a:rPr lang="en-US" sz="1200" dirty="0">
                <a:solidFill>
                  <a:srgbClr val="4A5568"/>
                </a:solidFill>
                <a:latin typeface="Calibri" pitchFamily="34" charset="0"/>
                <a:ea typeface="Calibri" pitchFamily="34" charset="-122"/>
                <a:cs typeface="Calibri" pitchFamily="34" charset="-120"/>
              </a:rPr>
              <a:t>  ·  Inverse Association</a:t>
            </a:r>
            <a:endParaRPr lang="en-US" sz="1200" dirty="0"/>
          </a:p>
        </p:txBody>
      </p:sp>
      <p:sp>
        <p:nvSpPr>
          <p:cNvPr id="20" name="Text 18"/>
          <p:cNvSpPr/>
          <p:nvPr/>
        </p:nvSpPr>
        <p:spPr>
          <a:xfrm>
            <a:off x="4818888" y="2606040"/>
            <a:ext cx="3977640" cy="896112"/>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Tobacco smoke reduces hepatic HDL synthesis (Mohammadi et al. 2024: OR 2.90 for low HDL in smokers vs. non-smokers). Cessation raises HDL-C but not total cholesterol or LDL short-term (Shirai et al. 2003 meta-analysis).</a:t>
            </a:r>
            <a:endParaRPr lang="en-US" sz="1000" dirty="0"/>
          </a:p>
        </p:txBody>
      </p:sp>
      <p:sp>
        <p:nvSpPr>
          <p:cNvPr id="21" name="Shape 19"/>
          <p:cNvSpPr/>
          <p:nvPr/>
        </p:nvSpPr>
        <p:spPr>
          <a:xfrm>
            <a:off x="274320" y="3694176"/>
            <a:ext cx="4206240" cy="1371600"/>
          </a:xfrm>
          <a:prstGeom prst="rect">
            <a:avLst/>
          </a:prstGeom>
          <a:solidFill>
            <a:srgbClr val="FFFFFF"/>
          </a:solidFill>
          <a:ln w="12700">
            <a:solidFill>
              <a:srgbClr val="E8ECF0"/>
            </a:solidFill>
            <a:prstDash val="solid"/>
          </a:ln>
          <a:effectLst>
            <a:outerShdw sx="100000" sy="100000" kx="0" ky="0" algn="bl" rotWithShape="0" blurRad="50800" dist="25400" dir="8100000">
              <a:srgbClr val="000000">
                <a:alpha val="10000"/>
              </a:srgbClr>
            </a:outerShdw>
          </a:effectLst>
        </p:spPr>
      </p:sp>
      <p:sp>
        <p:nvSpPr>
          <p:cNvPr id="22" name="Shape 20"/>
          <p:cNvSpPr/>
          <p:nvPr/>
        </p:nvSpPr>
        <p:spPr>
          <a:xfrm>
            <a:off x="274320" y="3694176"/>
            <a:ext cx="4206240" cy="54864"/>
          </a:xfrm>
          <a:prstGeom prst="rect">
            <a:avLst/>
          </a:prstGeom>
          <a:solidFill>
            <a:srgbClr val="4B9CD3"/>
          </a:solidFill>
          <a:ln w="12700">
            <a:solidFill>
              <a:srgbClr val="4B9CD3"/>
            </a:solidFill>
            <a:prstDash val="solid"/>
          </a:ln>
        </p:spPr>
      </p:sp>
      <p:sp>
        <p:nvSpPr>
          <p:cNvPr id="23" name="Text 21"/>
          <p:cNvSpPr/>
          <p:nvPr/>
        </p:nvSpPr>
        <p:spPr>
          <a:xfrm>
            <a:off x="384048" y="3785616"/>
            <a:ext cx="3977640" cy="274320"/>
          </a:xfrm>
          <a:prstGeom prst="rect">
            <a:avLst/>
          </a:prstGeom>
          <a:noFill/>
          <a:ln/>
        </p:spPr>
        <p:txBody>
          <a:bodyPr wrap="square" lIns="0" tIns="0" rIns="0" bIns="0" rtlCol="0" anchor="ctr"/>
          <a:lstStyle/>
          <a:p>
            <a:pPr indent="0" marL="0">
              <a:buNone/>
            </a:pPr>
            <a:r>
              <a:rPr lang="en-US" sz="1200" b="1" dirty="0">
                <a:solidFill>
                  <a:srgbClr val="4B9CD3"/>
                </a:solidFill>
                <a:latin typeface="Calibri" pitchFamily="34" charset="0"/>
                <a:ea typeface="Calibri" pitchFamily="34" charset="-122"/>
                <a:cs typeface="Calibri" pitchFamily="34" charset="-120"/>
              </a:rPr>
              <a:t>ALT &amp; AST</a:t>
            </a:r>
            <a:pPr indent="0" marL="0">
              <a:buNone/>
            </a:pPr>
            <a:r>
              <a:rPr lang="en-US" sz="1200" dirty="0">
                <a:solidFill>
                  <a:srgbClr val="4A5568"/>
                </a:solidFill>
                <a:latin typeface="Calibri" pitchFamily="34" charset="0"/>
                <a:ea typeface="Calibri" pitchFamily="34" charset="-122"/>
                <a:cs typeface="Calibri" pitchFamily="34" charset="-120"/>
              </a:rPr>
              <a:t>  ·  Hepatocellular Stress</a:t>
            </a:r>
            <a:endParaRPr lang="en-US" sz="1200" dirty="0"/>
          </a:p>
        </p:txBody>
      </p:sp>
      <p:sp>
        <p:nvSpPr>
          <p:cNvPr id="24" name="Text 22"/>
          <p:cNvSpPr/>
          <p:nvPr/>
        </p:nvSpPr>
        <p:spPr>
          <a:xfrm>
            <a:off x="384048" y="4096512"/>
            <a:ext cx="3977640" cy="896112"/>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Statistically significant synergistic interactions of smoking with alcohol for both AST and ALT, implicating exacerbated hepatocellular vulnerability (Riedl et al. 2011, PLOS ONE). Cannot separate tobacco from alcohol signal without an alcohol variable.</a:t>
            </a:r>
            <a:endParaRPr lang="en-US" sz="1000" dirty="0"/>
          </a:p>
        </p:txBody>
      </p:sp>
      <p:sp>
        <p:nvSpPr>
          <p:cNvPr id="25" name="Shape 23"/>
          <p:cNvSpPr/>
          <p:nvPr/>
        </p:nvSpPr>
        <p:spPr>
          <a:xfrm>
            <a:off x="4709160" y="3694176"/>
            <a:ext cx="4206240" cy="1371600"/>
          </a:xfrm>
          <a:prstGeom prst="rect">
            <a:avLst/>
          </a:prstGeom>
          <a:solidFill>
            <a:srgbClr val="FFFFFF"/>
          </a:solidFill>
          <a:ln w="12700">
            <a:solidFill>
              <a:srgbClr val="E8ECF0"/>
            </a:solidFill>
            <a:prstDash val="solid"/>
          </a:ln>
          <a:effectLst>
            <a:outerShdw sx="100000" sy="100000" kx="0" ky="0" algn="bl" rotWithShape="0" blurRad="50800" dist="25400" dir="8100000">
              <a:srgbClr val="000000">
                <a:alpha val="10000"/>
              </a:srgbClr>
            </a:outerShdw>
          </a:effectLst>
        </p:spPr>
      </p:sp>
      <p:sp>
        <p:nvSpPr>
          <p:cNvPr id="26" name="Shape 24"/>
          <p:cNvSpPr/>
          <p:nvPr/>
        </p:nvSpPr>
        <p:spPr>
          <a:xfrm>
            <a:off x="4709160" y="3694176"/>
            <a:ext cx="4206240" cy="54864"/>
          </a:xfrm>
          <a:prstGeom prst="rect">
            <a:avLst/>
          </a:prstGeom>
          <a:solidFill>
            <a:srgbClr val="13294B"/>
          </a:solidFill>
          <a:ln w="12700">
            <a:solidFill>
              <a:srgbClr val="13294B"/>
            </a:solidFill>
            <a:prstDash val="solid"/>
          </a:ln>
        </p:spPr>
      </p:sp>
      <p:sp>
        <p:nvSpPr>
          <p:cNvPr id="27" name="Text 25"/>
          <p:cNvSpPr/>
          <p:nvPr/>
        </p:nvSpPr>
        <p:spPr>
          <a:xfrm>
            <a:off x="4818888" y="3785616"/>
            <a:ext cx="3977640" cy="274320"/>
          </a:xfrm>
          <a:prstGeom prst="rect">
            <a:avLst/>
          </a:prstGeom>
          <a:noFill/>
          <a:ln/>
        </p:spPr>
        <p:txBody>
          <a:bodyPr wrap="square" lIns="0" tIns="0" rIns="0" bIns="0"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Height (Sex Proxy)</a:t>
            </a:r>
            <a:pPr indent="0" marL="0">
              <a:buNone/>
            </a:pPr>
            <a:r>
              <a:rPr lang="en-US" sz="1200" dirty="0">
                <a:solidFill>
                  <a:srgbClr val="4A5568"/>
                </a:solidFill>
                <a:latin typeface="Calibri" pitchFamily="34" charset="0"/>
                <a:ea typeface="Calibri" pitchFamily="34" charset="-122"/>
                <a:cs typeface="Calibri" pitchFamily="34" charset="-120"/>
              </a:rPr>
              <a:t>  ·  Structural Confound</a:t>
            </a:r>
            <a:endParaRPr lang="en-US" sz="1200" dirty="0"/>
          </a:p>
        </p:txBody>
      </p:sp>
      <p:sp>
        <p:nvSpPr>
          <p:cNvPr id="28" name="Text 26"/>
          <p:cNvSpPr/>
          <p:nvPr/>
        </p:nvSpPr>
        <p:spPr>
          <a:xfrm>
            <a:off x="4818888" y="4096512"/>
            <a:ext cx="3977640" cy="896112"/>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No sex field in dataset. Males average 8.6 cm taller and smoke at 60.9% vs. 19.1% for shorter observations — a 41pp gap. Height absorbs a sex-by-smoking confound throughout. Adding sex would substantially reduce height's Gini importance of 0.196.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3294B"/>
          </a:solidFill>
          <a:ln w="12700">
            <a:solidFill>
              <a:srgbClr val="13294B"/>
            </a:solidFill>
            <a:prstDash val="solid"/>
          </a:ln>
        </p:spPr>
      </p:sp>
      <p:sp>
        <p:nvSpPr>
          <p:cNvPr id="3" name="Text 1"/>
          <p:cNvSpPr/>
          <p:nvPr/>
        </p:nvSpPr>
        <p:spPr>
          <a:xfrm>
            <a:off x="320040" y="0"/>
            <a:ext cx="8503920" cy="54864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05 · Methodology — Pipeline &amp; Model Hyperparameters</a:t>
            </a:r>
            <a:endParaRPr lang="en-US" sz="2000" dirty="0"/>
          </a:p>
        </p:txBody>
      </p:sp>
      <p:sp>
        <p:nvSpPr>
          <p:cNvPr id="4" name="Shape 2"/>
          <p:cNvSpPr/>
          <p:nvPr/>
        </p:nvSpPr>
        <p:spPr>
          <a:xfrm>
            <a:off x="0" y="548640"/>
            <a:ext cx="9144000" cy="54864"/>
          </a:xfrm>
          <a:prstGeom prst="rect">
            <a:avLst/>
          </a:prstGeom>
          <a:solidFill>
            <a:srgbClr val="4B9CD3"/>
          </a:solidFill>
          <a:ln w="12700">
            <a:solidFill>
              <a:srgbClr val="4B9CD3"/>
            </a:solidFill>
            <a:prstDash val="solid"/>
          </a:ln>
        </p:spPr>
      </p:sp>
      <p:sp>
        <p:nvSpPr>
          <p:cNvPr id="5" name="Shape 3"/>
          <p:cNvSpPr/>
          <p:nvPr/>
        </p:nvSpPr>
        <p:spPr>
          <a:xfrm>
            <a:off x="256032" y="713232"/>
            <a:ext cx="1572768" cy="1508760"/>
          </a:xfrm>
          <a:prstGeom prst="rect">
            <a:avLst/>
          </a:prstGeom>
          <a:solidFill>
            <a:srgbClr val="13294B"/>
          </a:solidFill>
          <a:ln w="12700">
            <a:solidFill>
              <a:srgbClr val="13294B"/>
            </a:solidFill>
            <a:prstDash val="solid"/>
          </a:ln>
          <a:effectLst>
            <a:outerShdw sx="100000" sy="100000" kx="0" ky="0" algn="bl" rotWithShape="0" blurRad="50800" dist="25400" dir="8100000">
              <a:srgbClr val="000000">
                <a:alpha val="10000"/>
              </a:srgbClr>
            </a:outerShdw>
          </a:effectLst>
        </p:spPr>
      </p:sp>
      <p:sp>
        <p:nvSpPr>
          <p:cNvPr id="6" name="Shape 4"/>
          <p:cNvSpPr/>
          <p:nvPr/>
        </p:nvSpPr>
        <p:spPr>
          <a:xfrm>
            <a:off x="795528" y="621792"/>
            <a:ext cx="502920" cy="502920"/>
          </a:xfrm>
          <a:prstGeom prst="ellipse">
            <a:avLst/>
          </a:prstGeom>
          <a:solidFill>
            <a:srgbClr val="4B9CD3"/>
          </a:solidFill>
          <a:ln w="12700">
            <a:solidFill>
              <a:srgbClr val="4B9CD3"/>
            </a:solidFill>
            <a:prstDash val="solid"/>
          </a:ln>
        </p:spPr>
      </p:sp>
      <p:sp>
        <p:nvSpPr>
          <p:cNvPr id="7" name="Text 5"/>
          <p:cNvSpPr/>
          <p:nvPr/>
        </p:nvSpPr>
        <p:spPr>
          <a:xfrm>
            <a:off x="795528" y="621792"/>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256032" y="1097280"/>
            <a:ext cx="1572768"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Load &amp; Split</a:t>
            </a:r>
            <a:endParaRPr lang="en-US" sz="1200" dirty="0"/>
          </a:p>
        </p:txBody>
      </p:sp>
      <p:sp>
        <p:nvSpPr>
          <p:cNvPr id="9" name="Text 7"/>
          <p:cNvSpPr/>
          <p:nvPr/>
        </p:nvSpPr>
        <p:spPr>
          <a:xfrm>
            <a:off x="256032" y="1463040"/>
            <a:ext cx="1572768" cy="713232"/>
          </a:xfrm>
          <a:prstGeom prst="rect">
            <a:avLst/>
          </a:prstGeom>
          <a:noFill/>
          <a:ln/>
        </p:spPr>
        <p:txBody>
          <a:bodyPr wrap="square" rtlCol="0" anchor="ctr"/>
          <a:lstStyle/>
          <a:p>
            <a:pPr algn="ctr" indent="0" marL="0">
              <a:buNone/>
            </a:pPr>
            <a:r>
              <a:rPr lang="en-US" sz="1050" dirty="0">
                <a:solidFill>
                  <a:srgbClr val="D6EAF8"/>
                </a:solidFill>
                <a:latin typeface="Calibri" pitchFamily="34" charset="0"/>
                <a:ea typeface="Calibri" pitchFamily="34" charset="-122"/>
                <a:cs typeface="Calibri" pitchFamily="34" charset="-120"/>
              </a:rPr>
              <a:t>Drop ID · 80/20</a:t>
            </a:r>
            <a:endParaRPr lang="en-US" sz="1050" dirty="0"/>
          </a:p>
          <a:p>
            <a:pPr algn="ctr" indent="0" marL="0">
              <a:buNone/>
            </a:pPr>
            <a:r>
              <a:rPr lang="en-US" sz="1050" dirty="0">
                <a:solidFill>
                  <a:srgbClr val="D6EAF8"/>
                </a:solidFill>
                <a:latin typeface="Calibri" pitchFamily="34" charset="0"/>
                <a:ea typeface="Calibri" pitchFamily="34" charset="-122"/>
                <a:cs typeface="Calibri" pitchFamily="34" charset="-120"/>
              </a:rPr>
              <a:t>Stratified split</a:t>
            </a:r>
            <a:endParaRPr lang="en-US" sz="1050" dirty="0"/>
          </a:p>
        </p:txBody>
      </p:sp>
      <p:sp>
        <p:nvSpPr>
          <p:cNvPr id="10" name="Shape 8"/>
          <p:cNvSpPr/>
          <p:nvPr/>
        </p:nvSpPr>
        <p:spPr>
          <a:xfrm>
            <a:off x="1828800" y="1417320"/>
            <a:ext cx="164592" cy="0"/>
          </a:xfrm>
          <a:prstGeom prst="line">
            <a:avLst/>
          </a:prstGeom>
          <a:noFill/>
          <a:ln w="25400">
            <a:solidFill>
              <a:srgbClr val="4B9CD3"/>
            </a:solidFill>
            <a:prstDash val="solid"/>
          </a:ln>
        </p:spPr>
      </p:sp>
      <p:sp>
        <p:nvSpPr>
          <p:cNvPr id="11" name="Shape 9"/>
          <p:cNvSpPr/>
          <p:nvPr/>
        </p:nvSpPr>
        <p:spPr>
          <a:xfrm>
            <a:off x="1993392" y="713232"/>
            <a:ext cx="1572768" cy="1508760"/>
          </a:xfrm>
          <a:prstGeom prst="rect">
            <a:avLst/>
          </a:prstGeom>
          <a:solidFill>
            <a:srgbClr val="13294B"/>
          </a:solidFill>
          <a:ln w="12700">
            <a:solidFill>
              <a:srgbClr val="13294B"/>
            </a:solidFill>
            <a:prstDash val="solid"/>
          </a:ln>
          <a:effectLst>
            <a:outerShdw sx="100000" sy="100000" kx="0" ky="0" algn="bl" rotWithShape="0" blurRad="50800" dist="25400" dir="8100000">
              <a:srgbClr val="000000">
                <a:alpha val="10000"/>
              </a:srgbClr>
            </a:outerShdw>
          </a:effectLst>
        </p:spPr>
      </p:sp>
      <p:sp>
        <p:nvSpPr>
          <p:cNvPr id="12" name="Shape 10"/>
          <p:cNvSpPr/>
          <p:nvPr/>
        </p:nvSpPr>
        <p:spPr>
          <a:xfrm>
            <a:off x="2532888" y="621792"/>
            <a:ext cx="502920" cy="502920"/>
          </a:xfrm>
          <a:prstGeom prst="ellipse">
            <a:avLst/>
          </a:prstGeom>
          <a:solidFill>
            <a:srgbClr val="4B9CD3"/>
          </a:solidFill>
          <a:ln w="12700">
            <a:solidFill>
              <a:srgbClr val="4B9CD3"/>
            </a:solidFill>
            <a:prstDash val="solid"/>
          </a:ln>
        </p:spPr>
      </p:sp>
      <p:sp>
        <p:nvSpPr>
          <p:cNvPr id="13" name="Text 11"/>
          <p:cNvSpPr/>
          <p:nvPr/>
        </p:nvSpPr>
        <p:spPr>
          <a:xfrm>
            <a:off x="2532888" y="621792"/>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1993392" y="1097280"/>
            <a:ext cx="1572768"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Z-Score Scale</a:t>
            </a:r>
            <a:endParaRPr lang="en-US" sz="1200" dirty="0"/>
          </a:p>
        </p:txBody>
      </p:sp>
      <p:sp>
        <p:nvSpPr>
          <p:cNvPr id="15" name="Text 13"/>
          <p:cNvSpPr/>
          <p:nvPr/>
        </p:nvSpPr>
        <p:spPr>
          <a:xfrm>
            <a:off x="1993392" y="1463040"/>
            <a:ext cx="1572768" cy="713232"/>
          </a:xfrm>
          <a:prstGeom prst="rect">
            <a:avLst/>
          </a:prstGeom>
          <a:noFill/>
          <a:ln/>
        </p:spPr>
        <p:txBody>
          <a:bodyPr wrap="square" rtlCol="0" anchor="ctr"/>
          <a:lstStyle/>
          <a:p>
            <a:pPr algn="ctr" indent="0" marL="0">
              <a:buNone/>
            </a:pPr>
            <a:r>
              <a:rPr lang="en-US" sz="1050" dirty="0">
                <a:solidFill>
                  <a:srgbClr val="D6EAF8"/>
                </a:solidFill>
                <a:latin typeface="Calibri" pitchFamily="34" charset="0"/>
                <a:ea typeface="Calibri" pitchFamily="34" charset="-122"/>
                <a:cs typeface="Calibri" pitchFamily="34" charset="-120"/>
              </a:rPr>
              <a:t>Fit on train only</a:t>
            </a:r>
            <a:endParaRPr lang="en-US" sz="1050" dirty="0"/>
          </a:p>
          <a:p>
            <a:pPr algn="ctr" indent="0" marL="0">
              <a:buNone/>
            </a:pPr>
            <a:r>
              <a:rPr lang="en-US" sz="1050" dirty="0">
                <a:solidFill>
                  <a:srgbClr val="D6EAF8"/>
                </a:solidFill>
                <a:latin typeface="Calibri" pitchFamily="34" charset="0"/>
                <a:ea typeface="Calibri" pitchFamily="34" charset="-122"/>
                <a:cs typeface="Calibri" pitchFamily="34" charset="-120"/>
              </a:rPr>
              <a:t>No data leakage</a:t>
            </a:r>
            <a:endParaRPr lang="en-US" sz="1050" dirty="0"/>
          </a:p>
        </p:txBody>
      </p:sp>
      <p:sp>
        <p:nvSpPr>
          <p:cNvPr id="16" name="Shape 14"/>
          <p:cNvSpPr/>
          <p:nvPr/>
        </p:nvSpPr>
        <p:spPr>
          <a:xfrm>
            <a:off x="3566160" y="1417320"/>
            <a:ext cx="164592" cy="0"/>
          </a:xfrm>
          <a:prstGeom prst="line">
            <a:avLst/>
          </a:prstGeom>
          <a:noFill/>
          <a:ln w="25400">
            <a:solidFill>
              <a:srgbClr val="4B9CD3"/>
            </a:solidFill>
            <a:prstDash val="solid"/>
          </a:ln>
        </p:spPr>
      </p:sp>
      <p:sp>
        <p:nvSpPr>
          <p:cNvPr id="17" name="Shape 15"/>
          <p:cNvSpPr/>
          <p:nvPr/>
        </p:nvSpPr>
        <p:spPr>
          <a:xfrm>
            <a:off x="3730752" y="713232"/>
            <a:ext cx="1572768" cy="1508760"/>
          </a:xfrm>
          <a:prstGeom prst="rect">
            <a:avLst/>
          </a:prstGeom>
          <a:solidFill>
            <a:srgbClr val="13294B"/>
          </a:solidFill>
          <a:ln w="12700">
            <a:solidFill>
              <a:srgbClr val="13294B"/>
            </a:solidFill>
            <a:prstDash val="solid"/>
          </a:ln>
          <a:effectLst>
            <a:outerShdw sx="100000" sy="100000" kx="0" ky="0" algn="bl" rotWithShape="0" blurRad="50800" dist="25400" dir="8100000">
              <a:srgbClr val="000000">
                <a:alpha val="10000"/>
              </a:srgbClr>
            </a:outerShdw>
          </a:effectLst>
        </p:spPr>
      </p:sp>
      <p:sp>
        <p:nvSpPr>
          <p:cNvPr id="18" name="Shape 16"/>
          <p:cNvSpPr/>
          <p:nvPr/>
        </p:nvSpPr>
        <p:spPr>
          <a:xfrm>
            <a:off x="4270248" y="621792"/>
            <a:ext cx="502920" cy="502920"/>
          </a:xfrm>
          <a:prstGeom prst="ellipse">
            <a:avLst/>
          </a:prstGeom>
          <a:solidFill>
            <a:srgbClr val="4B9CD3"/>
          </a:solidFill>
          <a:ln w="12700">
            <a:solidFill>
              <a:srgbClr val="4B9CD3"/>
            </a:solidFill>
            <a:prstDash val="solid"/>
          </a:ln>
        </p:spPr>
      </p:sp>
      <p:sp>
        <p:nvSpPr>
          <p:cNvPr id="19" name="Text 17"/>
          <p:cNvSpPr/>
          <p:nvPr/>
        </p:nvSpPr>
        <p:spPr>
          <a:xfrm>
            <a:off x="4270248" y="621792"/>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8"/>
          <p:cNvSpPr/>
          <p:nvPr/>
        </p:nvSpPr>
        <p:spPr>
          <a:xfrm>
            <a:off x="3730752" y="1097280"/>
            <a:ext cx="1572768"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LassoCV</a:t>
            </a:r>
            <a:endParaRPr lang="en-US" sz="1200" dirty="0"/>
          </a:p>
        </p:txBody>
      </p:sp>
      <p:sp>
        <p:nvSpPr>
          <p:cNvPr id="21" name="Text 19"/>
          <p:cNvSpPr/>
          <p:nvPr/>
        </p:nvSpPr>
        <p:spPr>
          <a:xfrm>
            <a:off x="3730752" y="1463040"/>
            <a:ext cx="1572768" cy="713232"/>
          </a:xfrm>
          <a:prstGeom prst="rect">
            <a:avLst/>
          </a:prstGeom>
          <a:noFill/>
          <a:ln/>
        </p:spPr>
        <p:txBody>
          <a:bodyPr wrap="square" rtlCol="0" anchor="ctr"/>
          <a:lstStyle/>
          <a:p>
            <a:pPr algn="ctr" indent="0" marL="0">
              <a:buNone/>
            </a:pPr>
            <a:r>
              <a:rPr lang="en-US" sz="1050" dirty="0">
                <a:solidFill>
                  <a:srgbClr val="D6EAF8"/>
                </a:solidFill>
                <a:latin typeface="Calibri" pitchFamily="34" charset="0"/>
                <a:ea typeface="Calibri" pitchFamily="34" charset="-122"/>
                <a:cs typeface="Calibri" pitchFamily="34" charset="-120"/>
              </a:rPr>
              <a:t>L1 · 5-fold CV</a:t>
            </a:r>
            <a:endParaRPr lang="en-US" sz="1050" dirty="0"/>
          </a:p>
          <a:p>
            <a:pPr algn="ctr" indent="0" marL="0">
              <a:buNone/>
            </a:pPr>
            <a:r>
              <a:rPr lang="en-US" sz="1050" dirty="0">
                <a:solidFill>
                  <a:srgbClr val="D6EAF8"/>
                </a:solidFill>
                <a:latin typeface="Calibri" pitchFamily="34" charset="0"/>
                <a:ea typeface="Calibri" pitchFamily="34" charset="-122"/>
                <a:cs typeface="Calibri" pitchFamily="34" charset="-120"/>
              </a:rPr>
              <a:t>15 features kept</a:t>
            </a:r>
            <a:endParaRPr lang="en-US" sz="1050" dirty="0"/>
          </a:p>
        </p:txBody>
      </p:sp>
      <p:sp>
        <p:nvSpPr>
          <p:cNvPr id="22" name="Shape 20"/>
          <p:cNvSpPr/>
          <p:nvPr/>
        </p:nvSpPr>
        <p:spPr>
          <a:xfrm>
            <a:off x="5303520" y="1417320"/>
            <a:ext cx="164592" cy="0"/>
          </a:xfrm>
          <a:prstGeom prst="line">
            <a:avLst/>
          </a:prstGeom>
          <a:noFill/>
          <a:ln w="25400">
            <a:solidFill>
              <a:srgbClr val="4B9CD3"/>
            </a:solidFill>
            <a:prstDash val="solid"/>
          </a:ln>
        </p:spPr>
      </p:sp>
      <p:sp>
        <p:nvSpPr>
          <p:cNvPr id="23" name="Shape 21"/>
          <p:cNvSpPr/>
          <p:nvPr/>
        </p:nvSpPr>
        <p:spPr>
          <a:xfrm>
            <a:off x="5468112" y="713232"/>
            <a:ext cx="1572768" cy="1508760"/>
          </a:xfrm>
          <a:prstGeom prst="rect">
            <a:avLst/>
          </a:prstGeom>
          <a:solidFill>
            <a:srgbClr val="13294B"/>
          </a:solidFill>
          <a:ln w="12700">
            <a:solidFill>
              <a:srgbClr val="13294B"/>
            </a:solidFill>
            <a:prstDash val="solid"/>
          </a:ln>
          <a:effectLst>
            <a:outerShdw sx="100000" sy="100000" kx="0" ky="0" algn="bl" rotWithShape="0" blurRad="50800" dist="25400" dir="8100000">
              <a:srgbClr val="000000">
                <a:alpha val="10000"/>
              </a:srgbClr>
            </a:outerShdw>
          </a:effectLst>
        </p:spPr>
      </p:sp>
      <p:sp>
        <p:nvSpPr>
          <p:cNvPr id="24" name="Shape 22"/>
          <p:cNvSpPr/>
          <p:nvPr/>
        </p:nvSpPr>
        <p:spPr>
          <a:xfrm>
            <a:off x="6007608" y="621792"/>
            <a:ext cx="502920" cy="502920"/>
          </a:xfrm>
          <a:prstGeom prst="ellipse">
            <a:avLst/>
          </a:prstGeom>
          <a:solidFill>
            <a:srgbClr val="4B9CD3"/>
          </a:solidFill>
          <a:ln w="12700">
            <a:solidFill>
              <a:srgbClr val="4B9CD3"/>
            </a:solidFill>
            <a:prstDash val="solid"/>
          </a:ln>
        </p:spPr>
      </p:sp>
      <p:sp>
        <p:nvSpPr>
          <p:cNvPr id="25" name="Text 23"/>
          <p:cNvSpPr/>
          <p:nvPr/>
        </p:nvSpPr>
        <p:spPr>
          <a:xfrm>
            <a:off x="6007608" y="621792"/>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6" name="Text 24"/>
          <p:cNvSpPr/>
          <p:nvPr/>
        </p:nvSpPr>
        <p:spPr>
          <a:xfrm>
            <a:off x="5468112" y="1097280"/>
            <a:ext cx="1572768"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 Models</a:t>
            </a:r>
            <a:endParaRPr lang="en-US" sz="1200" dirty="0"/>
          </a:p>
        </p:txBody>
      </p:sp>
      <p:sp>
        <p:nvSpPr>
          <p:cNvPr id="27" name="Text 25"/>
          <p:cNvSpPr/>
          <p:nvPr/>
        </p:nvSpPr>
        <p:spPr>
          <a:xfrm>
            <a:off x="5468112" y="1463040"/>
            <a:ext cx="1572768" cy="713232"/>
          </a:xfrm>
          <a:prstGeom prst="rect">
            <a:avLst/>
          </a:prstGeom>
          <a:noFill/>
          <a:ln/>
        </p:spPr>
        <p:txBody>
          <a:bodyPr wrap="square" rtlCol="0" anchor="ctr"/>
          <a:lstStyle/>
          <a:p>
            <a:pPr algn="ctr" indent="0" marL="0">
              <a:buNone/>
            </a:pPr>
            <a:r>
              <a:rPr lang="en-US" sz="1050" dirty="0">
                <a:solidFill>
                  <a:srgbClr val="D6EAF8"/>
                </a:solidFill>
                <a:latin typeface="Calibri" pitchFamily="34" charset="0"/>
                <a:ea typeface="Calibri" pitchFamily="34" charset="-122"/>
                <a:cs typeface="Calibri" pitchFamily="34" charset="-120"/>
              </a:rPr>
              <a:t>LR · RF · GB</a:t>
            </a:r>
            <a:endParaRPr lang="en-US" sz="1050" dirty="0"/>
          </a:p>
          <a:p>
            <a:pPr algn="ctr" indent="0" marL="0">
              <a:buNone/>
            </a:pPr>
            <a:r>
              <a:rPr lang="en-US" sz="1050" dirty="0">
                <a:solidFill>
                  <a:srgbClr val="D6EAF8"/>
                </a:solidFill>
                <a:latin typeface="Calibri" pitchFamily="34" charset="0"/>
                <a:ea typeface="Calibri" pitchFamily="34" charset="-122"/>
                <a:cs typeface="Calibri" pitchFamily="34" charset="-120"/>
              </a:rPr>
              <a:t>GridSearch tuned</a:t>
            </a:r>
            <a:endParaRPr lang="en-US" sz="1050" dirty="0"/>
          </a:p>
        </p:txBody>
      </p:sp>
      <p:sp>
        <p:nvSpPr>
          <p:cNvPr id="28" name="Shape 26"/>
          <p:cNvSpPr/>
          <p:nvPr/>
        </p:nvSpPr>
        <p:spPr>
          <a:xfrm>
            <a:off x="7040880" y="1417320"/>
            <a:ext cx="164592" cy="0"/>
          </a:xfrm>
          <a:prstGeom prst="line">
            <a:avLst/>
          </a:prstGeom>
          <a:noFill/>
          <a:ln w="25400">
            <a:solidFill>
              <a:srgbClr val="4B9CD3"/>
            </a:solidFill>
            <a:prstDash val="solid"/>
          </a:ln>
        </p:spPr>
      </p:sp>
      <p:sp>
        <p:nvSpPr>
          <p:cNvPr id="29" name="Shape 27"/>
          <p:cNvSpPr/>
          <p:nvPr/>
        </p:nvSpPr>
        <p:spPr>
          <a:xfrm>
            <a:off x="7205472" y="713232"/>
            <a:ext cx="1572768" cy="1508760"/>
          </a:xfrm>
          <a:prstGeom prst="rect">
            <a:avLst/>
          </a:prstGeom>
          <a:solidFill>
            <a:srgbClr val="13294B"/>
          </a:solidFill>
          <a:ln w="12700">
            <a:solidFill>
              <a:srgbClr val="13294B"/>
            </a:solidFill>
            <a:prstDash val="solid"/>
          </a:ln>
          <a:effectLst>
            <a:outerShdw sx="100000" sy="100000" kx="0" ky="0" algn="bl" rotWithShape="0" blurRad="50800" dist="25400" dir="8100000">
              <a:srgbClr val="000000">
                <a:alpha val="10000"/>
              </a:srgbClr>
            </a:outerShdw>
          </a:effectLst>
        </p:spPr>
      </p:sp>
      <p:sp>
        <p:nvSpPr>
          <p:cNvPr id="30" name="Shape 28"/>
          <p:cNvSpPr/>
          <p:nvPr/>
        </p:nvSpPr>
        <p:spPr>
          <a:xfrm>
            <a:off x="7744968" y="621792"/>
            <a:ext cx="502920" cy="502920"/>
          </a:xfrm>
          <a:prstGeom prst="ellipse">
            <a:avLst/>
          </a:prstGeom>
          <a:solidFill>
            <a:srgbClr val="4B9CD3"/>
          </a:solidFill>
          <a:ln w="12700">
            <a:solidFill>
              <a:srgbClr val="4B9CD3"/>
            </a:solidFill>
            <a:prstDash val="solid"/>
          </a:ln>
        </p:spPr>
      </p:sp>
      <p:sp>
        <p:nvSpPr>
          <p:cNvPr id="31" name="Text 29"/>
          <p:cNvSpPr/>
          <p:nvPr/>
        </p:nvSpPr>
        <p:spPr>
          <a:xfrm>
            <a:off x="7744968" y="621792"/>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2" name="Text 30"/>
          <p:cNvSpPr/>
          <p:nvPr/>
        </p:nvSpPr>
        <p:spPr>
          <a:xfrm>
            <a:off x="7205472" y="1097280"/>
            <a:ext cx="1572768"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Evaluate</a:t>
            </a:r>
            <a:endParaRPr lang="en-US" sz="1200" dirty="0"/>
          </a:p>
        </p:txBody>
      </p:sp>
      <p:sp>
        <p:nvSpPr>
          <p:cNvPr id="33" name="Text 31"/>
          <p:cNvSpPr/>
          <p:nvPr/>
        </p:nvSpPr>
        <p:spPr>
          <a:xfrm>
            <a:off x="7205472" y="1463040"/>
            <a:ext cx="1572768" cy="713232"/>
          </a:xfrm>
          <a:prstGeom prst="rect">
            <a:avLst/>
          </a:prstGeom>
          <a:noFill/>
          <a:ln/>
        </p:spPr>
        <p:txBody>
          <a:bodyPr wrap="square" rtlCol="0" anchor="ctr"/>
          <a:lstStyle/>
          <a:p>
            <a:pPr algn="ctr" indent="0" marL="0">
              <a:buNone/>
            </a:pPr>
            <a:r>
              <a:rPr lang="en-US" sz="1050" dirty="0">
                <a:solidFill>
                  <a:srgbClr val="D6EAF8"/>
                </a:solidFill>
                <a:latin typeface="Calibri" pitchFamily="34" charset="0"/>
                <a:ea typeface="Calibri" pitchFamily="34" charset="-122"/>
                <a:cs typeface="Calibri" pitchFamily="34" charset="-120"/>
              </a:rPr>
              <a:t>AUC · Recall · F1</a:t>
            </a:r>
            <a:endParaRPr lang="en-US" sz="1050" dirty="0"/>
          </a:p>
          <a:p>
            <a:pPr algn="ctr" indent="0" marL="0">
              <a:buNone/>
            </a:pPr>
            <a:r>
              <a:rPr lang="en-US" sz="1050" dirty="0">
                <a:solidFill>
                  <a:srgbClr val="D6EAF8"/>
                </a:solidFill>
                <a:latin typeface="Calibri" pitchFamily="34" charset="0"/>
                <a:ea typeface="Calibri" pitchFamily="34" charset="-122"/>
                <a:cs typeface="Calibri" pitchFamily="34" charset="-120"/>
              </a:rPr>
              <a:t>5-fold stratified</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56032" y="2423160"/>
          <a:ext cx="8631936" cy="2423160"/>
        </p:xfrm>
        <a:graphic>
          <a:graphicData uri="http://schemas.openxmlformats.org/drawingml/2006/table">
            <a:tbl>
              <a:tblPr/>
              <a:tblGrid>
                <a:gridCol w="1828800"/>
                <a:gridCol w="3657600"/>
                <a:gridCol w="3145536"/>
              </a:tblGrid>
              <a:tr h="59436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3294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Key Hyperparameters</a:t>
                      </a:r>
                      <a:endParaRPr lang="en-US" sz="11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3294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Rationale</a:t>
                      </a:r>
                      <a:endParaRPr lang="en-US" sz="11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3294B"/>
                    </a:solidFill>
                  </a:tcPr>
                </a:tc>
              </a:tr>
              <a:tr h="59436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Logistic Regression</a:t>
                      </a:r>
                      <a:endParaRPr lang="en-US" sz="11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C=10 (Ridge L2) · degree=3 splines · n_knots=5 · solver=lbfgs</a:t>
                      </a:r>
                      <a:endParaRPr lang="en-US" sz="11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Best C via GridSearchCV over 6 values; splines capture nonlinear dose-response</a:t>
                      </a:r>
                      <a:endParaRPr lang="en-US" sz="11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r h="59436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Random Forest</a:t>
                      </a:r>
                      <a:endParaRPr lang="en-US" sz="11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n_estimators=100 · max_depth=None · min_samples_split=2</a:t>
                      </a:r>
                      <a:endParaRPr lang="en-US" sz="11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Compute-limited; 500+ estimators recommended for full variance reduction</a:t>
                      </a:r>
                      <a:endParaRPr lang="en-US" sz="11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r h="5943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Gradient Boosting ★</a:t>
                      </a:r>
                      <a:endParaRPr lang="en-US" sz="11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4B9CD3"/>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n_estimators=200 · learning_rate=0.1 · max_depth=3</a:t>
                      </a:r>
                      <a:endParaRPr lang="en-US" sz="11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4B9CD3"/>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Shallow trees + shrinkage prevent overfit; CV–test gap = −0.0015 confirms this</a:t>
                      </a:r>
                      <a:endParaRPr lang="en-US" sz="11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4B9CD3"/>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3294B"/>
          </a:solidFill>
          <a:ln w="12700">
            <a:solidFill>
              <a:srgbClr val="13294B"/>
            </a:solidFill>
            <a:prstDash val="solid"/>
          </a:ln>
        </p:spPr>
      </p:sp>
      <p:sp>
        <p:nvSpPr>
          <p:cNvPr id="3" name="Text 1"/>
          <p:cNvSpPr/>
          <p:nvPr/>
        </p:nvSpPr>
        <p:spPr>
          <a:xfrm>
            <a:off x="320040" y="0"/>
            <a:ext cx="8503920" cy="54864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06 · Results — Model Performance &amp; ROC Curves</a:t>
            </a:r>
            <a:endParaRPr lang="en-US" sz="2000" dirty="0"/>
          </a:p>
        </p:txBody>
      </p:sp>
      <p:sp>
        <p:nvSpPr>
          <p:cNvPr id="4" name="Shape 2"/>
          <p:cNvSpPr/>
          <p:nvPr/>
        </p:nvSpPr>
        <p:spPr>
          <a:xfrm>
            <a:off x="0" y="548640"/>
            <a:ext cx="9144000" cy="54864"/>
          </a:xfrm>
          <a:prstGeom prst="rect">
            <a:avLst/>
          </a:prstGeom>
          <a:solidFill>
            <a:srgbClr val="4B9CD3"/>
          </a:solidFill>
          <a:ln w="12700">
            <a:solidFill>
              <a:srgbClr val="4B9CD3"/>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74320" y="713232"/>
          <a:ext cx="4983480" cy="1828800"/>
        </p:xfrm>
        <a:graphic>
          <a:graphicData uri="http://schemas.openxmlformats.org/drawingml/2006/table">
            <a:tbl>
              <a:tblPr/>
              <a:tblGrid>
                <a:gridCol w="1691640"/>
                <a:gridCol w="1188720"/>
                <a:gridCol w="731520"/>
                <a:gridCol w="685800"/>
                <a:gridCol w="685800"/>
              </a:tblGrid>
              <a:tr h="438912">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3294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CV AUC</a:t>
                      </a:r>
                      <a:endParaRPr lang="en-US" sz="11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3294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Test AUC</a:t>
                      </a:r>
                      <a:endParaRPr lang="en-US" sz="11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3294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Recall</a:t>
                      </a:r>
                      <a:endParaRPr lang="en-US" sz="11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3294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F1</a:t>
                      </a:r>
                      <a:endParaRPr lang="en-US" sz="11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3294B"/>
                    </a:solidFill>
                  </a:tcPr>
                </a:tc>
              </a:tr>
              <a:tr h="438912">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LR (Ridge+Spline)</a:t>
                      </a:r>
                      <a:endParaRPr lang="en-US" sz="11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0.867 ± 0.003</a:t>
                      </a:r>
                      <a:endParaRPr lang="en-US" sz="11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0.879</a:t>
                      </a:r>
                      <a:endParaRPr lang="en-US" sz="11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72.5%</a:t>
                      </a:r>
                      <a:endParaRPr lang="en-US" sz="11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0.719</a:t>
                      </a:r>
                      <a:endParaRPr lang="en-US" sz="11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r h="438912">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Random Forest</a:t>
                      </a:r>
                      <a:endParaRPr lang="en-US" sz="11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0.883 ± 0.004</a:t>
                      </a:r>
                      <a:endParaRPr lang="en-US" sz="11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0.884</a:t>
                      </a:r>
                      <a:endParaRPr lang="en-US" sz="11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78.1%</a:t>
                      </a:r>
                      <a:endParaRPr lang="en-US" sz="11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0.739</a:t>
                      </a:r>
                      <a:endParaRPr lang="en-US" sz="11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r h="43891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Gradient Boosting ★</a:t>
                      </a:r>
                      <a:endParaRPr lang="en-US" sz="11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4B9CD3"/>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0.887 ± 0.004</a:t>
                      </a:r>
                      <a:endParaRPr lang="en-US" sz="11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4B9CD3"/>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0.889</a:t>
                      </a:r>
                      <a:endParaRPr lang="en-US" sz="11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4B9CD3"/>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78.8%</a:t>
                      </a:r>
                      <a:endParaRPr lang="en-US" sz="11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4B9CD3"/>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0.750</a:t>
                      </a:r>
                      <a:endParaRPr lang="en-US" sz="11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4B9CD3"/>
                    </a:solidFill>
                  </a:tcPr>
                </a:tc>
              </a:tr>
            </a:tbl>
          </a:graphicData>
        </a:graphic>
      </p:graphicFrame>
      <p:sp>
        <p:nvSpPr>
          <p:cNvPr id="6" name="Shape 3"/>
          <p:cNvSpPr/>
          <p:nvPr/>
        </p:nvSpPr>
        <p:spPr>
          <a:xfrm>
            <a:off x="274320" y="2688336"/>
            <a:ext cx="1572768" cy="1024128"/>
          </a:xfrm>
          <a:prstGeom prst="rect">
            <a:avLst/>
          </a:prstGeom>
          <a:solidFill>
            <a:srgbClr val="13294B"/>
          </a:solidFill>
          <a:ln w="12700">
            <a:solidFill>
              <a:srgbClr val="13294B"/>
            </a:solidFill>
            <a:prstDash val="solid"/>
          </a:ln>
          <a:effectLst>
            <a:outerShdw sx="100000" sy="100000" kx="0" ky="0" algn="bl" rotWithShape="0" blurRad="50800" dist="25400" dir="8100000">
              <a:srgbClr val="000000">
                <a:alpha val="10000"/>
              </a:srgbClr>
            </a:outerShdw>
          </a:effectLst>
        </p:spPr>
      </p:sp>
      <p:sp>
        <p:nvSpPr>
          <p:cNvPr id="7" name="Shape 4"/>
          <p:cNvSpPr/>
          <p:nvPr/>
        </p:nvSpPr>
        <p:spPr>
          <a:xfrm>
            <a:off x="274320" y="2688336"/>
            <a:ext cx="1572768" cy="54864"/>
          </a:xfrm>
          <a:prstGeom prst="rect">
            <a:avLst/>
          </a:prstGeom>
          <a:solidFill>
            <a:srgbClr val="4B9CD3"/>
          </a:solidFill>
          <a:ln w="12700">
            <a:solidFill>
              <a:srgbClr val="4B9CD3"/>
            </a:solidFill>
            <a:prstDash val="solid"/>
          </a:ln>
        </p:spPr>
      </p:sp>
      <p:sp>
        <p:nvSpPr>
          <p:cNvPr id="8" name="Text 5"/>
          <p:cNvSpPr/>
          <p:nvPr/>
        </p:nvSpPr>
        <p:spPr>
          <a:xfrm>
            <a:off x="274320" y="2779776"/>
            <a:ext cx="1572768" cy="573512"/>
          </a:xfrm>
          <a:prstGeom prst="rect">
            <a:avLst/>
          </a:prstGeom>
          <a:noFill/>
          <a:ln/>
        </p:spPr>
        <p:txBody>
          <a:bodyPr wrap="square" rtlCol="0" anchor="b"/>
          <a:lstStyle/>
          <a:p>
            <a:pPr algn="ctr" indent="0" marL="0">
              <a:buNone/>
            </a:pPr>
            <a:r>
              <a:rPr lang="en-US" sz="3000" b="1" dirty="0">
                <a:solidFill>
                  <a:srgbClr val="FFFFFF"/>
                </a:solidFill>
                <a:latin typeface="Calibri" pitchFamily="34" charset="0"/>
                <a:ea typeface="Calibri" pitchFamily="34" charset="-122"/>
                <a:cs typeface="Calibri" pitchFamily="34" charset="-120"/>
              </a:rPr>
              <a:t>0.8887</a:t>
            </a:r>
            <a:endParaRPr lang="en-US" sz="3000" dirty="0"/>
          </a:p>
        </p:txBody>
      </p:sp>
      <p:sp>
        <p:nvSpPr>
          <p:cNvPr id="9" name="Text 6"/>
          <p:cNvSpPr/>
          <p:nvPr/>
        </p:nvSpPr>
        <p:spPr>
          <a:xfrm>
            <a:off x="274320" y="3282330"/>
            <a:ext cx="1572768" cy="389169"/>
          </a:xfrm>
          <a:prstGeom prst="rect">
            <a:avLst/>
          </a:prstGeom>
          <a:noFill/>
          <a:ln/>
        </p:spPr>
        <p:txBody>
          <a:bodyPr wrap="square" rtlCol="0" anchor="t"/>
          <a:lstStyle/>
          <a:p>
            <a:pPr algn="ctr" indent="0" marL="0">
              <a:buNone/>
            </a:pPr>
            <a:r>
              <a:rPr lang="en-US" sz="1100" dirty="0">
                <a:solidFill>
                  <a:srgbClr val="9BC4E2"/>
                </a:solidFill>
                <a:latin typeface="Calibri" pitchFamily="34" charset="0"/>
                <a:ea typeface="Calibri" pitchFamily="34" charset="-122"/>
                <a:cs typeface="Calibri" pitchFamily="34" charset="-120"/>
              </a:rPr>
              <a:t>Best Test AUC</a:t>
            </a:r>
            <a:endParaRPr lang="en-US" sz="1100" dirty="0"/>
          </a:p>
        </p:txBody>
      </p:sp>
      <p:sp>
        <p:nvSpPr>
          <p:cNvPr id="10" name="Shape 7"/>
          <p:cNvSpPr/>
          <p:nvPr/>
        </p:nvSpPr>
        <p:spPr>
          <a:xfrm>
            <a:off x="1984248" y="2688336"/>
            <a:ext cx="1572768" cy="1024128"/>
          </a:xfrm>
          <a:prstGeom prst="rect">
            <a:avLst/>
          </a:prstGeom>
          <a:solidFill>
            <a:srgbClr val="4B9CD3"/>
          </a:solidFill>
          <a:ln w="12700">
            <a:solidFill>
              <a:srgbClr val="4B9CD3"/>
            </a:solidFill>
            <a:prstDash val="solid"/>
          </a:ln>
          <a:effectLst>
            <a:outerShdw sx="100000" sy="100000" kx="0" ky="0" algn="bl" rotWithShape="0" blurRad="50800" dist="25400" dir="8100000">
              <a:srgbClr val="000000">
                <a:alpha val="10000"/>
              </a:srgbClr>
            </a:outerShdw>
          </a:effectLst>
        </p:spPr>
      </p:sp>
      <p:sp>
        <p:nvSpPr>
          <p:cNvPr id="11" name="Shape 8"/>
          <p:cNvSpPr/>
          <p:nvPr/>
        </p:nvSpPr>
        <p:spPr>
          <a:xfrm>
            <a:off x="1984248" y="2688336"/>
            <a:ext cx="1572768" cy="54864"/>
          </a:xfrm>
          <a:prstGeom prst="rect">
            <a:avLst/>
          </a:prstGeom>
          <a:solidFill>
            <a:srgbClr val="13294B"/>
          </a:solidFill>
          <a:ln w="12700">
            <a:solidFill>
              <a:srgbClr val="13294B"/>
            </a:solidFill>
            <a:prstDash val="solid"/>
          </a:ln>
        </p:spPr>
      </p:sp>
      <p:sp>
        <p:nvSpPr>
          <p:cNvPr id="12" name="Text 9"/>
          <p:cNvSpPr/>
          <p:nvPr/>
        </p:nvSpPr>
        <p:spPr>
          <a:xfrm>
            <a:off x="1984248" y="2779776"/>
            <a:ext cx="1572768" cy="573512"/>
          </a:xfrm>
          <a:prstGeom prst="rect">
            <a:avLst/>
          </a:prstGeom>
          <a:noFill/>
          <a:ln/>
        </p:spPr>
        <p:txBody>
          <a:bodyPr wrap="square" rtlCol="0" anchor="b"/>
          <a:lstStyle/>
          <a:p>
            <a:pPr algn="ctr" indent="0" marL="0">
              <a:buNone/>
            </a:pPr>
            <a:r>
              <a:rPr lang="en-US" sz="3000" b="1" dirty="0">
                <a:solidFill>
                  <a:srgbClr val="FFFFFF"/>
                </a:solidFill>
                <a:latin typeface="Calibri" pitchFamily="34" charset="0"/>
                <a:ea typeface="Calibri" pitchFamily="34" charset="-122"/>
                <a:cs typeface="Calibri" pitchFamily="34" charset="-120"/>
              </a:rPr>
              <a:t>21.2%</a:t>
            </a:r>
            <a:endParaRPr lang="en-US" sz="3000" dirty="0"/>
          </a:p>
        </p:txBody>
      </p:sp>
      <p:sp>
        <p:nvSpPr>
          <p:cNvPr id="13" name="Text 10"/>
          <p:cNvSpPr/>
          <p:nvPr/>
        </p:nvSpPr>
        <p:spPr>
          <a:xfrm>
            <a:off x="1984248" y="3282330"/>
            <a:ext cx="1572768" cy="389169"/>
          </a:xfrm>
          <a:prstGeom prst="rect">
            <a:avLst/>
          </a:prstGeom>
          <a:noFill/>
          <a:ln/>
        </p:spPr>
        <p:txBody>
          <a:bodyPr wrap="square" rtlCol="0" anchor="t"/>
          <a:lstStyle/>
          <a:p>
            <a:pPr algn="ctr" indent="0" marL="0">
              <a:buNone/>
            </a:pPr>
            <a:r>
              <a:rPr lang="en-US" sz="1100" dirty="0">
                <a:solidFill>
                  <a:srgbClr val="9BC4E2"/>
                </a:solidFill>
                <a:latin typeface="Calibri" pitchFamily="34" charset="0"/>
                <a:ea typeface="Calibri" pitchFamily="34" charset="-122"/>
                <a:cs typeface="Calibri" pitchFamily="34" charset="-120"/>
              </a:rPr>
              <a:t>False Neg. Rate</a:t>
            </a:r>
            <a:endParaRPr lang="en-US" sz="1100" dirty="0"/>
          </a:p>
        </p:txBody>
      </p:sp>
      <p:sp>
        <p:nvSpPr>
          <p:cNvPr id="14" name="Shape 11"/>
          <p:cNvSpPr/>
          <p:nvPr/>
        </p:nvSpPr>
        <p:spPr>
          <a:xfrm>
            <a:off x="3685032" y="2688336"/>
            <a:ext cx="1572768" cy="1024128"/>
          </a:xfrm>
          <a:prstGeom prst="rect">
            <a:avLst/>
          </a:prstGeom>
          <a:solidFill>
            <a:srgbClr val="13294B"/>
          </a:solidFill>
          <a:ln w="12700">
            <a:solidFill>
              <a:srgbClr val="13294B"/>
            </a:solidFill>
            <a:prstDash val="solid"/>
          </a:ln>
          <a:effectLst>
            <a:outerShdw sx="100000" sy="100000" kx="0" ky="0" algn="bl" rotWithShape="0" blurRad="50800" dist="25400" dir="8100000">
              <a:srgbClr val="000000">
                <a:alpha val="10000"/>
              </a:srgbClr>
            </a:outerShdw>
          </a:effectLst>
        </p:spPr>
      </p:sp>
      <p:sp>
        <p:nvSpPr>
          <p:cNvPr id="15" name="Shape 12"/>
          <p:cNvSpPr/>
          <p:nvPr/>
        </p:nvSpPr>
        <p:spPr>
          <a:xfrm>
            <a:off x="3685032" y="2688336"/>
            <a:ext cx="1572768" cy="54864"/>
          </a:xfrm>
          <a:prstGeom prst="rect">
            <a:avLst/>
          </a:prstGeom>
          <a:solidFill>
            <a:srgbClr val="4B9CD3"/>
          </a:solidFill>
          <a:ln w="12700">
            <a:solidFill>
              <a:srgbClr val="4B9CD3"/>
            </a:solidFill>
            <a:prstDash val="solid"/>
          </a:ln>
        </p:spPr>
      </p:sp>
      <p:sp>
        <p:nvSpPr>
          <p:cNvPr id="16" name="Text 13"/>
          <p:cNvSpPr/>
          <p:nvPr/>
        </p:nvSpPr>
        <p:spPr>
          <a:xfrm>
            <a:off x="3685032" y="2779776"/>
            <a:ext cx="1572768" cy="573512"/>
          </a:xfrm>
          <a:prstGeom prst="rect">
            <a:avLst/>
          </a:prstGeom>
          <a:noFill/>
          <a:ln/>
        </p:spPr>
        <p:txBody>
          <a:bodyPr wrap="square" rtlCol="0" anchor="b"/>
          <a:lstStyle/>
          <a:p>
            <a:pPr algn="ctr" indent="0" marL="0">
              <a:buNone/>
            </a:pPr>
            <a:r>
              <a:rPr lang="en-US" sz="3000" b="1" dirty="0">
                <a:solidFill>
                  <a:srgbClr val="FFFFFF"/>
                </a:solidFill>
                <a:latin typeface="Calibri" pitchFamily="34" charset="0"/>
                <a:ea typeface="Calibri" pitchFamily="34" charset="-122"/>
                <a:cs typeface="Calibri" pitchFamily="34" charset="-120"/>
              </a:rPr>
              <a:t>0.0037</a:t>
            </a:r>
            <a:endParaRPr lang="en-US" sz="3000" dirty="0"/>
          </a:p>
        </p:txBody>
      </p:sp>
      <p:sp>
        <p:nvSpPr>
          <p:cNvPr id="17" name="Text 14"/>
          <p:cNvSpPr/>
          <p:nvPr/>
        </p:nvSpPr>
        <p:spPr>
          <a:xfrm>
            <a:off x="3685032" y="3282330"/>
            <a:ext cx="1572768" cy="389169"/>
          </a:xfrm>
          <a:prstGeom prst="rect">
            <a:avLst/>
          </a:prstGeom>
          <a:noFill/>
          <a:ln/>
        </p:spPr>
        <p:txBody>
          <a:bodyPr wrap="square" rtlCol="0" anchor="t"/>
          <a:lstStyle/>
          <a:p>
            <a:pPr algn="ctr" indent="0" marL="0">
              <a:buNone/>
            </a:pPr>
            <a:r>
              <a:rPr lang="en-US" sz="1100" dirty="0">
                <a:solidFill>
                  <a:srgbClr val="9BC4E2"/>
                </a:solidFill>
                <a:latin typeface="Calibri" pitchFamily="34" charset="0"/>
                <a:ea typeface="Calibri" pitchFamily="34" charset="-122"/>
                <a:cs typeface="Calibri" pitchFamily="34" charset="-120"/>
              </a:rPr>
              <a:t>CV Std Dev</a:t>
            </a:r>
            <a:endParaRPr lang="en-US" sz="1100" dirty="0"/>
          </a:p>
        </p:txBody>
      </p:sp>
      <p:sp>
        <p:nvSpPr>
          <p:cNvPr id="18" name="Text 15"/>
          <p:cNvSpPr/>
          <p:nvPr/>
        </p:nvSpPr>
        <p:spPr>
          <a:xfrm>
            <a:off x="274320" y="3785616"/>
            <a:ext cx="2743200" cy="256032"/>
          </a:xfrm>
          <a:prstGeom prst="rect">
            <a:avLst/>
          </a:prstGeom>
          <a:noFill/>
          <a:ln/>
        </p:spPr>
        <p:txBody>
          <a:bodyPr wrap="square" rtlCol="0" anchor="ctr"/>
          <a:lstStyle/>
          <a:p>
            <a:pPr indent="0" marL="0">
              <a:buNone/>
            </a:pPr>
            <a:r>
              <a:rPr lang="en-US" sz="1100" b="1" dirty="0">
                <a:solidFill>
                  <a:srgbClr val="13294B"/>
                </a:solidFill>
                <a:latin typeface="Calibri" pitchFamily="34" charset="0"/>
                <a:ea typeface="Calibri" pitchFamily="34" charset="-122"/>
                <a:cs typeface="Calibri" pitchFamily="34" charset="-120"/>
              </a:rPr>
              <a:t>GB Confusion Matrix:</a:t>
            </a:r>
            <a:endParaRPr lang="en-US" sz="11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274320" y="4041648"/>
          <a:ext cx="4983480" cy="914400"/>
        </p:xfrm>
        <a:graphic>
          <a:graphicData uri="http://schemas.openxmlformats.org/drawingml/2006/table">
            <a:tbl>
              <a:tblPr/>
              <a:tblGrid>
                <a:gridCol w="1417320"/>
                <a:gridCol w="1783080"/>
                <a:gridCol w="1783080"/>
              </a:tblGrid>
              <a:tr h="301752">
                <a:tc>
                  <a:txBody>
                    <a:bodyPr/>
                    <a:lstStyle/>
                    <a:p>
                      <a:pPr indent="0" marL="0">
                        <a:buNone/>
                      </a:pP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3294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Pred: No Smoke</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3294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Pred: Smoker</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3294B"/>
                    </a:solidFill>
                  </a:tcPr>
                </a:tc>
              </a:tr>
              <a:tr h="30175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Act: No Smoke</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4A5568"/>
                    </a:solidFill>
                  </a:tcPr>
                </a:tc>
                <a:tc>
                  <a:txBody>
                    <a:bodyPr/>
                    <a:lstStyle/>
                    <a:p>
                      <a:pPr algn="ctr" indent="0" marL="0">
                        <a:buNone/>
                      </a:pPr>
                      <a:r>
                        <a:rPr lang="en-US" sz="1000" dirty="0">
                          <a:solidFill>
                            <a:srgbClr val="13294B"/>
                          </a:solidFill>
                          <a:latin typeface="Calibri" pitchFamily="34" charset="0"/>
                          <a:ea typeface="Calibri" pitchFamily="34" charset="-122"/>
                          <a:cs typeface="Calibri" pitchFamily="34" charset="-120"/>
                        </a:rPr>
                        <a:t>83.4% (n=1,593) TN</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D6EAF8"/>
                    </a:solidFill>
                  </a:tcPr>
                </a:tc>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16.6% (n=318) FP</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r h="30175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Act: Smoker</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4A5568"/>
                    </a:solidFill>
                  </a:tcPr>
                </a:tc>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21.2% (n=231) FN</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1000" dirty="0">
                          <a:solidFill>
                            <a:srgbClr val="13294B"/>
                          </a:solidFill>
                          <a:latin typeface="Calibri" pitchFamily="34" charset="0"/>
                          <a:ea typeface="Calibri" pitchFamily="34" charset="-122"/>
                          <a:cs typeface="Calibri" pitchFamily="34" charset="-120"/>
                        </a:rPr>
                        <a:t>78.8% (n=858) TP</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D6EAF8"/>
                    </a:solidFill>
                  </a:tcPr>
                </a:tc>
              </a:tr>
            </a:tbl>
          </a:graphicData>
        </a:graphic>
      </p:graphicFrame>
      <p:pic>
        <p:nvPicPr>
          <p:cNvPr id="20" name="Image 0" descr="preencoded.png">    </p:cNvPr>
          <p:cNvPicPr>
            <a:picLocks noChangeAspect="1"/>
          </p:cNvPicPr>
          <p:nvPr/>
        </p:nvPicPr>
        <p:blipFill>
          <a:blip r:embed="rId1"/>
          <a:stretch>
            <a:fillRect/>
          </a:stretch>
        </p:blipFill>
        <p:spPr>
          <a:xfrm>
            <a:off x="5440680" y="713232"/>
            <a:ext cx="3429000" cy="42519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3294B"/>
          </a:solidFill>
          <a:ln w="12700">
            <a:solidFill>
              <a:srgbClr val="13294B"/>
            </a:solidFill>
            <a:prstDash val="solid"/>
          </a:ln>
        </p:spPr>
      </p:sp>
      <p:sp>
        <p:nvSpPr>
          <p:cNvPr id="3" name="Text 1"/>
          <p:cNvSpPr/>
          <p:nvPr/>
        </p:nvSpPr>
        <p:spPr>
          <a:xfrm>
            <a:off x="320040" y="0"/>
            <a:ext cx="8503920" cy="54864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06 · Feature Importance — Gradient Boosting (Gini MDI)</a:t>
            </a:r>
            <a:endParaRPr lang="en-US" sz="2000" dirty="0"/>
          </a:p>
        </p:txBody>
      </p:sp>
      <p:sp>
        <p:nvSpPr>
          <p:cNvPr id="4" name="Shape 2"/>
          <p:cNvSpPr/>
          <p:nvPr/>
        </p:nvSpPr>
        <p:spPr>
          <a:xfrm>
            <a:off x="0" y="548640"/>
            <a:ext cx="9144000" cy="54864"/>
          </a:xfrm>
          <a:prstGeom prst="rect">
            <a:avLst/>
          </a:prstGeom>
          <a:solidFill>
            <a:srgbClr val="4B9CD3"/>
          </a:solidFill>
          <a:ln w="12700">
            <a:solidFill>
              <a:srgbClr val="4B9CD3"/>
            </a:solidFill>
            <a:prstDash val="solid"/>
          </a:ln>
        </p:spPr>
      </p:sp>
      <p:pic>
        <p:nvPicPr>
          <p:cNvPr id="5" name="Image 0" descr="preencoded.png">    </p:cNvPr>
          <p:cNvPicPr>
            <a:picLocks noChangeAspect="1"/>
          </p:cNvPicPr>
          <p:nvPr/>
        </p:nvPicPr>
        <p:blipFill>
          <a:blip r:embed="rId1"/>
          <a:stretch>
            <a:fillRect/>
          </a:stretch>
        </p:blipFill>
        <p:spPr>
          <a:xfrm>
            <a:off x="228600" y="658368"/>
            <a:ext cx="5303520" cy="4160520"/>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0" y="658368"/>
          <a:ext cx="3246120" cy="4160520"/>
        </p:xfrm>
        <a:graphic>
          <a:graphicData uri="http://schemas.openxmlformats.org/drawingml/2006/table">
            <a:tbl>
              <a:tblPr/>
              <a:tblGrid>
                <a:gridCol w="914400"/>
                <a:gridCol w="502920"/>
                <a:gridCol w="1828800"/>
              </a:tblGrid>
              <a:tr h="457200">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Feature</a:t>
                      </a:r>
                      <a:endParaRPr lang="en-US" sz="9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3294B"/>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Gini</a:t>
                      </a:r>
                      <a:endParaRPr lang="en-US" sz="9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3294B"/>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Biological Signal</a:t>
                      </a:r>
                      <a:endParaRPr lang="en-US" sz="9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3294B"/>
                    </a:solidFill>
                  </a:tcPr>
                </a:tc>
              </a:tr>
              <a:tr h="457200">
                <a:tc>
                  <a:txBody>
                    <a:bodyPr/>
                    <a:lstStyle/>
                    <a:p>
                      <a:pPr indent="0" marL="0">
                        <a:buNone/>
                      </a:pPr>
                      <a:r>
                        <a:rPr lang="en-US" sz="950" b="1" dirty="0">
                          <a:solidFill>
                            <a:srgbClr val="4B9CD3"/>
                          </a:solidFill>
                          <a:latin typeface="Calibri" pitchFamily="34" charset="0"/>
                          <a:ea typeface="Calibri" pitchFamily="34" charset="-122"/>
                          <a:cs typeface="Calibri" pitchFamily="34" charset="-120"/>
                        </a:rPr>
                        <a:t>hemoglobin</a:t>
                      </a:r>
                      <a:endParaRPr lang="en-US" sz="9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950" b="1" dirty="0">
                          <a:solidFill>
                            <a:srgbClr val="4B9CD3"/>
                          </a:solidFill>
                          <a:latin typeface="Calibri" pitchFamily="34" charset="0"/>
                          <a:ea typeface="Calibri" pitchFamily="34" charset="-122"/>
                          <a:cs typeface="Calibri" pitchFamily="34" charset="-120"/>
                        </a:rPr>
                        <a:t>0.411</a:t>
                      </a:r>
                      <a:endParaRPr lang="en-US" sz="9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Secondary polycythemia; erythropoietin pathway</a:t>
                      </a:r>
                      <a:endParaRPr lang="en-US" sz="9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r h="45720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height (cm)</a:t>
                      </a:r>
                      <a:endParaRPr lang="en-US" sz="9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950" dirty="0">
                          <a:solidFill>
                            <a:srgbClr val="000000"/>
                          </a:solidFill>
                          <a:latin typeface="Calibri" pitchFamily="34" charset="0"/>
                          <a:ea typeface="Calibri" pitchFamily="34" charset="-122"/>
                          <a:cs typeface="Calibri" pitchFamily="34" charset="-120"/>
                        </a:rPr>
                        <a:t>0.196</a:t>
                      </a:r>
                      <a:endParaRPr lang="en-US" sz="9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Sex proxy — males ~8.6cm taller, 3× smoking rate</a:t>
                      </a:r>
                      <a:endParaRPr lang="en-US" sz="9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r h="45720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Gtp</a:t>
                      </a:r>
                      <a:endParaRPr lang="en-US" sz="9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950" dirty="0">
                          <a:solidFill>
                            <a:srgbClr val="000000"/>
                          </a:solidFill>
                          <a:latin typeface="Calibri" pitchFamily="34" charset="0"/>
                          <a:ea typeface="Calibri" pitchFamily="34" charset="-122"/>
                          <a:cs typeface="Calibri" pitchFamily="34" charset="-120"/>
                        </a:rPr>
                        <a:t>0.109</a:t>
                      </a:r>
                      <a:endParaRPr lang="en-US" sz="9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GGT elevated by tobacco; alcohol confound present</a:t>
                      </a:r>
                      <a:endParaRPr lang="en-US" sz="9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r h="45720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triglyceride</a:t>
                      </a:r>
                      <a:endParaRPr lang="en-US" sz="9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950" dirty="0">
                          <a:solidFill>
                            <a:srgbClr val="000000"/>
                          </a:solidFill>
                          <a:latin typeface="Calibri" pitchFamily="34" charset="0"/>
                          <a:ea typeface="Calibri" pitchFamily="34" charset="-122"/>
                          <a:cs typeface="Calibri" pitchFamily="34" charset="-120"/>
                        </a:rPr>
                        <a:t>0.089</a:t>
                      </a:r>
                      <a:endParaRPr lang="en-US" sz="9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VLDL upregulation; +0.50 mmol/L in smokers (n=169 studies)</a:t>
                      </a:r>
                      <a:endParaRPr lang="en-US" sz="9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r h="45720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age</a:t>
                      </a:r>
                      <a:endParaRPr lang="en-US" sz="9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950" dirty="0">
                          <a:solidFill>
                            <a:srgbClr val="000000"/>
                          </a:solidFill>
                          <a:latin typeface="Calibri" pitchFamily="34" charset="0"/>
                          <a:ea typeface="Calibri" pitchFamily="34" charset="-122"/>
                          <a:cs typeface="Calibri" pitchFamily="34" charset="-120"/>
                        </a:rPr>
                        <a:t>0.037</a:t>
                      </a:r>
                      <a:endParaRPr lang="en-US" sz="9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Cohort artifact — not causal (rate inverts with age)</a:t>
                      </a:r>
                      <a:endParaRPr lang="en-US" sz="9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r h="45720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LDL</a:t>
                      </a:r>
                      <a:endParaRPr lang="en-US" sz="9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950" dirty="0">
                          <a:solidFill>
                            <a:srgbClr val="000000"/>
                          </a:solidFill>
                          <a:latin typeface="Calibri" pitchFamily="34" charset="0"/>
                          <a:ea typeface="Calibri" pitchFamily="34" charset="-122"/>
                          <a:cs typeface="Calibri" pitchFamily="34" charset="-120"/>
                        </a:rPr>
                        <a:t>0.033</a:t>
                      </a:r>
                      <a:endParaRPr lang="en-US" sz="9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Lipid dysregulation; complements triglyceride</a:t>
                      </a:r>
                      <a:endParaRPr lang="en-US" sz="9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r h="45720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ALT</a:t>
                      </a:r>
                      <a:endParaRPr lang="en-US" sz="9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950" dirty="0">
                          <a:solidFill>
                            <a:srgbClr val="000000"/>
                          </a:solidFill>
                          <a:latin typeface="Calibri" pitchFamily="34" charset="0"/>
                          <a:ea typeface="Calibri" pitchFamily="34" charset="-122"/>
                          <a:cs typeface="Calibri" pitchFamily="34" charset="-120"/>
                        </a:rPr>
                        <a:t>0.026</a:t>
                      </a:r>
                      <a:endParaRPr lang="en-US" sz="9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Hepatotoxic stress; synergistic with alcohol</a:t>
                      </a:r>
                      <a:endParaRPr lang="en-US" sz="9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r h="457200">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HDL</a:t>
                      </a:r>
                      <a:endParaRPr lang="en-US" sz="9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950" dirty="0">
                          <a:solidFill>
                            <a:srgbClr val="DC2626"/>
                          </a:solidFill>
                          <a:latin typeface="Calibri" pitchFamily="34" charset="0"/>
                          <a:ea typeface="Calibri" pitchFamily="34" charset="-122"/>
                          <a:cs typeface="Calibri" pitchFamily="34" charset="-120"/>
                        </a:rPr>
                        <a:t>0.012</a:t>
                      </a:r>
                      <a:endParaRPr lang="en-US" sz="9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Inverse: smoking suppresses HDL synthesis</a:t>
                      </a:r>
                      <a:endParaRPr lang="en-US" sz="95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3294B"/>
          </a:solidFill>
          <a:ln w="12700">
            <a:solidFill>
              <a:srgbClr val="13294B"/>
            </a:solidFill>
            <a:prstDash val="solid"/>
          </a:ln>
        </p:spPr>
      </p:sp>
      <p:sp>
        <p:nvSpPr>
          <p:cNvPr id="3" name="Text 1"/>
          <p:cNvSpPr/>
          <p:nvPr/>
        </p:nvSpPr>
        <p:spPr>
          <a:xfrm>
            <a:off x="320040" y="0"/>
            <a:ext cx="8503920" cy="54864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06 · Deployment Readiness — Calibration &amp; Threshold Analysis</a:t>
            </a:r>
            <a:endParaRPr lang="en-US" sz="2000" dirty="0"/>
          </a:p>
        </p:txBody>
      </p:sp>
      <p:sp>
        <p:nvSpPr>
          <p:cNvPr id="4" name="Shape 2"/>
          <p:cNvSpPr/>
          <p:nvPr/>
        </p:nvSpPr>
        <p:spPr>
          <a:xfrm>
            <a:off x="0" y="548640"/>
            <a:ext cx="9144000" cy="54864"/>
          </a:xfrm>
          <a:prstGeom prst="rect">
            <a:avLst/>
          </a:prstGeom>
          <a:solidFill>
            <a:srgbClr val="4B9CD3"/>
          </a:solidFill>
          <a:ln w="12700">
            <a:solidFill>
              <a:srgbClr val="4B9CD3"/>
            </a:solidFill>
            <a:prstDash val="solid"/>
          </a:ln>
        </p:spPr>
      </p:sp>
      <p:sp>
        <p:nvSpPr>
          <p:cNvPr id="5" name="Text 3"/>
          <p:cNvSpPr/>
          <p:nvPr/>
        </p:nvSpPr>
        <p:spPr>
          <a:xfrm>
            <a:off x="274320" y="676656"/>
            <a:ext cx="4114800" cy="292608"/>
          </a:xfrm>
          <a:prstGeom prst="rect">
            <a:avLst/>
          </a:prstGeom>
          <a:noFill/>
          <a:ln/>
        </p:spPr>
        <p:txBody>
          <a:bodyPr wrap="square" rtlCol="0" anchor="ctr"/>
          <a:lstStyle/>
          <a:p>
            <a:pPr indent="0" marL="0">
              <a:buNone/>
            </a:pPr>
            <a:r>
              <a:rPr lang="en-US" sz="1400" b="1" dirty="0">
                <a:solidFill>
                  <a:srgbClr val="13294B"/>
                </a:solidFill>
                <a:latin typeface="Calibri" pitchFamily="34" charset="0"/>
                <a:ea typeface="Calibri" pitchFamily="34" charset="-122"/>
                <a:cs typeface="Calibri" pitchFamily="34" charset="-120"/>
              </a:rPr>
              <a:t>Calibration Curve</a:t>
            </a:r>
            <a:endParaRPr lang="en-US" sz="1400" dirty="0"/>
          </a:p>
        </p:txBody>
      </p:sp>
      <p:graphicFrame>
        <p:nvGraphicFramePr>
          <p:cNvPr id="6" name="Chart 0" descr=""/>
          <p:cNvGraphicFramePr/>
          <p:nvPr/>
        </p:nvGraphicFramePr>
        <p:xfrm>
          <a:off x="274320" y="987552"/>
          <a:ext cx="4114800" cy="26060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274320" y="3675888"/>
            <a:ext cx="4114800" cy="658368"/>
          </a:xfrm>
          <a:prstGeom prst="rect">
            <a:avLst/>
          </a:prstGeom>
          <a:noFill/>
          <a:ln/>
        </p:spPr>
        <p:txBody>
          <a:bodyPr wrap="square" rtlCol="0" anchor="ctr"/>
          <a:lstStyle/>
          <a:p>
            <a:pPr indent="0" marL="0">
              <a:buNone/>
            </a:pPr>
            <a:r>
              <a:rPr lang="en-US" sz="1100" dirty="0">
                <a:solidFill>
                  <a:srgbClr val="4A5568"/>
                </a:solidFill>
                <a:latin typeface="Calibri" pitchFamily="34" charset="0"/>
                <a:ea typeface="Calibri" pitchFamily="34" charset="-122"/>
                <a:cs typeface="Calibri" pitchFamily="34" charset="-120"/>
              </a:rPr>
              <a:t>Well-calibrated 0.0–0.5. Mild underconfidence at 0.5–0.65. Caps near 0.85 — isotonic regression or Platt scaling would correct this for clinical deployment.</a:t>
            </a:r>
            <a:endParaRPr lang="en-US" sz="1100" dirty="0"/>
          </a:p>
        </p:txBody>
      </p:sp>
      <p:sp>
        <p:nvSpPr>
          <p:cNvPr id="8" name="Text 5"/>
          <p:cNvSpPr/>
          <p:nvPr/>
        </p:nvSpPr>
        <p:spPr>
          <a:xfrm>
            <a:off x="4709160" y="676656"/>
            <a:ext cx="4114800" cy="292608"/>
          </a:xfrm>
          <a:prstGeom prst="rect">
            <a:avLst/>
          </a:prstGeom>
          <a:noFill/>
          <a:ln/>
        </p:spPr>
        <p:txBody>
          <a:bodyPr wrap="square" rtlCol="0" anchor="ctr"/>
          <a:lstStyle/>
          <a:p>
            <a:pPr indent="0" marL="0">
              <a:buNone/>
            </a:pPr>
            <a:r>
              <a:rPr lang="en-US" sz="1400" b="1" dirty="0">
                <a:solidFill>
                  <a:srgbClr val="13294B"/>
                </a:solidFill>
                <a:latin typeface="Calibri" pitchFamily="34" charset="0"/>
                <a:ea typeface="Calibri" pitchFamily="34" charset="-122"/>
                <a:cs typeface="Calibri" pitchFamily="34" charset="-120"/>
              </a:rPr>
              <a:t>Precision / Recall vs. Threshold</a:t>
            </a:r>
            <a:endParaRPr lang="en-US" sz="1400" dirty="0"/>
          </a:p>
        </p:txBody>
      </p:sp>
      <p:graphicFrame>
        <p:nvGraphicFramePr>
          <p:cNvPr id="9" name="Chart 1" descr=""/>
          <p:cNvGraphicFramePr/>
          <p:nvPr/>
        </p:nvGraphicFramePr>
        <p:xfrm>
          <a:off x="4709160" y="987552"/>
          <a:ext cx="4114800" cy="2606040"/>
        </p:xfrm>
        <a:graphic xmlns:a="http://schemas.openxmlformats.org/drawingml/2006/main">
          <a:graphicData uri="http://schemas.openxmlformats.org/drawingml/2006/chart">
            <c:chart xmlns:c="http://schemas.openxmlformats.org/drawingml/2006/chart" r:id="rId2"/>
          </a:graphicData>
        </a:graphic>
      </p:graphicFrame>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74320" y="4407408"/>
          <a:ext cx="8631936" cy="658368"/>
        </p:xfrm>
        <a:graphic>
          <a:graphicData uri="http://schemas.openxmlformats.org/drawingml/2006/table">
            <a:tbl>
              <a:tblPr/>
              <a:tblGrid>
                <a:gridCol w="1463040"/>
                <a:gridCol w="1280160"/>
                <a:gridCol w="1280160"/>
                <a:gridCol w="4608576"/>
              </a:tblGrid>
              <a:tr h="219456">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Threshold</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3294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Precision</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3294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Recall</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3294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Use Case</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3294B"/>
                    </a:solidFill>
                  </a:tcPr>
                </a:tc>
              </a:tr>
              <a:tr h="219456">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0.35</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4B9CD3"/>
                    </a:solidFill>
                  </a:tcPr>
                </a:tc>
                <a:tc>
                  <a:txBody>
                    <a:bodyPr/>
                    <a:lstStyle/>
                    <a:p>
                      <a:pPr algn="ctr" indent="0" marL="0">
                        <a:buNone/>
                      </a:pPr>
                      <a:r>
                        <a:rPr lang="en-US" sz="1000" dirty="0">
                          <a:solidFill>
                            <a:srgbClr val="FFFFFF"/>
                          </a:solidFill>
                          <a:latin typeface="Calibri" pitchFamily="34" charset="0"/>
                          <a:ea typeface="Calibri" pitchFamily="34" charset="-122"/>
                          <a:cs typeface="Calibri" pitchFamily="34" charset="-120"/>
                        </a:rPr>
                        <a:t>&gt;0.62</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4B9CD3"/>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&gt;0.85</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4B9CD3"/>
                    </a:solidFill>
                  </a:tcPr>
                </a:tc>
                <a:tc>
                  <a:txBody>
                    <a:bodyPr/>
                    <a:lstStyle/>
                    <a:p>
                      <a:pPr algn="ctr" indent="0" marL="0">
                        <a:buNone/>
                      </a:pPr>
                      <a:r>
                        <a:rPr lang="en-US" sz="1000" dirty="0">
                          <a:solidFill>
                            <a:srgbClr val="FFFFFF"/>
                          </a:solidFill>
                          <a:latin typeface="Calibri" pitchFamily="34" charset="0"/>
                          <a:ea typeface="Calibri" pitchFamily="34" charset="-122"/>
                          <a:cs typeface="Calibri" pitchFamily="34" charset="-120"/>
                        </a:rPr>
                        <a:t>Population screening ✓</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4B9CD3"/>
                    </a:solidFill>
                  </a:tcPr>
                </a:tc>
              </a:tr>
              <a:tr h="219456">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0.50 (default)</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~0.71</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~0.79</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Balanced precision / recall</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r h="219456">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0.65</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~0.80</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~0.55</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High specificity, lower sensitivity</a:t>
                      </a:r>
                      <a:endParaRPr lang="en-US" sz="1000" dirty="0">
                        <a:latin typeface="Calibri" charset="0"/>
                        <a:ea typeface="Calibri" charset="0"/>
                        <a:cs typeface="Calibri" charset="0"/>
                      </a:endParaRPr>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3294B"/>
          </a:solidFill>
          <a:ln w="12700">
            <a:solidFill>
              <a:srgbClr val="13294B"/>
            </a:solidFill>
            <a:prstDash val="solid"/>
          </a:ln>
        </p:spPr>
      </p:sp>
      <p:sp>
        <p:nvSpPr>
          <p:cNvPr id="3" name="Text 1"/>
          <p:cNvSpPr/>
          <p:nvPr/>
        </p:nvSpPr>
        <p:spPr>
          <a:xfrm>
            <a:off x="320040" y="0"/>
            <a:ext cx="8503920" cy="54864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06 · Limitations — Six Key Constraints on the Model</a:t>
            </a:r>
            <a:endParaRPr lang="en-US" sz="2000" dirty="0"/>
          </a:p>
        </p:txBody>
      </p:sp>
      <p:sp>
        <p:nvSpPr>
          <p:cNvPr id="4" name="Shape 2"/>
          <p:cNvSpPr/>
          <p:nvPr/>
        </p:nvSpPr>
        <p:spPr>
          <a:xfrm>
            <a:off x="0" y="548640"/>
            <a:ext cx="9144000" cy="54864"/>
          </a:xfrm>
          <a:prstGeom prst="rect">
            <a:avLst/>
          </a:prstGeom>
          <a:solidFill>
            <a:srgbClr val="4B9CD3"/>
          </a:solidFill>
          <a:ln w="12700">
            <a:solidFill>
              <a:srgbClr val="4B9CD3"/>
            </a:solidFill>
            <a:prstDash val="solid"/>
          </a:ln>
        </p:spPr>
      </p:sp>
      <p:sp>
        <p:nvSpPr>
          <p:cNvPr id="5" name="Shape 3"/>
          <p:cNvSpPr/>
          <p:nvPr/>
        </p:nvSpPr>
        <p:spPr>
          <a:xfrm>
            <a:off x="256032" y="713232"/>
            <a:ext cx="2743200" cy="2084832"/>
          </a:xfrm>
          <a:prstGeom prst="rect">
            <a:avLst/>
          </a:prstGeom>
          <a:solidFill>
            <a:srgbClr val="FFFFFF"/>
          </a:solidFill>
          <a:ln w="12700">
            <a:solidFill>
              <a:srgbClr val="E8ECF0"/>
            </a:solidFill>
            <a:prstDash val="solid"/>
          </a:ln>
          <a:effectLst>
            <a:outerShdw sx="100000" sy="100000" kx="0" ky="0" algn="bl" rotWithShape="0" blurRad="50800" dist="25400" dir="8100000">
              <a:srgbClr val="000000">
                <a:alpha val="10000"/>
              </a:srgbClr>
            </a:outerShdw>
          </a:effectLst>
        </p:spPr>
      </p:sp>
      <p:sp>
        <p:nvSpPr>
          <p:cNvPr id="6" name="Shape 4"/>
          <p:cNvSpPr/>
          <p:nvPr/>
        </p:nvSpPr>
        <p:spPr>
          <a:xfrm>
            <a:off x="256032" y="713232"/>
            <a:ext cx="2743200" cy="384048"/>
          </a:xfrm>
          <a:prstGeom prst="rect">
            <a:avLst/>
          </a:prstGeom>
          <a:solidFill>
            <a:srgbClr val="13294B"/>
          </a:solidFill>
          <a:ln w="12700">
            <a:solidFill>
              <a:srgbClr val="13294B"/>
            </a:solidFill>
            <a:prstDash val="solid"/>
          </a:ln>
        </p:spPr>
      </p:sp>
      <p:sp>
        <p:nvSpPr>
          <p:cNvPr id="7" name="Text 5"/>
          <p:cNvSpPr/>
          <p:nvPr/>
        </p:nvSpPr>
        <p:spPr>
          <a:xfrm>
            <a:off x="347472" y="713232"/>
            <a:ext cx="2651760"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Synthetic Data</a:t>
            </a:r>
            <a:endParaRPr lang="en-US" sz="1200" dirty="0"/>
          </a:p>
        </p:txBody>
      </p:sp>
      <p:sp>
        <p:nvSpPr>
          <p:cNvPr id="8" name="Text 6"/>
          <p:cNvSpPr/>
          <p:nvPr/>
        </p:nvSpPr>
        <p:spPr>
          <a:xfrm>
            <a:off x="347472" y="1170432"/>
            <a:ext cx="2606040" cy="1536192"/>
          </a:xfrm>
          <a:prstGeom prst="rect">
            <a:avLst/>
          </a:prstGeom>
          <a:noFill/>
          <a:ln/>
        </p:spPr>
        <p:txBody>
          <a:bodyPr wrap="square" rtlCol="0" anchor="ctr"/>
          <a:lstStyle/>
          <a:p>
            <a:pPr indent="0" marL="0">
              <a:buNone/>
            </a:pPr>
            <a:r>
              <a:rPr lang="en-US" sz="1050" dirty="0">
                <a:solidFill>
                  <a:srgbClr val="1A1A1A"/>
                </a:solidFill>
                <a:latin typeface="Calibri" pitchFamily="34" charset="0"/>
                <a:ea typeface="Calibri" pitchFamily="34" charset="-122"/>
                <a:cs typeface="Calibri" pitchFamily="34" charset="-120"/>
              </a:rPr>
              <a:t>Generated by deep-learning model — tail compression in Gtp, ALT, triglycerides. May be overconfident on extreme real-world values not well-represented in training.</a:t>
            </a:r>
            <a:endParaRPr lang="en-US" sz="1050" dirty="0"/>
          </a:p>
        </p:txBody>
      </p:sp>
      <p:sp>
        <p:nvSpPr>
          <p:cNvPr id="9" name="Shape 7"/>
          <p:cNvSpPr/>
          <p:nvPr/>
        </p:nvSpPr>
        <p:spPr>
          <a:xfrm>
            <a:off x="3200400" y="713232"/>
            <a:ext cx="2743200" cy="2084832"/>
          </a:xfrm>
          <a:prstGeom prst="rect">
            <a:avLst/>
          </a:prstGeom>
          <a:solidFill>
            <a:srgbClr val="FFFFFF"/>
          </a:solidFill>
          <a:ln w="12700">
            <a:solidFill>
              <a:srgbClr val="E8ECF0"/>
            </a:solidFill>
            <a:prstDash val="solid"/>
          </a:ln>
          <a:effectLst>
            <a:outerShdw sx="100000" sy="100000" kx="0" ky="0" algn="bl" rotWithShape="0" blurRad="50800" dist="25400" dir="8100000">
              <a:srgbClr val="000000">
                <a:alpha val="10000"/>
              </a:srgbClr>
            </a:outerShdw>
          </a:effectLst>
        </p:spPr>
      </p:sp>
      <p:sp>
        <p:nvSpPr>
          <p:cNvPr id="10" name="Shape 8"/>
          <p:cNvSpPr/>
          <p:nvPr/>
        </p:nvSpPr>
        <p:spPr>
          <a:xfrm>
            <a:off x="3200400" y="713232"/>
            <a:ext cx="2743200" cy="384048"/>
          </a:xfrm>
          <a:prstGeom prst="rect">
            <a:avLst/>
          </a:prstGeom>
          <a:solidFill>
            <a:srgbClr val="4B9CD3"/>
          </a:solidFill>
          <a:ln w="12700">
            <a:solidFill>
              <a:srgbClr val="4B9CD3"/>
            </a:solidFill>
            <a:prstDash val="solid"/>
          </a:ln>
        </p:spPr>
      </p:sp>
      <p:sp>
        <p:nvSpPr>
          <p:cNvPr id="11" name="Text 9"/>
          <p:cNvSpPr/>
          <p:nvPr/>
        </p:nvSpPr>
        <p:spPr>
          <a:xfrm>
            <a:off x="3291840" y="713232"/>
            <a:ext cx="2651760"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Korean Population Only</a:t>
            </a:r>
            <a:endParaRPr lang="en-US" sz="1200" dirty="0"/>
          </a:p>
        </p:txBody>
      </p:sp>
      <p:sp>
        <p:nvSpPr>
          <p:cNvPr id="12" name="Text 10"/>
          <p:cNvSpPr/>
          <p:nvPr/>
        </p:nvSpPr>
        <p:spPr>
          <a:xfrm>
            <a:off x="3291840" y="1170432"/>
            <a:ext cx="2606040" cy="1536192"/>
          </a:xfrm>
          <a:prstGeom prst="rect">
            <a:avLst/>
          </a:prstGeom>
          <a:noFill/>
          <a:ln/>
        </p:spPr>
        <p:txBody>
          <a:bodyPr wrap="square" rtlCol="0" anchor="ctr"/>
          <a:lstStyle/>
          <a:p>
            <a:pPr indent="0" marL="0">
              <a:buNone/>
            </a:pPr>
            <a:r>
              <a:rPr lang="en-US" sz="1050" dirty="0">
                <a:solidFill>
                  <a:srgbClr val="1A1A1A"/>
                </a:solidFill>
                <a:latin typeface="Calibri" pitchFamily="34" charset="0"/>
                <a:ea typeface="Calibri" pitchFamily="34" charset="-122"/>
                <a:cs typeface="Calibri" pitchFamily="34" charset="-120"/>
              </a:rPr>
              <a:t>Smoking prevalence, body composition norms, and male-to-female smoking ratio differ substantially from Western populations. Retraining on local data is required.</a:t>
            </a:r>
            <a:endParaRPr lang="en-US" sz="1050" dirty="0"/>
          </a:p>
        </p:txBody>
      </p:sp>
      <p:sp>
        <p:nvSpPr>
          <p:cNvPr id="13" name="Shape 11"/>
          <p:cNvSpPr/>
          <p:nvPr/>
        </p:nvSpPr>
        <p:spPr>
          <a:xfrm>
            <a:off x="6144768" y="713232"/>
            <a:ext cx="2743200" cy="2084832"/>
          </a:xfrm>
          <a:prstGeom prst="rect">
            <a:avLst/>
          </a:prstGeom>
          <a:solidFill>
            <a:srgbClr val="FFFFFF"/>
          </a:solidFill>
          <a:ln w="12700">
            <a:solidFill>
              <a:srgbClr val="E8ECF0"/>
            </a:solidFill>
            <a:prstDash val="solid"/>
          </a:ln>
          <a:effectLst>
            <a:outerShdw sx="100000" sy="100000" kx="0" ky="0" algn="bl" rotWithShape="0" blurRad="50800" dist="25400" dir="8100000">
              <a:srgbClr val="000000">
                <a:alpha val="10000"/>
              </a:srgbClr>
            </a:outerShdw>
          </a:effectLst>
        </p:spPr>
      </p:sp>
      <p:sp>
        <p:nvSpPr>
          <p:cNvPr id="14" name="Shape 12"/>
          <p:cNvSpPr/>
          <p:nvPr/>
        </p:nvSpPr>
        <p:spPr>
          <a:xfrm>
            <a:off x="6144768" y="713232"/>
            <a:ext cx="2743200" cy="384048"/>
          </a:xfrm>
          <a:prstGeom prst="rect">
            <a:avLst/>
          </a:prstGeom>
          <a:solidFill>
            <a:srgbClr val="13294B"/>
          </a:solidFill>
          <a:ln w="12700">
            <a:solidFill>
              <a:srgbClr val="13294B"/>
            </a:solidFill>
            <a:prstDash val="solid"/>
          </a:ln>
        </p:spPr>
      </p:sp>
      <p:sp>
        <p:nvSpPr>
          <p:cNvPr id="15" name="Text 13"/>
          <p:cNvSpPr/>
          <p:nvPr/>
        </p:nvSpPr>
        <p:spPr>
          <a:xfrm>
            <a:off x="6236208" y="713232"/>
            <a:ext cx="2651760"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No Sex Field</a:t>
            </a:r>
            <a:endParaRPr lang="en-US" sz="1200" dirty="0"/>
          </a:p>
        </p:txBody>
      </p:sp>
      <p:sp>
        <p:nvSpPr>
          <p:cNvPr id="16" name="Text 14"/>
          <p:cNvSpPr/>
          <p:nvPr/>
        </p:nvSpPr>
        <p:spPr>
          <a:xfrm>
            <a:off x="6236208" y="1170432"/>
            <a:ext cx="2606040" cy="1536192"/>
          </a:xfrm>
          <a:prstGeom prst="rect">
            <a:avLst/>
          </a:prstGeom>
          <a:noFill/>
          <a:ln/>
        </p:spPr>
        <p:txBody>
          <a:bodyPr wrap="square" rtlCol="0" anchor="ctr"/>
          <a:lstStyle/>
          <a:p>
            <a:pPr indent="0" marL="0">
              <a:buNone/>
            </a:pPr>
            <a:r>
              <a:rPr lang="en-US" sz="1050" dirty="0">
                <a:solidFill>
                  <a:srgbClr val="1A1A1A"/>
                </a:solidFill>
                <a:latin typeface="Calibri" pitchFamily="34" charset="0"/>
                <a:ea typeface="Calibri" pitchFamily="34" charset="-122"/>
                <a:cs typeface="Calibri" pitchFamily="34" charset="-120"/>
              </a:rPr>
              <a:t>Height absorbs a 41pp sex-by-smoking confound throughout. Importances for height, waist, and creatinine are all inflated. Adding sex would clarify genuine biomarker signals.</a:t>
            </a:r>
            <a:endParaRPr lang="en-US" sz="1050" dirty="0"/>
          </a:p>
        </p:txBody>
      </p:sp>
      <p:sp>
        <p:nvSpPr>
          <p:cNvPr id="17" name="Shape 15"/>
          <p:cNvSpPr/>
          <p:nvPr/>
        </p:nvSpPr>
        <p:spPr>
          <a:xfrm>
            <a:off x="256032" y="2926080"/>
            <a:ext cx="2743200" cy="2084832"/>
          </a:xfrm>
          <a:prstGeom prst="rect">
            <a:avLst/>
          </a:prstGeom>
          <a:solidFill>
            <a:srgbClr val="FFFFFF"/>
          </a:solidFill>
          <a:ln w="12700">
            <a:solidFill>
              <a:srgbClr val="E8ECF0"/>
            </a:solidFill>
            <a:prstDash val="solid"/>
          </a:ln>
          <a:effectLst>
            <a:outerShdw sx="100000" sy="100000" kx="0" ky="0" algn="bl" rotWithShape="0" blurRad="50800" dist="25400" dir="8100000">
              <a:srgbClr val="000000">
                <a:alpha val="10000"/>
              </a:srgbClr>
            </a:outerShdw>
          </a:effectLst>
        </p:spPr>
      </p:sp>
      <p:sp>
        <p:nvSpPr>
          <p:cNvPr id="18" name="Shape 16"/>
          <p:cNvSpPr/>
          <p:nvPr/>
        </p:nvSpPr>
        <p:spPr>
          <a:xfrm>
            <a:off x="256032" y="2926080"/>
            <a:ext cx="2743200" cy="384048"/>
          </a:xfrm>
          <a:prstGeom prst="rect">
            <a:avLst/>
          </a:prstGeom>
          <a:solidFill>
            <a:srgbClr val="4B9CD3"/>
          </a:solidFill>
          <a:ln w="12700">
            <a:solidFill>
              <a:srgbClr val="4B9CD3"/>
            </a:solidFill>
            <a:prstDash val="solid"/>
          </a:ln>
        </p:spPr>
      </p:sp>
      <p:sp>
        <p:nvSpPr>
          <p:cNvPr id="19" name="Text 17"/>
          <p:cNvSpPr/>
          <p:nvPr/>
        </p:nvSpPr>
        <p:spPr>
          <a:xfrm>
            <a:off x="347472" y="2926080"/>
            <a:ext cx="2651760"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Alcohol Confound</a:t>
            </a:r>
            <a:endParaRPr lang="en-US" sz="1200" dirty="0"/>
          </a:p>
        </p:txBody>
      </p:sp>
      <p:sp>
        <p:nvSpPr>
          <p:cNvPr id="20" name="Text 18"/>
          <p:cNvSpPr/>
          <p:nvPr/>
        </p:nvSpPr>
        <p:spPr>
          <a:xfrm>
            <a:off x="347472" y="3383280"/>
            <a:ext cx="2606040" cy="1536192"/>
          </a:xfrm>
          <a:prstGeom prst="rect">
            <a:avLst/>
          </a:prstGeom>
          <a:noFill/>
          <a:ln/>
        </p:spPr>
        <p:txBody>
          <a:bodyPr wrap="square" rtlCol="0" anchor="ctr"/>
          <a:lstStyle/>
          <a:p>
            <a:pPr indent="0" marL="0">
              <a:buNone/>
            </a:pPr>
            <a:r>
              <a:rPr lang="en-US" sz="1050" dirty="0">
                <a:solidFill>
                  <a:srgbClr val="1A1A1A"/>
                </a:solidFill>
                <a:latin typeface="Calibri" pitchFamily="34" charset="0"/>
                <a:ea typeface="Calibri" pitchFamily="34" charset="-122"/>
                <a:cs typeface="Calibri" pitchFamily="34" charset="-120"/>
              </a:rPr>
              <a:t>Gtp, ALT, AST all respond to both tobacco and alcohol. No alcohol variable in dataset. Heavy drinkers receive elevated smoking probability regardless of actual smoking status.</a:t>
            </a:r>
            <a:endParaRPr lang="en-US" sz="1050" dirty="0"/>
          </a:p>
        </p:txBody>
      </p:sp>
      <p:sp>
        <p:nvSpPr>
          <p:cNvPr id="21" name="Shape 19"/>
          <p:cNvSpPr/>
          <p:nvPr/>
        </p:nvSpPr>
        <p:spPr>
          <a:xfrm>
            <a:off x="3200400" y="2926080"/>
            <a:ext cx="2743200" cy="2084832"/>
          </a:xfrm>
          <a:prstGeom prst="rect">
            <a:avLst/>
          </a:prstGeom>
          <a:solidFill>
            <a:srgbClr val="FFFFFF"/>
          </a:solidFill>
          <a:ln w="12700">
            <a:solidFill>
              <a:srgbClr val="E8ECF0"/>
            </a:solidFill>
            <a:prstDash val="solid"/>
          </a:ln>
          <a:effectLst>
            <a:outerShdw sx="100000" sy="100000" kx="0" ky="0" algn="bl" rotWithShape="0" blurRad="50800" dist="25400" dir="8100000">
              <a:srgbClr val="000000">
                <a:alpha val="10000"/>
              </a:srgbClr>
            </a:outerShdw>
          </a:effectLst>
        </p:spPr>
      </p:sp>
      <p:sp>
        <p:nvSpPr>
          <p:cNvPr id="22" name="Shape 20"/>
          <p:cNvSpPr/>
          <p:nvPr/>
        </p:nvSpPr>
        <p:spPr>
          <a:xfrm>
            <a:off x="3200400" y="2926080"/>
            <a:ext cx="2743200" cy="384048"/>
          </a:xfrm>
          <a:prstGeom prst="rect">
            <a:avLst/>
          </a:prstGeom>
          <a:solidFill>
            <a:srgbClr val="13294B"/>
          </a:solidFill>
          <a:ln w="12700">
            <a:solidFill>
              <a:srgbClr val="13294B"/>
            </a:solidFill>
            <a:prstDash val="solid"/>
          </a:ln>
        </p:spPr>
      </p:sp>
      <p:sp>
        <p:nvSpPr>
          <p:cNvPr id="23" name="Text 21"/>
          <p:cNvSpPr/>
          <p:nvPr/>
        </p:nvSpPr>
        <p:spPr>
          <a:xfrm>
            <a:off x="3291840" y="2926080"/>
            <a:ext cx="2651760"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Ex-Smoker Misclassification</a:t>
            </a:r>
            <a:endParaRPr lang="en-US" sz="1200" dirty="0"/>
          </a:p>
        </p:txBody>
      </p:sp>
      <p:sp>
        <p:nvSpPr>
          <p:cNvPr id="24" name="Text 22"/>
          <p:cNvSpPr/>
          <p:nvPr/>
        </p:nvSpPr>
        <p:spPr>
          <a:xfrm>
            <a:off x="3291840" y="3383280"/>
            <a:ext cx="2606040" cy="1536192"/>
          </a:xfrm>
          <a:prstGeom prst="rect">
            <a:avLst/>
          </a:prstGeom>
          <a:noFill/>
          <a:ln/>
        </p:spPr>
        <p:txBody>
          <a:bodyPr wrap="square" rtlCol="0" anchor="ctr"/>
          <a:lstStyle/>
          <a:p>
            <a:pPr indent="0" marL="0">
              <a:buNone/>
            </a:pPr>
            <a:r>
              <a:rPr lang="en-US" sz="1050" dirty="0">
                <a:solidFill>
                  <a:srgbClr val="1A1A1A"/>
                </a:solidFill>
                <a:latin typeface="Calibri" pitchFamily="34" charset="0"/>
                <a:ea typeface="Calibri" pitchFamily="34" charset="-122"/>
                <a:cs typeface="Calibri" pitchFamily="34" charset="-120"/>
              </a:rPr>
              <a:t>Hemoglobin normalizes slowly post-cessation; triglyceride effects persist years. A recent quitter gets falsely classified as a current smoker with elevated confidence.</a:t>
            </a:r>
            <a:endParaRPr lang="en-US" sz="1050" dirty="0"/>
          </a:p>
        </p:txBody>
      </p:sp>
      <p:sp>
        <p:nvSpPr>
          <p:cNvPr id="25" name="Shape 23"/>
          <p:cNvSpPr/>
          <p:nvPr/>
        </p:nvSpPr>
        <p:spPr>
          <a:xfrm>
            <a:off x="6144768" y="2926080"/>
            <a:ext cx="2743200" cy="2084832"/>
          </a:xfrm>
          <a:prstGeom prst="rect">
            <a:avLst/>
          </a:prstGeom>
          <a:solidFill>
            <a:srgbClr val="FFFFFF"/>
          </a:solidFill>
          <a:ln w="12700">
            <a:solidFill>
              <a:srgbClr val="E8ECF0"/>
            </a:solidFill>
            <a:prstDash val="solid"/>
          </a:ln>
          <a:effectLst>
            <a:outerShdw sx="100000" sy="100000" kx="0" ky="0" algn="bl" rotWithShape="0" blurRad="50800" dist="25400" dir="8100000">
              <a:srgbClr val="000000">
                <a:alpha val="10000"/>
              </a:srgbClr>
            </a:outerShdw>
          </a:effectLst>
        </p:spPr>
      </p:sp>
      <p:sp>
        <p:nvSpPr>
          <p:cNvPr id="26" name="Shape 24"/>
          <p:cNvSpPr/>
          <p:nvPr/>
        </p:nvSpPr>
        <p:spPr>
          <a:xfrm>
            <a:off x="6144768" y="2926080"/>
            <a:ext cx="2743200" cy="384048"/>
          </a:xfrm>
          <a:prstGeom prst="rect">
            <a:avLst/>
          </a:prstGeom>
          <a:solidFill>
            <a:srgbClr val="4B9CD3"/>
          </a:solidFill>
          <a:ln w="12700">
            <a:solidFill>
              <a:srgbClr val="4B9CD3"/>
            </a:solidFill>
            <a:prstDash val="solid"/>
          </a:ln>
        </p:spPr>
      </p:sp>
      <p:sp>
        <p:nvSpPr>
          <p:cNvPr id="27" name="Text 25"/>
          <p:cNvSpPr/>
          <p:nvPr/>
        </p:nvSpPr>
        <p:spPr>
          <a:xfrm>
            <a:off x="6236208" y="2926080"/>
            <a:ext cx="2651760"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Age &amp; LassoCV Artifacts</a:t>
            </a:r>
            <a:endParaRPr lang="en-US" sz="1200" dirty="0"/>
          </a:p>
        </p:txBody>
      </p:sp>
      <p:sp>
        <p:nvSpPr>
          <p:cNvPr id="28" name="Text 26"/>
          <p:cNvSpPr/>
          <p:nvPr/>
        </p:nvSpPr>
        <p:spPr>
          <a:xfrm>
            <a:off x="6236208" y="3383280"/>
            <a:ext cx="2606040" cy="1536192"/>
          </a:xfrm>
          <a:prstGeom prst="rect">
            <a:avLst/>
          </a:prstGeom>
          <a:noFill/>
          <a:ln/>
        </p:spPr>
        <p:txBody>
          <a:bodyPr wrap="square" rtlCol="0" anchor="ctr"/>
          <a:lstStyle/>
          <a:p>
            <a:pPr indent="0" marL="0">
              <a:buNone/>
            </a:pPr>
            <a:r>
              <a:rPr lang="en-US" sz="1050" dirty="0">
                <a:solidFill>
                  <a:srgbClr val="1A1A1A"/>
                </a:solidFill>
                <a:latin typeface="Calibri" pitchFamily="34" charset="0"/>
                <a:ea typeface="Calibri" pitchFamily="34" charset="-122"/>
                <a:cs typeface="Calibri" pitchFamily="34" charset="-120"/>
              </a:rPr>
              <a:t>Age 40 = 35.9% of data — predictions at &lt;30 or &gt;60 are undertrained. LassoCV feature selection is sklearn-version sensitive — pinning the version in requirements.txt is needed.</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294B"/>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4B9CD3"/>
          </a:solidFill>
          <a:ln w="12700">
            <a:solidFill>
              <a:srgbClr val="4B9CD3"/>
            </a:solidFill>
            <a:prstDash val="solid"/>
          </a:ln>
        </p:spPr>
      </p:sp>
      <p:sp>
        <p:nvSpPr>
          <p:cNvPr id="3" name="Shape 1"/>
          <p:cNvSpPr/>
          <p:nvPr/>
        </p:nvSpPr>
        <p:spPr>
          <a:xfrm>
            <a:off x="7406640" y="201168"/>
            <a:ext cx="1508760" cy="475488"/>
          </a:xfrm>
          <a:prstGeom prst="rect">
            <a:avLst/>
          </a:prstGeom>
          <a:solidFill>
            <a:srgbClr val="4B9CD3"/>
          </a:solidFill>
          <a:ln w="12700">
            <a:solidFill>
              <a:srgbClr val="4B9CD3"/>
            </a:solidFill>
            <a:prstDash val="solid"/>
          </a:ln>
        </p:spPr>
      </p:sp>
      <p:sp>
        <p:nvSpPr>
          <p:cNvPr id="4" name="Text 2"/>
          <p:cNvSpPr/>
          <p:nvPr/>
        </p:nvSpPr>
        <p:spPr>
          <a:xfrm>
            <a:off x="7406640" y="201168"/>
            <a:ext cx="1508760" cy="47548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UNC Chapel Hill</a:t>
            </a:r>
            <a:endParaRPr lang="en-US" sz="1100" dirty="0"/>
          </a:p>
        </p:txBody>
      </p:sp>
      <p:sp>
        <p:nvSpPr>
          <p:cNvPr id="5" name="Text 3"/>
          <p:cNvSpPr/>
          <p:nvPr/>
        </p:nvSpPr>
        <p:spPr>
          <a:xfrm>
            <a:off x="411480" y="228600"/>
            <a:ext cx="6858000" cy="59436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Conclusions &amp; Next Steps</a:t>
            </a:r>
            <a:endParaRPr lang="en-US" sz="2600" dirty="0"/>
          </a:p>
        </p:txBody>
      </p:sp>
      <p:sp>
        <p:nvSpPr>
          <p:cNvPr id="6" name="Text 4"/>
          <p:cNvSpPr/>
          <p:nvPr/>
        </p:nvSpPr>
        <p:spPr>
          <a:xfrm>
            <a:off x="411480" y="914400"/>
            <a:ext cx="4206240" cy="292608"/>
          </a:xfrm>
          <a:prstGeom prst="rect">
            <a:avLst/>
          </a:prstGeom>
          <a:noFill/>
          <a:ln/>
        </p:spPr>
        <p:txBody>
          <a:bodyPr wrap="square" rtlCol="0" anchor="ctr"/>
          <a:lstStyle/>
          <a:p>
            <a:pPr indent="0" marL="0">
              <a:buNone/>
            </a:pPr>
            <a:r>
              <a:rPr lang="en-US" sz="1300" b="1" dirty="0">
                <a:solidFill>
                  <a:srgbClr val="9BC4E2"/>
                </a:solidFill>
                <a:latin typeface="Calibri" pitchFamily="34" charset="0"/>
                <a:ea typeface="Calibri" pitchFamily="34" charset="-122"/>
                <a:cs typeface="Calibri" pitchFamily="34" charset="-120"/>
              </a:rPr>
              <a:t>Key Findings</a:t>
            </a:r>
            <a:endParaRPr lang="en-US" sz="1300" dirty="0"/>
          </a:p>
        </p:txBody>
      </p:sp>
      <p:sp>
        <p:nvSpPr>
          <p:cNvPr id="7" name="Shape 5"/>
          <p:cNvSpPr/>
          <p:nvPr/>
        </p:nvSpPr>
        <p:spPr>
          <a:xfrm>
            <a:off x="411480" y="1353312"/>
            <a:ext cx="347472" cy="347472"/>
          </a:xfrm>
          <a:prstGeom prst="rect">
            <a:avLst/>
          </a:prstGeom>
          <a:solidFill>
            <a:srgbClr val="4B9CD3"/>
          </a:solidFill>
          <a:ln w="12700">
            <a:solidFill>
              <a:srgbClr val="4B9CD3"/>
            </a:solidFill>
            <a:prstDash val="solid"/>
          </a:ln>
        </p:spPr>
      </p:sp>
      <p:sp>
        <p:nvSpPr>
          <p:cNvPr id="8" name="Text 6"/>
          <p:cNvSpPr/>
          <p:nvPr/>
        </p:nvSpPr>
        <p:spPr>
          <a:xfrm>
            <a:off x="411480" y="1353312"/>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896112" y="1261872"/>
            <a:ext cx="3749040" cy="777240"/>
          </a:xfrm>
          <a:prstGeom prst="rect">
            <a:avLst/>
          </a:prstGeom>
          <a:noFill/>
          <a:ln/>
        </p:spPr>
        <p:txBody>
          <a:bodyPr wrap="square" rtlCol="0" anchor="ctr"/>
          <a:lstStyle/>
          <a:p>
            <a:pPr indent="0" marL="0">
              <a:buNone/>
            </a:pPr>
            <a:r>
              <a:rPr lang="en-US" sz="1200" dirty="0">
                <a:solidFill>
                  <a:srgbClr val="D6EAF8"/>
                </a:solidFill>
                <a:latin typeface="Calibri" pitchFamily="34" charset="0"/>
                <a:ea typeface="Calibri" pitchFamily="34" charset="-122"/>
                <a:cs typeface="Calibri" pitchFamily="34" charset="-120"/>
              </a:rPr>
              <a:t>Routine lab work alone achieves AUC 0.8887 — no self-report required.</a:t>
            </a:r>
            <a:endParaRPr lang="en-US" sz="1200" dirty="0"/>
          </a:p>
        </p:txBody>
      </p:sp>
      <p:sp>
        <p:nvSpPr>
          <p:cNvPr id="10" name="Shape 8"/>
          <p:cNvSpPr/>
          <p:nvPr/>
        </p:nvSpPr>
        <p:spPr>
          <a:xfrm>
            <a:off x="411480" y="2240280"/>
            <a:ext cx="347472" cy="347472"/>
          </a:xfrm>
          <a:prstGeom prst="rect">
            <a:avLst/>
          </a:prstGeom>
          <a:solidFill>
            <a:srgbClr val="4B9CD3"/>
          </a:solidFill>
          <a:ln w="12700">
            <a:solidFill>
              <a:srgbClr val="4B9CD3"/>
            </a:solidFill>
            <a:prstDash val="solid"/>
          </a:ln>
        </p:spPr>
      </p:sp>
      <p:sp>
        <p:nvSpPr>
          <p:cNvPr id="11" name="Text 9"/>
          <p:cNvSpPr/>
          <p:nvPr/>
        </p:nvSpPr>
        <p:spPr>
          <a:xfrm>
            <a:off x="411480" y="2240280"/>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896112" y="2148840"/>
            <a:ext cx="3749040" cy="777240"/>
          </a:xfrm>
          <a:prstGeom prst="rect">
            <a:avLst/>
          </a:prstGeom>
          <a:noFill/>
          <a:ln/>
        </p:spPr>
        <p:txBody>
          <a:bodyPr wrap="square" rtlCol="0" anchor="ctr"/>
          <a:lstStyle/>
          <a:p>
            <a:pPr indent="0" marL="0">
              <a:buNone/>
            </a:pPr>
            <a:r>
              <a:rPr lang="en-US" sz="1200" dirty="0">
                <a:solidFill>
                  <a:srgbClr val="D6EAF8"/>
                </a:solidFill>
                <a:latin typeface="Calibri" pitchFamily="34" charset="0"/>
                <a:ea typeface="Calibri" pitchFamily="34" charset="-122"/>
                <a:cs typeface="Calibri" pitchFamily="34" charset="-120"/>
              </a:rPr>
              <a:t>Hemoglobin dominates (Gini 0.41): smoking → carboxyhgb → erythropoietin → polycythemia. Confirmed across three NEJM-level studies.</a:t>
            </a:r>
            <a:endParaRPr lang="en-US" sz="1200" dirty="0"/>
          </a:p>
        </p:txBody>
      </p:sp>
      <p:sp>
        <p:nvSpPr>
          <p:cNvPr id="13" name="Shape 11"/>
          <p:cNvSpPr/>
          <p:nvPr/>
        </p:nvSpPr>
        <p:spPr>
          <a:xfrm>
            <a:off x="411480" y="3127248"/>
            <a:ext cx="347472" cy="347472"/>
          </a:xfrm>
          <a:prstGeom prst="rect">
            <a:avLst/>
          </a:prstGeom>
          <a:solidFill>
            <a:srgbClr val="4B9CD3"/>
          </a:solidFill>
          <a:ln w="12700">
            <a:solidFill>
              <a:srgbClr val="4B9CD3"/>
            </a:solidFill>
            <a:prstDash val="solid"/>
          </a:ln>
        </p:spPr>
      </p:sp>
      <p:sp>
        <p:nvSpPr>
          <p:cNvPr id="14" name="Text 12"/>
          <p:cNvSpPr/>
          <p:nvPr/>
        </p:nvSpPr>
        <p:spPr>
          <a:xfrm>
            <a:off x="411480" y="3127248"/>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896112" y="3035808"/>
            <a:ext cx="3749040" cy="777240"/>
          </a:xfrm>
          <a:prstGeom prst="rect">
            <a:avLst/>
          </a:prstGeom>
          <a:noFill/>
          <a:ln/>
        </p:spPr>
        <p:txBody>
          <a:bodyPr wrap="square" rtlCol="0" anchor="ctr"/>
          <a:lstStyle/>
          <a:p>
            <a:pPr indent="0" marL="0">
              <a:buNone/>
            </a:pPr>
            <a:r>
              <a:rPr lang="en-US" sz="1200" dirty="0">
                <a:solidFill>
                  <a:srgbClr val="D6EAF8"/>
                </a:solidFill>
                <a:latin typeface="Calibri" pitchFamily="34" charset="0"/>
                <a:ea typeface="Calibri" pitchFamily="34" charset="-122"/>
                <a:cs typeface="Calibri" pitchFamily="34" charset="-120"/>
              </a:rPr>
              <a:t>At threshold 0.35, recall exceeds 0.85 — viable for population screening deployment.</a:t>
            </a:r>
            <a:endParaRPr lang="en-US" sz="1200" dirty="0"/>
          </a:p>
        </p:txBody>
      </p:sp>
      <p:sp>
        <p:nvSpPr>
          <p:cNvPr id="16" name="Shape 14"/>
          <p:cNvSpPr/>
          <p:nvPr/>
        </p:nvSpPr>
        <p:spPr>
          <a:xfrm>
            <a:off x="411480" y="4014216"/>
            <a:ext cx="347472" cy="347472"/>
          </a:xfrm>
          <a:prstGeom prst="rect">
            <a:avLst/>
          </a:prstGeom>
          <a:solidFill>
            <a:srgbClr val="4B9CD3"/>
          </a:solidFill>
          <a:ln w="12700">
            <a:solidFill>
              <a:srgbClr val="4B9CD3"/>
            </a:solidFill>
            <a:prstDash val="solid"/>
          </a:ln>
        </p:spPr>
      </p:sp>
      <p:sp>
        <p:nvSpPr>
          <p:cNvPr id="17" name="Text 15"/>
          <p:cNvSpPr/>
          <p:nvPr/>
        </p:nvSpPr>
        <p:spPr>
          <a:xfrm>
            <a:off x="411480" y="4014216"/>
            <a:ext cx="347472"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896112" y="3922776"/>
            <a:ext cx="3749040" cy="777240"/>
          </a:xfrm>
          <a:prstGeom prst="rect">
            <a:avLst/>
          </a:prstGeom>
          <a:noFill/>
          <a:ln/>
        </p:spPr>
        <p:txBody>
          <a:bodyPr wrap="square" rtlCol="0" anchor="ctr"/>
          <a:lstStyle/>
          <a:p>
            <a:pPr indent="0" marL="0">
              <a:buNone/>
            </a:pPr>
            <a:r>
              <a:rPr lang="en-US" sz="1200" dirty="0">
                <a:solidFill>
                  <a:srgbClr val="D6EAF8"/>
                </a:solidFill>
                <a:latin typeface="Calibri" pitchFamily="34" charset="0"/>
                <a:ea typeface="Calibri" pitchFamily="34" charset="-122"/>
                <a:cs typeface="Calibri" pitchFamily="34" charset="-120"/>
              </a:rPr>
              <a:t>Algorithm choice is not the limiting factor. All three families cluster within 0.01 AUC.</a:t>
            </a:r>
            <a:endParaRPr lang="en-US" sz="1200" dirty="0"/>
          </a:p>
        </p:txBody>
      </p:sp>
      <p:sp>
        <p:nvSpPr>
          <p:cNvPr id="19" name="Shape 17"/>
          <p:cNvSpPr/>
          <p:nvPr/>
        </p:nvSpPr>
        <p:spPr>
          <a:xfrm>
            <a:off x="4892040" y="914400"/>
            <a:ext cx="3931920" cy="292608"/>
          </a:xfrm>
          <a:prstGeom prst="rect">
            <a:avLst/>
          </a:prstGeom>
          <a:solidFill>
            <a:srgbClr val="4B9CD3"/>
          </a:solidFill>
          <a:ln w="12700">
            <a:solidFill>
              <a:srgbClr val="4B9CD3"/>
            </a:solidFill>
            <a:prstDash val="solid"/>
          </a:ln>
        </p:spPr>
      </p:sp>
      <p:sp>
        <p:nvSpPr>
          <p:cNvPr id="20" name="Text 18"/>
          <p:cNvSpPr/>
          <p:nvPr/>
        </p:nvSpPr>
        <p:spPr>
          <a:xfrm>
            <a:off x="4892040" y="914400"/>
            <a:ext cx="39319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Next Steps to Break 0.90 AUC</a:t>
            </a:r>
            <a:endParaRPr lang="en-US" sz="1200" dirty="0"/>
          </a:p>
        </p:txBody>
      </p:sp>
      <p:sp>
        <p:nvSpPr>
          <p:cNvPr id="21" name="Shape 19"/>
          <p:cNvSpPr/>
          <p:nvPr/>
        </p:nvSpPr>
        <p:spPr>
          <a:xfrm>
            <a:off x="4892040" y="1298448"/>
            <a:ext cx="3931920" cy="530352"/>
          </a:xfrm>
          <a:prstGeom prst="rect">
            <a:avLst/>
          </a:prstGeom>
          <a:solidFill>
            <a:srgbClr val="1A3A5C"/>
          </a:solidFill>
          <a:ln w="12700">
            <a:solidFill>
              <a:srgbClr val="1A3A5C"/>
            </a:solidFill>
            <a:prstDash val="solid"/>
          </a:ln>
        </p:spPr>
      </p:sp>
      <p:sp>
        <p:nvSpPr>
          <p:cNvPr id="22" name="Shape 20"/>
          <p:cNvSpPr/>
          <p:nvPr/>
        </p:nvSpPr>
        <p:spPr>
          <a:xfrm>
            <a:off x="4892040" y="1298448"/>
            <a:ext cx="1005840" cy="530352"/>
          </a:xfrm>
          <a:prstGeom prst="rect">
            <a:avLst/>
          </a:prstGeom>
          <a:solidFill>
            <a:srgbClr val="4B9CD3"/>
          </a:solidFill>
          <a:ln w="12700">
            <a:solidFill>
              <a:srgbClr val="4B9CD3"/>
            </a:solidFill>
            <a:prstDash val="solid"/>
          </a:ln>
        </p:spPr>
      </p:sp>
      <p:sp>
        <p:nvSpPr>
          <p:cNvPr id="23" name="Text 21"/>
          <p:cNvSpPr/>
          <p:nvPr/>
        </p:nvSpPr>
        <p:spPr>
          <a:xfrm>
            <a:off x="4892040" y="1298448"/>
            <a:ext cx="1005840" cy="53035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159K dataset</a:t>
            </a:r>
            <a:endParaRPr lang="en-US" sz="1000" dirty="0"/>
          </a:p>
        </p:txBody>
      </p:sp>
      <p:sp>
        <p:nvSpPr>
          <p:cNvPr id="24" name="Text 22"/>
          <p:cNvSpPr/>
          <p:nvPr/>
        </p:nvSpPr>
        <p:spPr>
          <a:xfrm>
            <a:off x="5989320" y="1298448"/>
            <a:ext cx="2788920" cy="530352"/>
          </a:xfrm>
          <a:prstGeom prst="rect">
            <a:avLst/>
          </a:prstGeom>
          <a:noFill/>
          <a:ln/>
        </p:spPr>
        <p:txBody>
          <a:bodyPr wrap="square" rtlCol="0" anchor="ctr"/>
          <a:lstStyle/>
          <a:p>
            <a:pPr indent="0" marL="0">
              <a:buNone/>
            </a:pPr>
            <a:r>
              <a:rPr lang="en-US" sz="1050" dirty="0">
                <a:solidFill>
                  <a:srgbClr val="D6EAF8"/>
                </a:solidFill>
                <a:latin typeface="Calibri" pitchFamily="34" charset="0"/>
                <a:ea typeface="Calibri" pitchFamily="34" charset="-122"/>
                <a:cs typeface="Calibri" pitchFamily="34" charset="-120"/>
              </a:rPr>
              <a:t>Full Bio-Signals data → +0.015–0.030 AUC (10× scaling)</a:t>
            </a:r>
            <a:endParaRPr lang="en-US" sz="1050" dirty="0"/>
          </a:p>
        </p:txBody>
      </p:sp>
      <p:sp>
        <p:nvSpPr>
          <p:cNvPr id="25" name="Shape 23"/>
          <p:cNvSpPr/>
          <p:nvPr/>
        </p:nvSpPr>
        <p:spPr>
          <a:xfrm>
            <a:off x="4892040" y="1911096"/>
            <a:ext cx="3931920" cy="530352"/>
          </a:xfrm>
          <a:prstGeom prst="rect">
            <a:avLst/>
          </a:prstGeom>
          <a:solidFill>
            <a:srgbClr val="1A3A5C"/>
          </a:solidFill>
          <a:ln w="12700">
            <a:solidFill>
              <a:srgbClr val="1A3A5C"/>
            </a:solidFill>
            <a:prstDash val="solid"/>
          </a:ln>
        </p:spPr>
      </p:sp>
      <p:sp>
        <p:nvSpPr>
          <p:cNvPr id="26" name="Shape 24"/>
          <p:cNvSpPr/>
          <p:nvPr/>
        </p:nvSpPr>
        <p:spPr>
          <a:xfrm>
            <a:off x="4892040" y="1911096"/>
            <a:ext cx="1005840" cy="530352"/>
          </a:xfrm>
          <a:prstGeom prst="rect">
            <a:avLst/>
          </a:prstGeom>
          <a:solidFill>
            <a:srgbClr val="4B9CD3"/>
          </a:solidFill>
          <a:ln w="12700">
            <a:solidFill>
              <a:srgbClr val="4B9CD3"/>
            </a:solidFill>
            <a:prstDash val="solid"/>
          </a:ln>
        </p:spPr>
      </p:sp>
      <p:sp>
        <p:nvSpPr>
          <p:cNvPr id="27" name="Text 25"/>
          <p:cNvSpPr/>
          <p:nvPr/>
        </p:nvSpPr>
        <p:spPr>
          <a:xfrm>
            <a:off x="4892040" y="1911096"/>
            <a:ext cx="1005840" cy="53035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XGB + LightGBM</a:t>
            </a:r>
            <a:endParaRPr lang="en-US" sz="1000" dirty="0"/>
          </a:p>
        </p:txBody>
      </p:sp>
      <p:sp>
        <p:nvSpPr>
          <p:cNvPr id="28" name="Text 26"/>
          <p:cNvSpPr/>
          <p:nvPr/>
        </p:nvSpPr>
        <p:spPr>
          <a:xfrm>
            <a:off x="5989320" y="1911096"/>
            <a:ext cx="2788920" cy="530352"/>
          </a:xfrm>
          <a:prstGeom prst="rect">
            <a:avLst/>
          </a:prstGeom>
          <a:noFill/>
          <a:ln/>
        </p:spPr>
        <p:txBody>
          <a:bodyPr wrap="square" rtlCol="0" anchor="ctr"/>
          <a:lstStyle/>
          <a:p>
            <a:pPr indent="0" marL="0">
              <a:buNone/>
            </a:pPr>
            <a:r>
              <a:rPr lang="en-US" sz="1050" dirty="0">
                <a:solidFill>
                  <a:srgbClr val="D6EAF8"/>
                </a:solidFill>
                <a:latin typeface="Calibri" pitchFamily="34" charset="0"/>
                <a:ea typeface="Calibri" pitchFamily="34" charset="-122"/>
                <a:cs typeface="Calibri" pitchFamily="34" charset="-120"/>
              </a:rPr>
              <a:t>Stacked ensemble with LR meta-learner</a:t>
            </a:r>
            <a:endParaRPr lang="en-US" sz="1050" dirty="0"/>
          </a:p>
        </p:txBody>
      </p:sp>
      <p:sp>
        <p:nvSpPr>
          <p:cNvPr id="29" name="Shape 27"/>
          <p:cNvSpPr/>
          <p:nvPr/>
        </p:nvSpPr>
        <p:spPr>
          <a:xfrm>
            <a:off x="4892040" y="2523744"/>
            <a:ext cx="3931920" cy="530352"/>
          </a:xfrm>
          <a:prstGeom prst="rect">
            <a:avLst/>
          </a:prstGeom>
          <a:solidFill>
            <a:srgbClr val="1A3A5C"/>
          </a:solidFill>
          <a:ln w="12700">
            <a:solidFill>
              <a:srgbClr val="1A3A5C"/>
            </a:solidFill>
            <a:prstDash val="solid"/>
          </a:ln>
        </p:spPr>
      </p:sp>
      <p:sp>
        <p:nvSpPr>
          <p:cNvPr id="30" name="Shape 28"/>
          <p:cNvSpPr/>
          <p:nvPr/>
        </p:nvSpPr>
        <p:spPr>
          <a:xfrm>
            <a:off x="4892040" y="2523744"/>
            <a:ext cx="1005840" cy="530352"/>
          </a:xfrm>
          <a:prstGeom prst="rect">
            <a:avLst/>
          </a:prstGeom>
          <a:solidFill>
            <a:srgbClr val="4B9CD3"/>
          </a:solidFill>
          <a:ln w="12700">
            <a:solidFill>
              <a:srgbClr val="4B9CD3"/>
            </a:solidFill>
            <a:prstDash val="solid"/>
          </a:ln>
        </p:spPr>
      </p:sp>
      <p:sp>
        <p:nvSpPr>
          <p:cNvPr id="31" name="Text 29"/>
          <p:cNvSpPr/>
          <p:nvPr/>
        </p:nvSpPr>
        <p:spPr>
          <a:xfrm>
            <a:off x="4892040" y="2523744"/>
            <a:ext cx="1005840" cy="53035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SHAP values</a:t>
            </a:r>
            <a:endParaRPr lang="en-US" sz="1000" dirty="0"/>
          </a:p>
        </p:txBody>
      </p:sp>
      <p:sp>
        <p:nvSpPr>
          <p:cNvPr id="32" name="Text 30"/>
          <p:cNvSpPr/>
          <p:nvPr/>
        </p:nvSpPr>
        <p:spPr>
          <a:xfrm>
            <a:off x="5989320" y="2523744"/>
            <a:ext cx="2788920" cy="530352"/>
          </a:xfrm>
          <a:prstGeom prst="rect">
            <a:avLst/>
          </a:prstGeom>
          <a:noFill/>
          <a:ln/>
        </p:spPr>
        <p:txBody>
          <a:bodyPr wrap="square" rtlCol="0" anchor="ctr"/>
          <a:lstStyle/>
          <a:p>
            <a:pPr indent="0" marL="0">
              <a:buNone/>
            </a:pPr>
            <a:r>
              <a:rPr lang="en-US" sz="1050" dirty="0">
                <a:solidFill>
                  <a:srgbClr val="D6EAF8"/>
                </a:solidFill>
                <a:latin typeface="Calibri" pitchFamily="34" charset="0"/>
                <a:ea typeface="Calibri" pitchFamily="34" charset="-122"/>
                <a:cs typeface="Calibri" pitchFamily="34" charset="-120"/>
              </a:rPr>
              <a:t>Replace Gini MDI with model-agnostic attribution</a:t>
            </a:r>
            <a:endParaRPr lang="en-US" sz="1050" dirty="0"/>
          </a:p>
        </p:txBody>
      </p:sp>
      <p:sp>
        <p:nvSpPr>
          <p:cNvPr id="33" name="Shape 31"/>
          <p:cNvSpPr/>
          <p:nvPr/>
        </p:nvSpPr>
        <p:spPr>
          <a:xfrm>
            <a:off x="4892040" y="3136392"/>
            <a:ext cx="3931920" cy="530352"/>
          </a:xfrm>
          <a:prstGeom prst="rect">
            <a:avLst/>
          </a:prstGeom>
          <a:solidFill>
            <a:srgbClr val="1A3A5C"/>
          </a:solidFill>
          <a:ln w="12700">
            <a:solidFill>
              <a:srgbClr val="1A3A5C"/>
            </a:solidFill>
            <a:prstDash val="solid"/>
          </a:ln>
        </p:spPr>
      </p:sp>
      <p:sp>
        <p:nvSpPr>
          <p:cNvPr id="34" name="Shape 32"/>
          <p:cNvSpPr/>
          <p:nvPr/>
        </p:nvSpPr>
        <p:spPr>
          <a:xfrm>
            <a:off x="4892040" y="3136392"/>
            <a:ext cx="1005840" cy="530352"/>
          </a:xfrm>
          <a:prstGeom prst="rect">
            <a:avLst/>
          </a:prstGeom>
          <a:solidFill>
            <a:srgbClr val="4B9CD3"/>
          </a:solidFill>
          <a:ln w="12700">
            <a:solidFill>
              <a:srgbClr val="4B9CD3"/>
            </a:solidFill>
            <a:prstDash val="solid"/>
          </a:ln>
        </p:spPr>
      </p:sp>
      <p:sp>
        <p:nvSpPr>
          <p:cNvPr id="35" name="Text 33"/>
          <p:cNvSpPr/>
          <p:nvPr/>
        </p:nvSpPr>
        <p:spPr>
          <a:xfrm>
            <a:off x="4892040" y="3136392"/>
            <a:ext cx="1005840" cy="53035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Add sex field</a:t>
            </a:r>
            <a:endParaRPr lang="en-US" sz="1000" dirty="0"/>
          </a:p>
        </p:txBody>
      </p:sp>
      <p:sp>
        <p:nvSpPr>
          <p:cNvPr id="36" name="Text 34"/>
          <p:cNvSpPr/>
          <p:nvPr/>
        </p:nvSpPr>
        <p:spPr>
          <a:xfrm>
            <a:off x="5989320" y="3136392"/>
            <a:ext cx="2788920" cy="530352"/>
          </a:xfrm>
          <a:prstGeom prst="rect">
            <a:avLst/>
          </a:prstGeom>
          <a:noFill/>
          <a:ln/>
        </p:spPr>
        <p:txBody>
          <a:bodyPr wrap="square" rtlCol="0" anchor="ctr"/>
          <a:lstStyle/>
          <a:p>
            <a:pPr indent="0" marL="0">
              <a:buNone/>
            </a:pPr>
            <a:r>
              <a:rPr lang="en-US" sz="1050" dirty="0">
                <a:solidFill>
                  <a:srgbClr val="D6EAF8"/>
                </a:solidFill>
                <a:latin typeface="Calibri" pitchFamily="34" charset="0"/>
                <a:ea typeface="Calibri" pitchFamily="34" charset="-122"/>
                <a:cs typeface="Calibri" pitchFamily="34" charset="-120"/>
              </a:rPr>
              <a:t>Disentangle height confound from real anthropometric signal</a:t>
            </a:r>
            <a:endParaRPr lang="en-US" sz="1050" dirty="0"/>
          </a:p>
        </p:txBody>
      </p:sp>
      <p:sp>
        <p:nvSpPr>
          <p:cNvPr id="37" name="Shape 35"/>
          <p:cNvSpPr/>
          <p:nvPr/>
        </p:nvSpPr>
        <p:spPr>
          <a:xfrm>
            <a:off x="4892040" y="3749040"/>
            <a:ext cx="3931920" cy="530352"/>
          </a:xfrm>
          <a:prstGeom prst="rect">
            <a:avLst/>
          </a:prstGeom>
          <a:solidFill>
            <a:srgbClr val="1A3A5C"/>
          </a:solidFill>
          <a:ln w="12700">
            <a:solidFill>
              <a:srgbClr val="1A3A5C"/>
            </a:solidFill>
            <a:prstDash val="solid"/>
          </a:ln>
        </p:spPr>
      </p:sp>
      <p:sp>
        <p:nvSpPr>
          <p:cNvPr id="38" name="Shape 36"/>
          <p:cNvSpPr/>
          <p:nvPr/>
        </p:nvSpPr>
        <p:spPr>
          <a:xfrm>
            <a:off x="4892040" y="3749040"/>
            <a:ext cx="1005840" cy="530352"/>
          </a:xfrm>
          <a:prstGeom prst="rect">
            <a:avLst/>
          </a:prstGeom>
          <a:solidFill>
            <a:srgbClr val="4B9CD3"/>
          </a:solidFill>
          <a:ln w="12700">
            <a:solidFill>
              <a:srgbClr val="4B9CD3"/>
            </a:solidFill>
            <a:prstDash val="solid"/>
          </a:ln>
        </p:spPr>
      </p:sp>
      <p:sp>
        <p:nvSpPr>
          <p:cNvPr id="39" name="Text 37"/>
          <p:cNvSpPr/>
          <p:nvPr/>
        </p:nvSpPr>
        <p:spPr>
          <a:xfrm>
            <a:off x="4892040" y="3749040"/>
            <a:ext cx="1005840" cy="53035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Add alcohol var</a:t>
            </a:r>
            <a:endParaRPr lang="en-US" sz="1000" dirty="0"/>
          </a:p>
        </p:txBody>
      </p:sp>
      <p:sp>
        <p:nvSpPr>
          <p:cNvPr id="40" name="Text 38"/>
          <p:cNvSpPr/>
          <p:nvPr/>
        </p:nvSpPr>
        <p:spPr>
          <a:xfrm>
            <a:off x="5989320" y="3749040"/>
            <a:ext cx="2788920" cy="530352"/>
          </a:xfrm>
          <a:prstGeom prst="rect">
            <a:avLst/>
          </a:prstGeom>
          <a:noFill/>
          <a:ln/>
        </p:spPr>
        <p:txBody>
          <a:bodyPr wrap="square" rtlCol="0" anchor="ctr"/>
          <a:lstStyle/>
          <a:p>
            <a:pPr indent="0" marL="0">
              <a:buNone/>
            </a:pPr>
            <a:r>
              <a:rPr lang="en-US" sz="1050" dirty="0">
                <a:solidFill>
                  <a:srgbClr val="D6EAF8"/>
                </a:solidFill>
                <a:latin typeface="Calibri" pitchFamily="34" charset="0"/>
                <a:ea typeface="Calibri" pitchFamily="34" charset="-122"/>
                <a:cs typeface="Calibri" pitchFamily="34" charset="-120"/>
              </a:rPr>
              <a:t>Isolate tobacco-specific signal in Gtp, ALT, AST</a:t>
            </a:r>
            <a:endParaRPr lang="en-US" sz="1050" dirty="0"/>
          </a:p>
        </p:txBody>
      </p:sp>
      <p:sp>
        <p:nvSpPr>
          <p:cNvPr id="41" name="Shape 39"/>
          <p:cNvSpPr/>
          <p:nvPr/>
        </p:nvSpPr>
        <p:spPr>
          <a:xfrm>
            <a:off x="4892040" y="4361688"/>
            <a:ext cx="3931920" cy="530352"/>
          </a:xfrm>
          <a:prstGeom prst="rect">
            <a:avLst/>
          </a:prstGeom>
          <a:solidFill>
            <a:srgbClr val="1A3A5C"/>
          </a:solidFill>
          <a:ln w="12700">
            <a:solidFill>
              <a:srgbClr val="1A3A5C"/>
            </a:solidFill>
            <a:prstDash val="solid"/>
          </a:ln>
        </p:spPr>
      </p:sp>
      <p:sp>
        <p:nvSpPr>
          <p:cNvPr id="42" name="Shape 40"/>
          <p:cNvSpPr/>
          <p:nvPr/>
        </p:nvSpPr>
        <p:spPr>
          <a:xfrm>
            <a:off x="4892040" y="4361688"/>
            <a:ext cx="1005840" cy="530352"/>
          </a:xfrm>
          <a:prstGeom prst="rect">
            <a:avLst/>
          </a:prstGeom>
          <a:solidFill>
            <a:srgbClr val="4B9CD3"/>
          </a:solidFill>
          <a:ln w="12700">
            <a:solidFill>
              <a:srgbClr val="4B9CD3"/>
            </a:solidFill>
            <a:prstDash val="solid"/>
          </a:ln>
        </p:spPr>
      </p:sp>
      <p:sp>
        <p:nvSpPr>
          <p:cNvPr id="43" name="Text 41"/>
          <p:cNvSpPr/>
          <p:nvPr/>
        </p:nvSpPr>
        <p:spPr>
          <a:xfrm>
            <a:off x="4892040" y="4361688"/>
            <a:ext cx="1005840" cy="53035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Platt scaling</a:t>
            </a:r>
            <a:endParaRPr lang="en-US" sz="1000" dirty="0"/>
          </a:p>
        </p:txBody>
      </p:sp>
      <p:sp>
        <p:nvSpPr>
          <p:cNvPr id="44" name="Text 42"/>
          <p:cNvSpPr/>
          <p:nvPr/>
        </p:nvSpPr>
        <p:spPr>
          <a:xfrm>
            <a:off x="5989320" y="4361688"/>
            <a:ext cx="2788920" cy="530352"/>
          </a:xfrm>
          <a:prstGeom prst="rect">
            <a:avLst/>
          </a:prstGeom>
          <a:noFill/>
          <a:ln/>
        </p:spPr>
        <p:txBody>
          <a:bodyPr wrap="square" rtlCol="0" anchor="ctr"/>
          <a:lstStyle/>
          <a:p>
            <a:pPr indent="0" marL="0">
              <a:buNone/>
            </a:pPr>
            <a:r>
              <a:rPr lang="en-US" sz="1050" dirty="0">
                <a:solidFill>
                  <a:srgbClr val="D6EAF8"/>
                </a:solidFill>
                <a:latin typeface="Calibri" pitchFamily="34" charset="0"/>
                <a:ea typeface="Calibri" pitchFamily="34" charset="-122"/>
                <a:cs typeface="Calibri" pitchFamily="34" charset="-120"/>
              </a:rPr>
              <a:t>Calibrate high-confidence predictions capped at 0.85</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3294B"/>
          </a:solidFill>
          <a:ln w="12700">
            <a:solidFill>
              <a:srgbClr val="13294B"/>
            </a:solidFill>
            <a:prstDash val="solid"/>
          </a:ln>
        </p:spPr>
      </p:sp>
      <p:sp>
        <p:nvSpPr>
          <p:cNvPr id="3" name="Text 1"/>
          <p:cNvSpPr/>
          <p:nvPr/>
        </p:nvSpPr>
        <p:spPr>
          <a:xfrm>
            <a:off x="320040" y="0"/>
            <a:ext cx="8503920" cy="54864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Appendix · Anticipated Q&amp;A — Have Ready During Q&amp;A Period</a:t>
            </a:r>
            <a:endParaRPr lang="en-US" sz="2000" dirty="0"/>
          </a:p>
        </p:txBody>
      </p:sp>
      <p:sp>
        <p:nvSpPr>
          <p:cNvPr id="4" name="Shape 2"/>
          <p:cNvSpPr/>
          <p:nvPr/>
        </p:nvSpPr>
        <p:spPr>
          <a:xfrm>
            <a:off x="0" y="548640"/>
            <a:ext cx="9144000" cy="54864"/>
          </a:xfrm>
          <a:prstGeom prst="rect">
            <a:avLst/>
          </a:prstGeom>
          <a:solidFill>
            <a:srgbClr val="4B9CD3"/>
          </a:solidFill>
          <a:ln w="12700">
            <a:solidFill>
              <a:srgbClr val="4B9CD3"/>
            </a:solidFill>
            <a:prstDash val="solid"/>
          </a:ln>
        </p:spPr>
      </p:sp>
      <p:sp>
        <p:nvSpPr>
          <p:cNvPr id="5" name="Shape 3"/>
          <p:cNvSpPr/>
          <p:nvPr/>
        </p:nvSpPr>
        <p:spPr>
          <a:xfrm>
            <a:off x="274320" y="749808"/>
            <a:ext cx="8631936" cy="950976"/>
          </a:xfrm>
          <a:prstGeom prst="rect">
            <a:avLst/>
          </a:prstGeom>
          <a:solidFill>
            <a:srgbClr val="FFFFFF"/>
          </a:solidFill>
          <a:ln w="12700">
            <a:solidFill>
              <a:srgbClr val="E8ECF0"/>
            </a:solidFill>
            <a:prstDash val="solid"/>
          </a:ln>
          <a:effectLst>
            <a:outerShdw sx="100000" sy="100000" kx="0" ky="0" algn="bl" rotWithShape="0" blurRad="50800" dist="25400" dir="8100000">
              <a:srgbClr val="000000">
                <a:alpha val="10000"/>
              </a:srgbClr>
            </a:outerShdw>
          </a:effectLst>
        </p:spPr>
      </p:sp>
      <p:sp>
        <p:nvSpPr>
          <p:cNvPr id="6" name="Shape 4"/>
          <p:cNvSpPr/>
          <p:nvPr/>
        </p:nvSpPr>
        <p:spPr>
          <a:xfrm>
            <a:off x="274320" y="749808"/>
            <a:ext cx="64008" cy="950976"/>
          </a:xfrm>
          <a:prstGeom prst="rect">
            <a:avLst/>
          </a:prstGeom>
          <a:solidFill>
            <a:srgbClr val="4B9CD3"/>
          </a:solidFill>
          <a:ln w="12700">
            <a:solidFill>
              <a:srgbClr val="4B9CD3"/>
            </a:solidFill>
            <a:prstDash val="solid"/>
          </a:ln>
        </p:spPr>
      </p:sp>
      <p:sp>
        <p:nvSpPr>
          <p:cNvPr id="7" name="Text 5"/>
          <p:cNvSpPr/>
          <p:nvPr/>
        </p:nvSpPr>
        <p:spPr>
          <a:xfrm>
            <a:off x="457200" y="795528"/>
            <a:ext cx="8321040" cy="274320"/>
          </a:xfrm>
          <a:prstGeom prst="rect">
            <a:avLst/>
          </a:prstGeom>
          <a:noFill/>
          <a:ln/>
        </p:spPr>
        <p:txBody>
          <a:bodyPr wrap="square" lIns="0" tIns="0" rIns="0" bIns="0" rtlCol="0" anchor="ctr"/>
          <a:lstStyle/>
          <a:p>
            <a:pPr indent="0" marL="0">
              <a:buNone/>
            </a:pPr>
            <a:r>
              <a:rPr lang="en-US" sz="1150" b="1" dirty="0">
                <a:solidFill>
                  <a:srgbClr val="13294B"/>
                </a:solidFill>
                <a:latin typeface="Calibri" pitchFamily="34" charset="0"/>
                <a:ea typeface="Calibri" pitchFamily="34" charset="-122"/>
                <a:cs typeface="Calibri" pitchFamily="34" charset="-120"/>
              </a:rPr>
              <a:t>Q: Why not just use serum cotinine — the gold-standard biomarker?</a:t>
            </a:r>
            <a:endParaRPr lang="en-US" sz="1150" dirty="0"/>
          </a:p>
        </p:txBody>
      </p:sp>
      <p:sp>
        <p:nvSpPr>
          <p:cNvPr id="8" name="Text 6"/>
          <p:cNvSpPr/>
          <p:nvPr/>
        </p:nvSpPr>
        <p:spPr>
          <a:xfrm>
            <a:off x="457200" y="1106424"/>
            <a:ext cx="8321040" cy="521208"/>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A: Cotinine isn't in this dataset. The project is explicitly constrained to what's already collected in a standard health screening panel. The clinical value of this approach is that it uses what's already there — no additional tests needed.</a:t>
            </a:r>
            <a:endParaRPr lang="en-US" sz="1100" dirty="0"/>
          </a:p>
        </p:txBody>
      </p:sp>
      <p:sp>
        <p:nvSpPr>
          <p:cNvPr id="9" name="Shape 7"/>
          <p:cNvSpPr/>
          <p:nvPr/>
        </p:nvSpPr>
        <p:spPr>
          <a:xfrm>
            <a:off x="274320" y="1819656"/>
            <a:ext cx="8631936" cy="950976"/>
          </a:xfrm>
          <a:prstGeom prst="rect">
            <a:avLst/>
          </a:prstGeom>
          <a:solidFill>
            <a:srgbClr val="FFFFFF"/>
          </a:solidFill>
          <a:ln w="12700">
            <a:solidFill>
              <a:srgbClr val="E8ECF0"/>
            </a:solidFill>
            <a:prstDash val="solid"/>
          </a:ln>
          <a:effectLst>
            <a:outerShdw sx="100000" sy="100000" kx="0" ky="0" algn="bl" rotWithShape="0" blurRad="50800" dist="25400" dir="8100000">
              <a:srgbClr val="000000">
                <a:alpha val="10000"/>
              </a:srgbClr>
            </a:outerShdw>
          </a:effectLst>
        </p:spPr>
      </p:sp>
      <p:sp>
        <p:nvSpPr>
          <p:cNvPr id="10" name="Shape 8"/>
          <p:cNvSpPr/>
          <p:nvPr/>
        </p:nvSpPr>
        <p:spPr>
          <a:xfrm>
            <a:off x="274320" y="1819656"/>
            <a:ext cx="64008" cy="950976"/>
          </a:xfrm>
          <a:prstGeom prst="rect">
            <a:avLst/>
          </a:prstGeom>
          <a:solidFill>
            <a:srgbClr val="4B9CD3"/>
          </a:solidFill>
          <a:ln w="12700">
            <a:solidFill>
              <a:srgbClr val="4B9CD3"/>
            </a:solidFill>
            <a:prstDash val="solid"/>
          </a:ln>
        </p:spPr>
      </p:sp>
      <p:sp>
        <p:nvSpPr>
          <p:cNvPr id="11" name="Text 9"/>
          <p:cNvSpPr/>
          <p:nvPr/>
        </p:nvSpPr>
        <p:spPr>
          <a:xfrm>
            <a:off x="457200" y="1865376"/>
            <a:ext cx="8321040" cy="274320"/>
          </a:xfrm>
          <a:prstGeom prst="rect">
            <a:avLst/>
          </a:prstGeom>
          <a:noFill/>
          <a:ln/>
        </p:spPr>
        <p:txBody>
          <a:bodyPr wrap="square" lIns="0" tIns="0" rIns="0" bIns="0" rtlCol="0" anchor="ctr"/>
          <a:lstStyle/>
          <a:p>
            <a:pPr indent="0" marL="0">
              <a:buNone/>
            </a:pPr>
            <a:r>
              <a:rPr lang="en-US" sz="1150" b="1" dirty="0">
                <a:solidFill>
                  <a:srgbClr val="13294B"/>
                </a:solidFill>
                <a:latin typeface="Calibri" pitchFamily="34" charset="0"/>
                <a:ea typeface="Calibri" pitchFamily="34" charset="-122"/>
                <a:cs typeface="Calibri" pitchFamily="34" charset="-120"/>
              </a:rPr>
              <a:t>Q: Height is doing heavy lifting as a sex proxy — does that break clinical utility?</a:t>
            </a:r>
            <a:endParaRPr lang="en-US" sz="1150" dirty="0"/>
          </a:p>
        </p:txBody>
      </p:sp>
      <p:sp>
        <p:nvSpPr>
          <p:cNvPr id="12" name="Text 10"/>
          <p:cNvSpPr/>
          <p:nvPr/>
        </p:nvSpPr>
        <p:spPr>
          <a:xfrm>
            <a:off x="457200" y="2176272"/>
            <a:ext cx="8321040" cy="521208"/>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A: It's a real limitation. Adding an explicit sex field would likely push height's Gini from 0.196 down substantially and isolate the genuine anthropometric smoking signal. In the current form the model is partially learning a sex-by-smoking joint distribution.</a:t>
            </a:r>
            <a:endParaRPr lang="en-US" sz="1100" dirty="0"/>
          </a:p>
        </p:txBody>
      </p:sp>
      <p:sp>
        <p:nvSpPr>
          <p:cNvPr id="13" name="Shape 11"/>
          <p:cNvSpPr/>
          <p:nvPr/>
        </p:nvSpPr>
        <p:spPr>
          <a:xfrm>
            <a:off x="274320" y="2889504"/>
            <a:ext cx="8631936" cy="950976"/>
          </a:xfrm>
          <a:prstGeom prst="rect">
            <a:avLst/>
          </a:prstGeom>
          <a:solidFill>
            <a:srgbClr val="FFFFFF"/>
          </a:solidFill>
          <a:ln w="12700">
            <a:solidFill>
              <a:srgbClr val="E8ECF0"/>
            </a:solidFill>
            <a:prstDash val="solid"/>
          </a:ln>
          <a:effectLst>
            <a:outerShdw sx="100000" sy="100000" kx="0" ky="0" algn="bl" rotWithShape="0" blurRad="50800" dist="25400" dir="8100000">
              <a:srgbClr val="000000">
                <a:alpha val="10000"/>
              </a:srgbClr>
            </a:outerShdw>
          </a:effectLst>
        </p:spPr>
      </p:sp>
      <p:sp>
        <p:nvSpPr>
          <p:cNvPr id="14" name="Shape 12"/>
          <p:cNvSpPr/>
          <p:nvPr/>
        </p:nvSpPr>
        <p:spPr>
          <a:xfrm>
            <a:off x="274320" y="2889504"/>
            <a:ext cx="64008" cy="950976"/>
          </a:xfrm>
          <a:prstGeom prst="rect">
            <a:avLst/>
          </a:prstGeom>
          <a:solidFill>
            <a:srgbClr val="4B9CD3"/>
          </a:solidFill>
          <a:ln w="12700">
            <a:solidFill>
              <a:srgbClr val="4B9CD3"/>
            </a:solidFill>
            <a:prstDash val="solid"/>
          </a:ln>
        </p:spPr>
      </p:sp>
      <p:sp>
        <p:nvSpPr>
          <p:cNvPr id="15" name="Text 13"/>
          <p:cNvSpPr/>
          <p:nvPr/>
        </p:nvSpPr>
        <p:spPr>
          <a:xfrm>
            <a:off x="457200" y="2935224"/>
            <a:ext cx="8321040" cy="274320"/>
          </a:xfrm>
          <a:prstGeom prst="rect">
            <a:avLst/>
          </a:prstGeom>
          <a:noFill/>
          <a:ln/>
        </p:spPr>
        <p:txBody>
          <a:bodyPr wrap="square" lIns="0" tIns="0" rIns="0" bIns="0" rtlCol="0" anchor="ctr"/>
          <a:lstStyle/>
          <a:p>
            <a:pPr indent="0" marL="0">
              <a:buNone/>
            </a:pPr>
            <a:r>
              <a:rPr lang="en-US" sz="1150" b="1" dirty="0">
                <a:solidFill>
                  <a:srgbClr val="13294B"/>
                </a:solidFill>
                <a:latin typeface="Calibri" pitchFamily="34" charset="0"/>
                <a:ea typeface="Calibri" pitchFamily="34" charset="-122"/>
                <a:cs typeface="Calibri" pitchFamily="34" charset="-120"/>
              </a:rPr>
              <a:t>Q: Why Gradient Boosting over XGBoost or LightGBM?</a:t>
            </a:r>
            <a:endParaRPr lang="en-US" sz="1150" dirty="0"/>
          </a:p>
        </p:txBody>
      </p:sp>
      <p:sp>
        <p:nvSpPr>
          <p:cNvPr id="16" name="Text 14"/>
          <p:cNvSpPr/>
          <p:nvPr/>
        </p:nvSpPr>
        <p:spPr>
          <a:xfrm>
            <a:off x="457200" y="3246120"/>
            <a:ext cx="8321040" cy="521208"/>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A: Sklearn GBM was used for reproducibility and simplicity within course scope. XGB and LightGBM are valid next steps — explicitly listed as stacking candidates in the follow-up section.</a:t>
            </a:r>
            <a:endParaRPr lang="en-US" sz="1100" dirty="0"/>
          </a:p>
        </p:txBody>
      </p:sp>
      <p:sp>
        <p:nvSpPr>
          <p:cNvPr id="17" name="Shape 15"/>
          <p:cNvSpPr/>
          <p:nvPr/>
        </p:nvSpPr>
        <p:spPr>
          <a:xfrm>
            <a:off x="274320" y="3959352"/>
            <a:ext cx="8631936" cy="950976"/>
          </a:xfrm>
          <a:prstGeom prst="rect">
            <a:avLst/>
          </a:prstGeom>
          <a:solidFill>
            <a:srgbClr val="FFFFFF"/>
          </a:solidFill>
          <a:ln w="12700">
            <a:solidFill>
              <a:srgbClr val="E8ECF0"/>
            </a:solidFill>
            <a:prstDash val="solid"/>
          </a:ln>
          <a:effectLst>
            <a:outerShdw sx="100000" sy="100000" kx="0" ky="0" algn="bl" rotWithShape="0" blurRad="50800" dist="25400" dir="8100000">
              <a:srgbClr val="000000">
                <a:alpha val="10000"/>
              </a:srgbClr>
            </a:outerShdw>
          </a:effectLst>
        </p:spPr>
      </p:sp>
      <p:sp>
        <p:nvSpPr>
          <p:cNvPr id="18" name="Shape 16"/>
          <p:cNvSpPr/>
          <p:nvPr/>
        </p:nvSpPr>
        <p:spPr>
          <a:xfrm>
            <a:off x="274320" y="3959352"/>
            <a:ext cx="64008" cy="950976"/>
          </a:xfrm>
          <a:prstGeom prst="rect">
            <a:avLst/>
          </a:prstGeom>
          <a:solidFill>
            <a:srgbClr val="4B9CD3"/>
          </a:solidFill>
          <a:ln w="12700">
            <a:solidFill>
              <a:srgbClr val="4B9CD3"/>
            </a:solidFill>
            <a:prstDash val="solid"/>
          </a:ln>
        </p:spPr>
      </p:sp>
      <p:sp>
        <p:nvSpPr>
          <p:cNvPr id="19" name="Text 17"/>
          <p:cNvSpPr/>
          <p:nvPr/>
        </p:nvSpPr>
        <p:spPr>
          <a:xfrm>
            <a:off x="457200" y="4005072"/>
            <a:ext cx="8321040" cy="274320"/>
          </a:xfrm>
          <a:prstGeom prst="rect">
            <a:avLst/>
          </a:prstGeom>
          <a:noFill/>
          <a:ln/>
        </p:spPr>
        <p:txBody>
          <a:bodyPr wrap="square" lIns="0" tIns="0" rIns="0" bIns="0" rtlCol="0" anchor="ctr"/>
          <a:lstStyle/>
          <a:p>
            <a:pPr indent="0" marL="0">
              <a:buNone/>
            </a:pPr>
            <a:r>
              <a:rPr lang="en-US" sz="1150" b="1" dirty="0">
                <a:solidFill>
                  <a:srgbClr val="13294B"/>
                </a:solidFill>
                <a:latin typeface="Calibri" pitchFamily="34" charset="0"/>
                <a:ea typeface="Calibri" pitchFamily="34" charset="-122"/>
                <a:cs typeface="Calibri" pitchFamily="34" charset="-120"/>
              </a:rPr>
              <a:t>Q: The LassoCV feature selection doesn't reproduce in newer sklearn — is 'fully reproducible' a valid claim?</a:t>
            </a:r>
            <a:endParaRPr lang="en-US" sz="1150" dirty="0"/>
          </a:p>
        </p:txBody>
      </p:sp>
      <p:sp>
        <p:nvSpPr>
          <p:cNvPr id="20" name="Text 18"/>
          <p:cNvSpPr/>
          <p:nvPr/>
        </p:nvSpPr>
        <p:spPr>
          <a:xfrm>
            <a:off x="457200" y="4315968"/>
            <a:ext cx="8321040" cy="521208"/>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A: It's the one weak point. Pinning the sklearn version in requirements.txt and noting it in Appendix D closes the gap. Overall model performance holds regardless — numbers were independently verified on the uploaded CSV.</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Smoker Status Prediction — UNC Chapel Hill</dc:title>
  <dc:subject>PptxGenJS Presentation</dc:subject>
  <dc:creator>Aidan Colvin</dc:creator>
  <cp:lastModifiedBy>Aidan Colvin</cp:lastModifiedBy>
  <cp:revision>1</cp:revision>
  <dcterms:created xsi:type="dcterms:W3CDTF">2026-04-18T16:47:03Z</dcterms:created>
  <dcterms:modified xsi:type="dcterms:W3CDTF">2026-04-18T16:47:03Z</dcterms:modified>
</cp:coreProperties>
</file>