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51"/>
    <p:restoredTop sz="69795"/>
  </p:normalViewPr>
  <p:slideViewPr>
    <p:cSldViewPr snapToGrid="0" snapToObjects="1">
      <p:cViewPr varScale="1">
        <p:scale>
          <a:sx n="115" d="100"/>
          <a:sy n="115" d="100"/>
        </p:scale>
        <p:origin x="217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3294B"/>
                </a:solidFill>
                <a:latin typeface="Arial"/>
              </a:defRPr>
            </a:pPr>
            <a:r>
              <a:rPr lang="en-US" sz="1300" b="0" i="0" u="none" strike="noStrike">
                <a:solidFill>
                  <a:srgbClr val="13294B"/>
                </a:solidFill>
                <a:latin typeface="Arial"/>
              </a:rPr>
              <a:t>Class Distribution</a:t>
            </a:r>
          </a:p>
        </c:rich>
      </c:tx>
      <c:overlay val="0"/>
    </c:title>
    <c:autoTitleDeleted val="0"/>
    <c:plotArea>
      <c:layout/>
      <c:pieChart>
        <c:varyColors val="1"/>
        <c:ser>
          <c:idx val="0"/>
          <c:order val="0"/>
          <c:tx>
            <c:strRef>
              <c:f>Sheet1!$B$1</c:f>
              <c:strCache>
                <c:ptCount val="1"/>
                <c:pt idx="0">
                  <c:v>Class</c:v>
                </c:pt>
              </c:strCache>
            </c:strRef>
          </c:tx>
          <c:spPr>
            <a:solidFill>
              <a:schemeClr val="accent1"/>
            </a:solidFill>
            <a:ln w="9525" cap="flat">
              <a:solidFill>
                <a:srgbClr val="F9F9F9"/>
              </a:solidFill>
              <a:prstDash val="solid"/>
              <a:round/>
            </a:ln>
            <a:effectLst/>
          </c:spPr>
          <c:dPt>
            <c:idx val="0"/>
            <c:bubble3D val="0"/>
            <c:spPr>
              <a:solidFill>
                <a:srgbClr val="13294B"/>
              </a:solidFill>
              <a:effectLst/>
            </c:spPr>
            <c:extLst>
              <c:ext xmlns:c16="http://schemas.microsoft.com/office/drawing/2014/chart" uri="{C3380CC4-5D6E-409C-BE32-E72D297353CC}">
                <c16:uniqueId val="{00000001-3501-E846-8675-8BBE92EB63FF}"/>
              </c:ext>
            </c:extLst>
          </c:dPt>
          <c:dPt>
            <c:idx val="1"/>
            <c:bubble3D val="0"/>
            <c:spPr>
              <a:solidFill>
                <a:srgbClr val="4B9CD3"/>
              </a:solidFill>
              <a:effectLst/>
            </c:spPr>
            <c:extLst>
              <c:ext xmlns:c16="http://schemas.microsoft.com/office/drawing/2014/chart" uri="{C3380CC4-5D6E-409C-BE32-E72D297353CC}">
                <c16:uniqueId val="{00000003-3501-E846-8675-8BBE92EB63FF}"/>
              </c:ext>
            </c:extLst>
          </c:dPt>
          <c:dLbls>
            <c:dLbl>
              <c:idx val="0"/>
              <c:numFmt formatCode="0%" sourceLinked="0"/>
              <c:spPr/>
              <c:txPr>
                <a:bodyPr/>
                <a:lstStyle/>
                <a:p>
                  <a:pPr>
                    <a:defRPr sz="13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3501-E846-8675-8BBE92EB63FF}"/>
                </c:ext>
              </c:extLst>
            </c:dLbl>
            <c:dLbl>
              <c:idx val="1"/>
              <c:numFmt formatCode="0%" sourceLinked="0"/>
              <c:spPr/>
              <c:txPr>
                <a:bodyPr/>
                <a:lstStyle/>
                <a:p>
                  <a:pPr>
                    <a:defRPr sz="13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3501-E846-8675-8BBE92EB63FF}"/>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Non-Smoker (63.5%)</c:v>
                </c:pt>
                <c:pt idx="1">
                  <c:v>Smoker (36.5%)</c:v>
                </c:pt>
              </c:strCache>
            </c:strRef>
          </c:cat>
          <c:val>
            <c:numRef>
              <c:f>Sheet1!$B$2:$B$3</c:f>
              <c:numCache>
                <c:formatCode>General</c:formatCode>
                <c:ptCount val="2"/>
                <c:pt idx="0">
                  <c:v>63.5</c:v>
                </c:pt>
                <c:pt idx="1">
                  <c:v>36.5</c:v>
                </c:pt>
              </c:numCache>
            </c:numRef>
          </c:val>
          <c:extLst>
            <c:ext xmlns:c16="http://schemas.microsoft.com/office/drawing/2014/chart" uri="{C3380CC4-5D6E-409C-BE32-E72D297353CC}">
              <c16:uniqueId val="{00000004-3501-E846-8675-8BBE92EB63FF}"/>
            </c:ext>
          </c:extLst>
        </c:ser>
        <c:dLbls>
          <c:showLegendKey val="0"/>
          <c:showVal val="0"/>
          <c:showCatName val="0"/>
          <c:showSerName val="0"/>
          <c:showPercent val="0"/>
          <c:showBubbleSize val="0"/>
          <c:showLeaderLines val="0"/>
        </c:dLbls>
        <c:firstSliceAng val="0"/>
      </c:pieChart>
      <c:spPr>
        <a:noFill/>
        <a:ln>
          <a:noFill/>
        </a:ln>
        <a:effectLst/>
      </c:spPr>
    </c:plotArea>
    <c:legend>
      <c:legendPos val="b"/>
      <c:overlay val="0"/>
    </c:legend>
    <c:plotVisOnly val="1"/>
    <c:dispBlanksAs val="span"/>
    <c:showDLblsOverMax val="1"/>
  </c:chart>
  <c:spPr>
    <a:solidFill>
      <a:srgbClr val="F5F7F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13294B"/>
                </a:solidFill>
                <a:latin typeface="Arial"/>
              </a:defRPr>
            </a:pPr>
            <a:r>
              <a:rPr lang="en-US" sz="1100" b="0" i="0" u="none" strike="noStrike">
                <a:solidFill>
                  <a:srgbClr val="13294B"/>
                </a:solidFill>
                <a:latin typeface="Arial"/>
              </a:rPr>
              <a:t>Smoking Rate by Age (dataset artifact)</a:t>
            </a:r>
          </a:p>
        </c:rich>
      </c:tx>
      <c:overlay val="0"/>
    </c:title>
    <c:autoTitleDeleted val="0"/>
    <c:plotArea>
      <c:layout/>
      <c:barChart>
        <c:barDir val="col"/>
        <c:grouping val="clustered"/>
        <c:varyColors val="0"/>
        <c:ser>
          <c:idx val="0"/>
          <c:order val="0"/>
          <c:tx>
            <c:strRef>
              <c:f>Sheet1!$B$1</c:f>
              <c:strCache>
                <c:ptCount val="1"/>
                <c:pt idx="0">
                  <c:v>Smoking Rate (%)</c:v>
                </c:pt>
              </c:strCache>
            </c:strRef>
          </c:tx>
          <c:spPr>
            <a:solidFill>
              <a:srgbClr val="4B9CD3"/>
            </a:solidFill>
            <a:effectLst/>
          </c:spPr>
          <c:invertIfNegative val="0"/>
          <c:dLbls>
            <c:numFmt formatCode="#,##0" sourceLinked="0"/>
            <c:spPr>
              <a:noFill/>
              <a:ln>
                <a:noFill/>
              </a:ln>
              <a:effectLst/>
            </c:spPr>
            <c:txPr>
              <a:bodyPr/>
              <a:lstStyle/>
              <a:p>
                <a:pPr>
                  <a:defRPr sz="900" b="0" i="0" u="none" strike="noStrike">
                    <a:solidFill>
                      <a:srgbClr val="13294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Age 20</c:v>
                </c:pt>
                <c:pt idx="1">
                  <c:v>Age 35</c:v>
                </c:pt>
                <c:pt idx="2">
                  <c:v>Age 40</c:v>
                </c:pt>
                <c:pt idx="3">
                  <c:v>Age 45</c:v>
                </c:pt>
                <c:pt idx="4">
                  <c:v>Age 60</c:v>
                </c:pt>
                <c:pt idx="5">
                  <c:v>Age 80</c:v>
                </c:pt>
              </c:strCache>
            </c:strRef>
          </c:cat>
          <c:val>
            <c:numRef>
              <c:f>Sheet1!$B$2:$B$7</c:f>
              <c:numCache>
                <c:formatCode>General</c:formatCode>
                <c:ptCount val="6"/>
                <c:pt idx="0">
                  <c:v>62.4</c:v>
                </c:pt>
                <c:pt idx="1">
                  <c:v>59</c:v>
                </c:pt>
                <c:pt idx="2">
                  <c:v>35.4</c:v>
                </c:pt>
                <c:pt idx="3">
                  <c:v>29.9</c:v>
                </c:pt>
                <c:pt idx="4">
                  <c:v>25.4</c:v>
                </c:pt>
                <c:pt idx="5">
                  <c:v>5</c:v>
                </c:pt>
              </c:numCache>
            </c:numRef>
          </c:val>
          <c:extLst>
            <c:ext xmlns:c16="http://schemas.microsoft.com/office/drawing/2014/chart" uri="{C3380CC4-5D6E-409C-BE32-E72D297353CC}">
              <c16:uniqueId val="{00000000-590E-AB48-95C7-D9A09CE9021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556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5F7FA"/>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Perfect Calibration</c:v>
                </c:pt>
              </c:strCache>
            </c:strRef>
          </c:tx>
          <c:spPr>
            <a:ln w="31750" cap="flat">
              <a:solidFill>
                <a:srgbClr val="E8ECF0"/>
              </a:solidFill>
              <a:prstDash val="solid"/>
              <a:round/>
            </a:ln>
            <a:effectLst/>
          </c:spPr>
          <c:marker>
            <c:symbol val="circle"/>
            <c:size val="6"/>
            <c:spPr>
              <a:solidFill>
                <a:srgbClr val="E8ECF0"/>
              </a:solidFill>
              <a:ln w="9525" cap="flat">
                <a:solidFill>
                  <a:srgbClr val="E8ECF0"/>
                </a:solidFill>
                <a:prstDash val="solid"/>
                <a:round/>
              </a:ln>
              <a:effectLst/>
            </c:spPr>
          </c:marker>
          <c:cat>
            <c:strRef>
              <c:f>Sheet1!$A$2:$A$11</c:f>
              <c:strCache>
                <c:ptCount val="10"/>
                <c:pt idx="0">
                  <c:v>0.1</c:v>
                </c:pt>
                <c:pt idx="1">
                  <c:v>0.2</c:v>
                </c:pt>
                <c:pt idx="2">
                  <c:v>0.3</c:v>
                </c:pt>
                <c:pt idx="3">
                  <c:v>0.4</c:v>
                </c:pt>
                <c:pt idx="4">
                  <c:v>0.5</c:v>
                </c:pt>
                <c:pt idx="5">
                  <c:v>0.6</c:v>
                </c:pt>
                <c:pt idx="6">
                  <c:v>0.7</c:v>
                </c:pt>
                <c:pt idx="7">
                  <c:v>0.8</c:v>
                </c:pt>
                <c:pt idx="8">
                  <c:v>0.9</c:v>
                </c:pt>
                <c:pt idx="9">
                  <c:v>1.0</c:v>
                </c:pt>
              </c:strCache>
            </c:strRef>
          </c:cat>
          <c:val>
            <c:numRef>
              <c:f>Sheet1!$B$2:$B$11</c:f>
              <c:numCache>
                <c:formatCode>General</c:formatCode>
                <c:ptCount val="10"/>
                <c:pt idx="0">
                  <c:v>0.1</c:v>
                </c:pt>
                <c:pt idx="1">
                  <c:v>0.2</c:v>
                </c:pt>
                <c:pt idx="2">
                  <c:v>0.3</c:v>
                </c:pt>
                <c:pt idx="3">
                  <c:v>0.4</c:v>
                </c:pt>
                <c:pt idx="4">
                  <c:v>0.5</c:v>
                </c:pt>
                <c:pt idx="5">
                  <c:v>0.6</c:v>
                </c:pt>
                <c:pt idx="6">
                  <c:v>0.7</c:v>
                </c:pt>
                <c:pt idx="7">
                  <c:v>0.8</c:v>
                </c:pt>
                <c:pt idx="8">
                  <c:v>0.9</c:v>
                </c:pt>
                <c:pt idx="9">
                  <c:v>1</c:v>
                </c:pt>
              </c:numCache>
            </c:numRef>
          </c:val>
          <c:smooth val="0"/>
          <c:extLst>
            <c:ext xmlns:c16="http://schemas.microsoft.com/office/drawing/2014/chart" uri="{C3380CC4-5D6E-409C-BE32-E72D297353CC}">
              <c16:uniqueId val="{00000000-E2E1-8A4D-898E-8EA7C918F0AB}"/>
            </c:ext>
          </c:extLst>
        </c:ser>
        <c:ser>
          <c:idx val="1"/>
          <c:order val="1"/>
          <c:tx>
            <c:strRef>
              <c:f>Sheet1!$C$1</c:f>
              <c:strCache>
                <c:ptCount val="1"/>
                <c:pt idx="0">
                  <c:v>Gradient Boosting</c:v>
                </c:pt>
              </c:strCache>
            </c:strRef>
          </c:tx>
          <c:spPr>
            <a:ln w="31750" cap="flat">
              <a:solidFill>
                <a:srgbClr val="4B9CD3"/>
              </a:solidFill>
              <a:prstDash val="solid"/>
              <a:round/>
            </a:ln>
            <a:effectLst/>
          </c:spPr>
          <c:marker>
            <c:symbol val="circle"/>
            <c:size val="6"/>
            <c:spPr>
              <a:solidFill>
                <a:srgbClr val="4B9CD3"/>
              </a:solidFill>
              <a:ln w="9525" cap="flat">
                <a:solidFill>
                  <a:srgbClr val="4B9CD3"/>
                </a:solidFill>
                <a:prstDash val="solid"/>
                <a:round/>
              </a:ln>
              <a:effectLst/>
            </c:spPr>
          </c:marker>
          <c:cat>
            <c:strRef>
              <c:f>Sheet1!$A$2:$A$11</c:f>
              <c:strCache>
                <c:ptCount val="10"/>
                <c:pt idx="0">
                  <c:v>0.1</c:v>
                </c:pt>
                <c:pt idx="1">
                  <c:v>0.2</c:v>
                </c:pt>
                <c:pt idx="2">
                  <c:v>0.3</c:v>
                </c:pt>
                <c:pt idx="3">
                  <c:v>0.4</c:v>
                </c:pt>
                <c:pt idx="4">
                  <c:v>0.5</c:v>
                </c:pt>
                <c:pt idx="5">
                  <c:v>0.6</c:v>
                </c:pt>
                <c:pt idx="6">
                  <c:v>0.7</c:v>
                </c:pt>
                <c:pt idx="7">
                  <c:v>0.8</c:v>
                </c:pt>
                <c:pt idx="8">
                  <c:v>0.9</c:v>
                </c:pt>
                <c:pt idx="9">
                  <c:v>1.0</c:v>
                </c:pt>
              </c:strCache>
            </c:strRef>
          </c:cat>
          <c:val>
            <c:numRef>
              <c:f>Sheet1!$C$2:$C$11</c:f>
              <c:numCache>
                <c:formatCode>General</c:formatCode>
                <c:ptCount val="10"/>
                <c:pt idx="0">
                  <c:v>0.05</c:v>
                </c:pt>
                <c:pt idx="1">
                  <c:v>0.18</c:v>
                </c:pt>
                <c:pt idx="2">
                  <c:v>0.3</c:v>
                </c:pt>
                <c:pt idx="3">
                  <c:v>0.41</c:v>
                </c:pt>
                <c:pt idx="4">
                  <c:v>0.53</c:v>
                </c:pt>
                <c:pt idx="5">
                  <c:v>0.56000000000000005</c:v>
                </c:pt>
                <c:pt idx="6">
                  <c:v>0.72</c:v>
                </c:pt>
                <c:pt idx="7">
                  <c:v>0.82</c:v>
                </c:pt>
                <c:pt idx="8">
                  <c:v>0.88</c:v>
                </c:pt>
                <c:pt idx="9">
                  <c:v>0.85</c:v>
                </c:pt>
              </c:numCache>
            </c:numRef>
          </c:val>
          <c:smooth val="0"/>
          <c:extLst>
            <c:ext xmlns:c16="http://schemas.microsoft.com/office/drawing/2014/chart" uri="{C3380CC4-5D6E-409C-BE32-E72D297353CC}">
              <c16:uniqueId val="{00000001-E2E1-8A4D-898E-8EA7C918F0A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5568"/>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Precision</c:v>
                </c:pt>
              </c:strCache>
            </c:strRef>
          </c:tx>
          <c:spPr>
            <a:ln w="31750" cap="flat">
              <a:solidFill>
                <a:srgbClr val="13294B"/>
              </a:solidFill>
              <a:prstDash val="solid"/>
              <a:round/>
            </a:ln>
            <a:effectLst/>
          </c:spPr>
          <c:marker>
            <c:symbol val="circle"/>
            <c:size val="6"/>
            <c:spPr>
              <a:solidFill>
                <a:srgbClr val="13294B"/>
              </a:solidFill>
              <a:ln w="9525" cap="flat">
                <a:solidFill>
                  <a:srgbClr val="13294B"/>
                </a:solidFill>
                <a:prstDash val="solid"/>
                <a:round/>
              </a:ln>
              <a:effectLst/>
            </c:spPr>
          </c:marker>
          <c:cat>
            <c:strRef>
              <c:f>Sheet1!$A$2:$A$12</c:f>
              <c:strCache>
                <c:ptCount val="11"/>
                <c:pt idx="0">
                  <c:v>0.20</c:v>
                </c:pt>
                <c:pt idx="1">
                  <c:v>0.25</c:v>
                </c:pt>
                <c:pt idx="2">
                  <c:v>0.30</c:v>
                </c:pt>
                <c:pt idx="3">
                  <c:v>0.35</c:v>
                </c:pt>
                <c:pt idx="4">
                  <c:v>0.40</c:v>
                </c:pt>
                <c:pt idx="5">
                  <c:v>0.45</c:v>
                </c:pt>
                <c:pt idx="6">
                  <c:v>0.50</c:v>
                </c:pt>
                <c:pt idx="7">
                  <c:v>0.55</c:v>
                </c:pt>
                <c:pt idx="8">
                  <c:v>0.60</c:v>
                </c:pt>
                <c:pt idx="9">
                  <c:v>0.65</c:v>
                </c:pt>
                <c:pt idx="10">
                  <c:v>0.70</c:v>
                </c:pt>
              </c:strCache>
            </c:strRef>
          </c:cat>
          <c:val>
            <c:numRef>
              <c:f>Sheet1!$B$2:$B$12</c:f>
              <c:numCache>
                <c:formatCode>General</c:formatCode>
                <c:ptCount val="11"/>
                <c:pt idx="0">
                  <c:v>0.54</c:v>
                </c:pt>
                <c:pt idx="1">
                  <c:v>0.56999999999999995</c:v>
                </c:pt>
                <c:pt idx="2">
                  <c:v>0.6</c:v>
                </c:pt>
                <c:pt idx="3">
                  <c:v>0.62</c:v>
                </c:pt>
                <c:pt idx="4">
                  <c:v>0.65</c:v>
                </c:pt>
                <c:pt idx="5">
                  <c:v>0.68</c:v>
                </c:pt>
                <c:pt idx="6">
                  <c:v>0.71</c:v>
                </c:pt>
                <c:pt idx="7">
                  <c:v>0.74</c:v>
                </c:pt>
                <c:pt idx="8">
                  <c:v>0.77</c:v>
                </c:pt>
                <c:pt idx="9">
                  <c:v>0.8</c:v>
                </c:pt>
                <c:pt idx="10">
                  <c:v>0.83</c:v>
                </c:pt>
              </c:numCache>
            </c:numRef>
          </c:val>
          <c:smooth val="1"/>
          <c:extLst>
            <c:ext xmlns:c16="http://schemas.microsoft.com/office/drawing/2014/chart" uri="{C3380CC4-5D6E-409C-BE32-E72D297353CC}">
              <c16:uniqueId val="{00000000-707C-494C-BC8A-C269F72E13F9}"/>
            </c:ext>
          </c:extLst>
        </c:ser>
        <c:ser>
          <c:idx val="1"/>
          <c:order val="1"/>
          <c:tx>
            <c:strRef>
              <c:f>Sheet1!$C$1</c:f>
              <c:strCache>
                <c:ptCount val="1"/>
                <c:pt idx="0">
                  <c:v>Recall</c:v>
                </c:pt>
              </c:strCache>
            </c:strRef>
          </c:tx>
          <c:spPr>
            <a:ln w="31750" cap="flat">
              <a:solidFill>
                <a:srgbClr val="4B9CD3"/>
              </a:solidFill>
              <a:prstDash val="solid"/>
              <a:round/>
            </a:ln>
            <a:effectLst/>
          </c:spPr>
          <c:marker>
            <c:symbol val="circle"/>
            <c:size val="6"/>
            <c:spPr>
              <a:solidFill>
                <a:srgbClr val="4B9CD3"/>
              </a:solidFill>
              <a:ln w="9525" cap="flat">
                <a:solidFill>
                  <a:srgbClr val="4B9CD3"/>
                </a:solidFill>
                <a:prstDash val="solid"/>
                <a:round/>
              </a:ln>
              <a:effectLst/>
            </c:spPr>
          </c:marker>
          <c:cat>
            <c:strRef>
              <c:f>Sheet1!$A$2:$A$12</c:f>
              <c:strCache>
                <c:ptCount val="11"/>
                <c:pt idx="0">
                  <c:v>0.20</c:v>
                </c:pt>
                <c:pt idx="1">
                  <c:v>0.25</c:v>
                </c:pt>
                <c:pt idx="2">
                  <c:v>0.30</c:v>
                </c:pt>
                <c:pt idx="3">
                  <c:v>0.35</c:v>
                </c:pt>
                <c:pt idx="4">
                  <c:v>0.40</c:v>
                </c:pt>
                <c:pt idx="5">
                  <c:v>0.45</c:v>
                </c:pt>
                <c:pt idx="6">
                  <c:v>0.50</c:v>
                </c:pt>
                <c:pt idx="7">
                  <c:v>0.55</c:v>
                </c:pt>
                <c:pt idx="8">
                  <c:v>0.60</c:v>
                </c:pt>
                <c:pt idx="9">
                  <c:v>0.65</c:v>
                </c:pt>
                <c:pt idx="10">
                  <c:v>0.70</c:v>
                </c:pt>
              </c:strCache>
            </c:strRef>
          </c:cat>
          <c:val>
            <c:numRef>
              <c:f>Sheet1!$C$2:$C$12</c:f>
              <c:numCache>
                <c:formatCode>General</c:formatCode>
                <c:ptCount val="11"/>
                <c:pt idx="0">
                  <c:v>0.95</c:v>
                </c:pt>
                <c:pt idx="1">
                  <c:v>0.93</c:v>
                </c:pt>
                <c:pt idx="2">
                  <c:v>0.89</c:v>
                </c:pt>
                <c:pt idx="3">
                  <c:v>0.85</c:v>
                </c:pt>
                <c:pt idx="4">
                  <c:v>0.83</c:v>
                </c:pt>
                <c:pt idx="5">
                  <c:v>0.81</c:v>
                </c:pt>
                <c:pt idx="6">
                  <c:v>0.79</c:v>
                </c:pt>
                <c:pt idx="7">
                  <c:v>0.73</c:v>
                </c:pt>
                <c:pt idx="8">
                  <c:v>0.65</c:v>
                </c:pt>
                <c:pt idx="9">
                  <c:v>0.55000000000000004</c:v>
                </c:pt>
                <c:pt idx="10">
                  <c:v>0.43</c:v>
                </c:pt>
              </c:numCache>
            </c:numRef>
          </c:val>
          <c:smooth val="1"/>
          <c:extLst>
            <c:ext xmlns:c16="http://schemas.microsoft.com/office/drawing/2014/chart" uri="{C3380CC4-5D6E-409C-BE32-E72D297353CC}">
              <c16:uniqueId val="{00000001-707C-494C-BC8A-C269F72E13F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5568"/>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9675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Every year, roughly 1 in 4 smokers denies tobacco use during a clinical visit. This project asks whether the blood draw that already happens during that visit can catch them."</a:t>
            </a:r>
            <a:endParaRPr lang="en-US" dirty="0"/>
          </a:p>
          <a:p>
            <a:r>
              <a:rPr lang="en-US" dirty="0">
                <a:effectLst/>
              </a:rPr>
              <a:t>Then point to the three numbers on screen — 0.8887 AUC, 15K observations, 24 biomarkers — and tell the audience: </a:t>
            </a:r>
            <a:r>
              <a:rPr lang="en-US" i="1" dirty="0">
                <a:effectLst/>
              </a:rPr>
              <a:t>"We got to that AUC using only what's already in a standard lab panel. No cotinine, no cotinine-adjacent tests, no extra cost."</a:t>
            </a:r>
            <a:endParaRPr lang="en-US" dirty="0">
              <a:effectLst/>
            </a:endParaRPr>
          </a:p>
          <a:p>
            <a:endParaRPr lang="en-US" dirty="0"/>
          </a:p>
          <a:p>
            <a:r>
              <a:rPr lang="en-US" dirty="0"/>
              <a:t>Each number answers a grader question before it gets asked:</a:t>
            </a:r>
          </a:p>
          <a:p>
            <a:r>
              <a:rPr lang="en-US" b="1" dirty="0"/>
              <a:t>0.8887</a:t>
            </a:r>
            <a:r>
              <a:rPr lang="en-US" dirty="0"/>
              <a:t> — proves the model is clinically useful, not just academically interesting</a:t>
            </a:r>
          </a:p>
          <a:p>
            <a:r>
              <a:rPr lang="en-US" b="1" dirty="0"/>
              <a:t>15K</a:t>
            </a:r>
            <a:r>
              <a:rPr lang="en-US" dirty="0"/>
              <a:t> — signals you know the data limitation before anyone has to point it out</a:t>
            </a:r>
          </a:p>
          <a:p>
            <a:r>
              <a:rPr lang="en-US" b="1" dirty="0"/>
              <a:t>24 biomarkers</a:t>
            </a:r>
            <a:r>
              <a:rPr lang="en-US" dirty="0"/>
              <a:t> — sets up the feature engineering story you'll tell in slide 5</a:t>
            </a:r>
          </a:p>
          <a:p>
            <a:endParaRPr lang="en-US" dirty="0"/>
          </a:p>
          <a:p>
            <a:r>
              <a:rPr lang="en-US" dirty="0"/>
              <a:t>Point at the slide and say: </a:t>
            </a:r>
            <a:r>
              <a:rPr lang="en-US" i="1" dirty="0"/>
              <a:t>"Seven sections — I'll move quickly through clinical motivation and data provenance, then spend most of our time on results and what they mean clinically."</a:t>
            </a:r>
            <a:r>
              <a:rPr lang="en-US" dirty="0"/>
              <a:t> That's it. Then advance.</a:t>
            </a:r>
          </a:p>
          <a:p>
            <a:r>
              <a:rPr lang="en-US" dirty="0">
                <a:effectLst/>
              </a:rPr>
              <a:t>The agenda slide exists for the grader reading the deck later, not for the 8-minute talk. The only thing worth verbalizing is that you're going to hit limitations honestly — that signals intellectual maturity.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separate failure modes exist, and your model addresses both:</a:t>
            </a:r>
          </a:p>
          <a:p>
            <a:r>
              <a:rPr lang="en-US" b="1" dirty="0"/>
              <a:t>Active denial:</a:t>
            </a:r>
            <a:r>
              <a:rPr lang="en-US" dirty="0"/>
              <a:t> patient knows they smoke, says they don't. Driven by stigma, fear of insurance implications, fear of judgment. Published denial rate 20–30%.</a:t>
            </a:r>
          </a:p>
          <a:p>
            <a:r>
              <a:rPr lang="en-US" b="1" dirty="0"/>
              <a:t>Missing data:</a:t>
            </a:r>
            <a:r>
              <a:rPr lang="en-US" dirty="0"/>
              <a:t> large epidemiological datasets omit smoking status entirely, or EHR records are outdated. A biomarker classifier can impute at scale.</a:t>
            </a:r>
          </a:p>
          <a:p>
            <a:r>
              <a:rPr lang="en-US" dirty="0">
                <a:effectLst/>
              </a:rPr>
              <a:t>Most student projects only mention the first failure mode. The second is what makes this deployment-relevant beyond the clinical consult room</a:t>
            </a:r>
          </a:p>
          <a:p>
            <a:endParaRPr lang="en-US" dirty="0"/>
          </a:p>
          <a:p>
            <a:r>
              <a:rPr lang="en-US" b="1" dirty="0"/>
              <a:t>1 in 4:</a:t>
            </a:r>
            <a:r>
              <a:rPr lang="en-US" dirty="0"/>
              <a:t> Frame this as — in a clinic seeing 40 patients a day, 10 are smokers in denial. Over a year, that's thousands of missed risk stratifications per </a:t>
            </a:r>
            <a:r>
              <a:rPr lang="en-US" dirty="0" err="1"/>
              <a:t>practice.</a:t>
            </a:r>
            <a:r>
              <a:rPr lang="en-US" b="1" dirty="0" err="1"/>
              <a:t>AUC</a:t>
            </a:r>
            <a:r>
              <a:rPr lang="en-US" b="1" dirty="0"/>
              <a:t> 0.8887:</a:t>
            </a:r>
            <a:r>
              <a:rPr lang="en-US" dirty="0"/>
              <a:t> An AUC of 0.89 means if you randomly pair a smoker and a non-smoker from the test set, the model ranks the smoker higher 89% of the time. That's the operational definition to give if anyone asks.</a:t>
            </a:r>
            <a:r>
              <a:rPr lang="en-US" b="1" dirty="0"/>
              <a:t>21.2% FNR:</a:t>
            </a:r>
            <a:r>
              <a:rPr lang="en-US" dirty="0"/>
              <a:t> At the default threshold, the model misses about 1 in 5 smokers. Acknowledge this immediately — it motivates the threshold analysis you'll show in slide 11.</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set was generated by a deep learning model trained on 159K real Korean health records. The generator learns smooth approximations of empirical distributions. The practical effect:</a:t>
            </a:r>
          </a:p>
          <a:p>
            <a:r>
              <a:rPr lang="en-US" dirty="0"/>
              <a:t>Right-skewed features (</a:t>
            </a:r>
            <a:r>
              <a:rPr lang="en-US" dirty="0" err="1"/>
              <a:t>Gtp</a:t>
            </a:r>
            <a:r>
              <a:rPr lang="en-US" dirty="0"/>
              <a:t>, ALT, triglycerides) have compressed tails — the most extreme real-world values are underrepresented</a:t>
            </a:r>
          </a:p>
          <a:p>
            <a:r>
              <a:rPr lang="en-US" dirty="0"/>
              <a:t>A model trained on the synthetic version may be overconfident when it encounters extreme </a:t>
            </a:r>
            <a:r>
              <a:rPr lang="en-US" dirty="0" err="1"/>
              <a:t>Gtp</a:t>
            </a:r>
            <a:r>
              <a:rPr lang="en-US" dirty="0"/>
              <a:t> or ALT values in real deployment</a:t>
            </a:r>
          </a:p>
          <a:p>
            <a:r>
              <a:rPr lang="en-US" dirty="0"/>
              <a:t>This is not a flaw in the competition design — it's a documented artifact to report, not hide</a:t>
            </a:r>
          </a:p>
          <a:p>
            <a:endParaRPr lang="en-US" dirty="0"/>
          </a:p>
          <a:p>
            <a:r>
              <a:rPr lang="en-US" dirty="0"/>
              <a:t>35.9% of all 15,000 observations are exactly age 40. This is not biology — it's a screening program artifact or a generator quirk. The consequence is that the model has strong signal at age 40 and weak coverage at the tails. If you deploy this in a population with more patients under 30 or over 60, predictions are less reliable there. You should say this out loud rather than wait for the grader to find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rPr>
              <a:t>Cigarette combustion produces carbon monoxide</a:t>
            </a:r>
          </a:p>
          <a:p>
            <a:r>
              <a:rPr lang="en-US" dirty="0">
                <a:effectLst/>
              </a:rPr>
              <a:t>CO binds hemoglobin with 200x higher affinity than O₂, forming carboxyhemoglobin</a:t>
            </a:r>
          </a:p>
          <a:p>
            <a:r>
              <a:rPr lang="en-US" dirty="0">
                <a:effectLst/>
              </a:rPr>
              <a:t>Carboxyhemoglobin cannot carry oxygen — effective O₂ delivery drops</a:t>
            </a:r>
          </a:p>
          <a:p>
            <a:r>
              <a:rPr lang="en-US" dirty="0">
                <a:effectLst/>
              </a:rPr>
              <a:t>Kidneys detect low O₂ and release erythropoietin (EPO)</a:t>
            </a:r>
          </a:p>
          <a:p>
            <a:r>
              <a:rPr lang="en-US" dirty="0">
                <a:effectLst/>
              </a:rPr>
              <a:t>EPO signals bone marrow to produce more red blood cells</a:t>
            </a:r>
          </a:p>
          <a:p>
            <a:r>
              <a:rPr lang="en-US" dirty="0">
                <a:effectLst/>
              </a:rPr>
              <a:t>More RBCs = higher hemoglobin concentration measurable in a routine CBC</a:t>
            </a:r>
          </a:p>
          <a:p>
            <a:r>
              <a:rPr lang="en-US" dirty="0">
                <a:effectLst/>
              </a:rPr>
              <a:t>Smokers average ~1.9–2.1 g/dL higher hemoglobin than non-smokers</a:t>
            </a:r>
          </a:p>
          <a:p>
            <a:r>
              <a:rPr lang="en-US" dirty="0">
                <a:effectLst/>
              </a:rPr>
              <a:t>This pathway was established in a 1978 NEJM paper on smokers' polycythemia, confirmed at population scale (n=6,808) in Mayo Clinic Proceedings 2018.</a:t>
            </a:r>
          </a:p>
          <a:p>
            <a:endParaRPr lang="en-US" dirty="0"/>
          </a:p>
          <a:p>
            <a:r>
              <a:rPr lang="en-US" dirty="0"/>
              <a:t>The two distributions are unimodal and clearly separated at the mode, but they overlap substantially between 14 and 15 g/dL. That overlap zone is where most misclassification happens — it's not model noise, it's irreducible given the feature set. Females who smoke and males who don't smoke both cluster in that 14–15 range. Without an explicit sex field you can't separate them cleanly, which is why AUC plateaus below 0.90.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 the correlation table in your head into three groups. This makes the explanation coherent rather than a list of numbers:</a:t>
            </a:r>
          </a:p>
          <a:p>
            <a:r>
              <a:rPr lang="en-US" b="1" dirty="0"/>
              <a:t>Hematologic cluster:</a:t>
            </a:r>
            <a:r>
              <a:rPr lang="en-US" dirty="0"/>
              <a:t> hemoglobin (r=0.501). One feature. Strongest signal. Mechanism is compensatory erythropoiesis.</a:t>
            </a:r>
          </a:p>
          <a:p>
            <a:r>
              <a:rPr lang="en-US" b="1" dirty="0"/>
              <a:t>Sex proxy cluster:</a:t>
            </a:r>
            <a:r>
              <a:rPr lang="en-US" dirty="0"/>
              <a:t> height (0.486), weight (0.403), serum creatinine (0.346), waist (0.311). These correlate with smoking primarily because males are taller, heavier, and smoke more in this dataset. They're not independent smoking biomarkers — they're capturing the same sex confound through different anthropometric channels.</a:t>
            </a:r>
          </a:p>
          <a:p>
            <a:r>
              <a:rPr lang="en-US" b="1" dirty="0"/>
              <a:t>Hepatic/metabolic cluster:</a:t>
            </a:r>
            <a:r>
              <a:rPr lang="en-US" dirty="0"/>
              <a:t> </a:t>
            </a:r>
            <a:r>
              <a:rPr lang="en-US" dirty="0" err="1"/>
              <a:t>Gtp</a:t>
            </a:r>
            <a:r>
              <a:rPr lang="en-US" dirty="0"/>
              <a:t> (0.378), triglycerides (0.346), ALT (0.242), HDL (−0.292). These are genuine tobacco-specific metabolic signals, though </a:t>
            </a:r>
            <a:r>
              <a:rPr lang="en-US" dirty="0" err="1"/>
              <a:t>Gtp</a:t>
            </a:r>
            <a:r>
              <a:rPr lang="en-US" dirty="0"/>
              <a:t> and ALT are confounded by alcohol.</a:t>
            </a:r>
          </a:p>
          <a:p>
            <a:endParaRPr lang="en-US" dirty="0"/>
          </a:p>
          <a:p>
            <a:r>
              <a:rPr lang="en-US" dirty="0"/>
              <a:t>HDL is the only strong negative correlation (r=−0.292). Smoking suppresses hepatic HDL synthesis. The mechanism: tobacco smoke reduces the activity of enzymes responsible for reverse cholesterol transport. Smokers have lower HDL, so the model uses low HDL as a positive indicator of smoking. This can trip people up if they expect all correlations with smoking to be positive.</a:t>
            </a:r>
          </a:p>
          <a:p>
            <a:endParaRPr lang="en-US" dirty="0"/>
          </a:p>
          <a:p>
            <a:r>
              <a:rPr lang="en-US" dirty="0"/>
              <a:t>Both are r≈−0.034 to −0.036 with smoking — essentially zero, weakly negative. This seems counterintuitive because smoking causes dyslipidemia. The explanation: in this dataset, cholesterol and LDL are dominated by age and dietary factors, not by smoking-specific lipid pathways. The smoking-specific lipid signal is in triglycerides (VLDL upregulation) and HDL suppression — not total cholesterol or LDL. This is why </a:t>
            </a:r>
            <a:r>
              <a:rPr lang="en-US" dirty="0" err="1"/>
              <a:t>LassoCV</a:t>
            </a:r>
            <a:r>
              <a:rPr lang="en-US" dirty="0"/>
              <a:t> drops cholesterol: it carries no independent linear smoking signal that triglycerides and HDL don't already cover.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"I want to spend a minute on why these features associate with smoking — because knowing the mechanism tells us whether we can trust the signal in a new population."</a:t>
            </a:r>
            <a:r>
              <a:rPr lang="en-US" dirty="0"/>
              <a:t> That framing explains why biological rationale matters for a data mining project and preempts the "why not just use any correlated features" question.</a:t>
            </a:r>
          </a:p>
          <a:p>
            <a:endParaRPr lang="en-US" dirty="0"/>
          </a:p>
          <a:p>
            <a:r>
              <a:rPr lang="en-US" b="1" dirty="0"/>
              <a:t>Triglycerides:</a:t>
            </a:r>
            <a:r>
              <a:rPr lang="en-US" dirty="0"/>
              <a:t> Smoking upregulates VLDL synthesis (the liver's triglyceride-carrying particle) and impairs lipoprotein lipase — the enzyme that breaks down circulating triglycerides. A meta-analysis of 169 studies (Mach 2023) found +0.50 mmol/L in current smokers. Critically, this effect persists for years after cessation — ex-smokers have intermediate levels.</a:t>
            </a:r>
          </a:p>
          <a:p>
            <a:r>
              <a:rPr lang="en-US" b="1" dirty="0">
                <a:effectLst/>
              </a:rPr>
              <a:t>HDL:</a:t>
            </a:r>
            <a:r>
              <a:rPr lang="en-US" dirty="0">
                <a:effectLst/>
              </a:rPr>
              <a:t> Tobacco smoke reduces hepatic enzymes responsible for HDL synthesis. Cessation raises HDL-C within weeks to months, but triglyceride effects persist much longer. This asymmetry means the model treats recent quitters differently depending on which biomarkers they've already normalized.</a:t>
            </a:r>
          </a:p>
          <a:p>
            <a:endParaRPr lang="en-US" dirty="0"/>
          </a:p>
          <a:p>
            <a:r>
              <a:rPr lang="en-US" b="1" dirty="0"/>
              <a:t>Hemoglobin — polycythemia pathway:</a:t>
            </a:r>
            <a:r>
              <a:rPr lang="en-US" dirty="0"/>
              <a:t> CO → carboxyhemoglobin → EPO → RBC production → elevated Hgb. This is reversible — Hgb normalizes within weeks to months of cessation. Ex-smokers who quit recently will still test elevated.</a:t>
            </a:r>
          </a:p>
          <a:p>
            <a:r>
              <a:rPr lang="en-US" b="1" dirty="0" err="1">
                <a:effectLst/>
              </a:rPr>
              <a:t>Gtp</a:t>
            </a:r>
            <a:r>
              <a:rPr lang="en-US" b="1" dirty="0">
                <a:effectLst/>
              </a:rPr>
              <a:t>/GGT — hepatotoxic pathway:</a:t>
            </a:r>
            <a:r>
              <a:rPr lang="en-US" dirty="0">
                <a:effectLst/>
              </a:rPr>
              <a:t> Tobacco metabolites induce gamma-glutamyl transferase, a liver enzyme involved in antioxidant metabolism. Mean GGT in smokers is ~20.89 IU/L vs ~14.51 IU/L in non-smokers (Nomura 2013). Critical caveat: this association is abolished after adjusting for CRP (inflammation marker) in non-drinkers. Among heavy drinkers, GGT rises independently of smoking. The model cannot separate a non-smoking heavy drinker from a smoker on GGT alone.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as a leakage-prevention story, not a list of steps:</a:t>
            </a:r>
          </a:p>
          <a:p>
            <a:r>
              <a:rPr lang="en-US" b="1" dirty="0"/>
              <a:t>80/20 split first:</a:t>
            </a:r>
            <a:r>
              <a:rPr lang="en-US" dirty="0"/>
              <a:t> Nothing from the test set can touch any fitting procedure. The split happens before any transformation.</a:t>
            </a:r>
          </a:p>
          <a:p>
            <a:r>
              <a:rPr lang="en-US" b="1" dirty="0"/>
              <a:t>Z-score scaling fit on train only:</a:t>
            </a:r>
            <a:r>
              <a:rPr lang="en-US" dirty="0"/>
              <a:t> If you fit the scaler on all 15K rows, test-set statistics inform the transformation. That's leakage. Fitting on 12K and applying to 3K prevents it.</a:t>
            </a:r>
          </a:p>
          <a:p>
            <a:r>
              <a:rPr lang="en-US" b="1" dirty="0" err="1"/>
              <a:t>LassoCV</a:t>
            </a:r>
            <a:r>
              <a:rPr lang="en-US" b="1" dirty="0"/>
              <a:t> on training folds only:</a:t>
            </a:r>
            <a:r>
              <a:rPr lang="en-US" dirty="0"/>
              <a:t> Feature selection is itself a model fitting step. If you select features on the full dataset and then cross-validate, your CV AUC is optimistically biased because the feature set was chosen to maximize signal on the test samples too.</a:t>
            </a:r>
          </a:p>
          <a:p>
            <a:r>
              <a:rPr lang="en-US" b="1" dirty="0" err="1"/>
              <a:t>GridSearchCV</a:t>
            </a:r>
            <a:r>
              <a:rPr lang="en-US" b="1" dirty="0"/>
              <a:t> inside CV folds:</a:t>
            </a:r>
            <a:r>
              <a:rPr lang="en-US" dirty="0"/>
              <a:t> Same principle. Hyperparameter tuning uses only training-fold data.</a:t>
            </a:r>
          </a:p>
          <a:p>
            <a:r>
              <a:rPr lang="en-US" dirty="0">
                <a:effectLst/>
              </a:rPr>
              <a:t>The key sentence to say: </a:t>
            </a:r>
            <a:r>
              <a:rPr lang="en-US" i="1" dirty="0">
                <a:effectLst/>
              </a:rPr>
              <a:t>"Every transformation parameter was fit exclusively on training data and applied to test data using those fitted parameters. That's the only way the test AUC means what we say it means."</a:t>
            </a:r>
            <a:endParaRPr lang="en-US" dirty="0">
              <a:effectLst/>
            </a:endParaRPr>
          </a:p>
          <a:p>
            <a:endParaRPr lang="en-US" dirty="0"/>
          </a:p>
          <a:p>
            <a:r>
              <a:rPr lang="en-US" dirty="0"/>
              <a:t>L1 (Lasso) regularization adds a penalty proportional to the absolute value of each coefficient. As you increase regularization strength, weak coefficients are driven to exactly zero — not just shrunk, but eliminated. The CV in </a:t>
            </a:r>
            <a:r>
              <a:rPr lang="en-US" dirty="0" err="1"/>
              <a:t>LassoCV</a:t>
            </a:r>
            <a:r>
              <a:rPr lang="en-US" dirty="0"/>
              <a:t> means the regularization strength C is selected by cross-validation to maximize held-out AUC. Features with zero coefficients at that C are dropped. This is data-driven feature selection — no manual decisions about which correlated features to keep.</a:t>
            </a:r>
          </a:p>
          <a:p>
            <a:r>
              <a:rPr lang="en-US" dirty="0">
                <a:effectLst/>
              </a:rPr>
              <a:t>The tradeoff: Lasso is a linear selector. It may drop features that have no linear relationship with the target but carry nonlinear signal that tree-based models can exploit. Serum creatinine is the clearest example — Pearson r = 0.346 with the target, but Lasso drops it because its linear signal is absorbed by hemoglobin and height. Gradient Boosting recovers it at rank 7 in Gini importance.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band is narrow:</a:t>
            </a:r>
            <a:r>
              <a:rPr lang="en-US" dirty="0"/>
              <a:t> All three models cluster between 0.879 and 0.889 AUC. That 0.010 spread tells you the signal in the feature set is well-defined and multiple algorithms can extract it. If one model had 0.91 and another had 0.75, you'd have a very different story about algorithm </a:t>
            </a:r>
            <a:r>
              <a:rPr lang="en-US" dirty="0" err="1"/>
              <a:t>choice.</a:t>
            </a:r>
            <a:r>
              <a:rPr lang="en-US" b="1" dirty="0" err="1"/>
              <a:t>The</a:t>
            </a:r>
            <a:r>
              <a:rPr lang="en-US" b="1" dirty="0"/>
              <a:t> limiting factor is data, not algorithm:</a:t>
            </a:r>
            <a:r>
              <a:rPr lang="en-US" dirty="0"/>
              <a:t> The gap between LR and GB is 0.010 AUC. The gap between 15K and 159K training rows is probably 0.015–0.030 AUC. The data ceiling is the bigger </a:t>
            </a:r>
            <a:r>
              <a:rPr lang="en-US" dirty="0" err="1"/>
              <a:t>constraint.</a:t>
            </a:r>
            <a:r>
              <a:rPr lang="en-US" b="1" dirty="0" err="1"/>
              <a:t>GB</a:t>
            </a:r>
            <a:r>
              <a:rPr lang="en-US" b="1" dirty="0"/>
              <a:t> wins on every metric that matters clinically:</a:t>
            </a:r>
            <a:r>
              <a:rPr lang="en-US" dirty="0"/>
              <a:t> Highest AUC, highest recall (78.8%), lowest FNR (21.2%). Those three properties together make it the screening tool.</a:t>
            </a:r>
          </a:p>
          <a:p>
            <a:endParaRPr lang="en-US" dirty="0"/>
          </a:p>
          <a:p>
            <a:r>
              <a:rPr lang="en-US" dirty="0"/>
              <a:t>Std dev of 0.0037 across 5 folds is small. The minimum GB fold AUC (0.8815) exceeds the maximum LR fold AUC (0.8711). That means the performance ranking is not explained by sampling variance — if one model happened to get an easier fold, you'd see more overlap. It didn't. The ranking is real.</a:t>
            </a:r>
          </a:p>
          <a:p>
            <a:endParaRPr lang="en-US" dirty="0"/>
          </a:p>
          <a:p>
            <a:r>
              <a:rPr lang="en-US" dirty="0"/>
              <a:t>The most clinically relevant operating region is FPR 0.0 to 0.2 — that's where you're catching smokers while flagging very few non-smokers. At that range, GB leads all three models. That's the preferred shape for a screening test: you want the curve to bend hard toward the upper left at low false positive rates. Saying "the curves cluster tightly at low FPR" and pointing to that region of the chart is more clinically meaningful than stating the AUC headline.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feature importance number should be paired with a biological claim:</a:t>
            </a:r>
          </a:p>
          <a:p>
            <a:r>
              <a:rPr lang="en-US" b="1" dirty="0"/>
              <a:t>Hemoglobin 0.411:</a:t>
            </a:r>
            <a:r>
              <a:rPr lang="en-US" dirty="0"/>
              <a:t> Polycythemia pathway. EPO-driven RBC production. Confirmed across NEJM, Mayo Clinic Proceedings. This is not a spurious correlation.</a:t>
            </a:r>
          </a:p>
          <a:p>
            <a:r>
              <a:rPr lang="en-US" b="1" dirty="0"/>
              <a:t>Height 0.196:</a:t>
            </a:r>
            <a:r>
              <a:rPr lang="en-US" dirty="0"/>
              <a:t> Sex proxy. The model is learning a 41 percentage-point smoking rate gap between tall and short observations. If you added an explicit sex field, this would drop substantially. The real question is how much of 0.196 is height-as-anthropometric-predictor versus height-as-sex-proxy — you can't separate them without a sex variable.</a:t>
            </a:r>
          </a:p>
          <a:p>
            <a:r>
              <a:rPr lang="en-US" b="1" dirty="0" err="1"/>
              <a:t>Gtp</a:t>
            </a:r>
            <a:r>
              <a:rPr lang="en-US" b="1" dirty="0"/>
              <a:t> 0.109:</a:t>
            </a:r>
            <a:r>
              <a:rPr lang="en-US" dirty="0"/>
              <a:t> GGT induced by tobacco metabolites. Confounded by alcohol. A heavy drinker who doesn't smoke will still receive elevated smoking probability from this feature alone.</a:t>
            </a:r>
          </a:p>
          <a:p>
            <a:r>
              <a:rPr lang="en-US" b="1" dirty="0"/>
              <a:t>Triglyceride 0.089:</a:t>
            </a:r>
            <a:r>
              <a:rPr lang="en-US" dirty="0"/>
              <a:t> VLDL upregulation. 169-study meta-analysis confirms +0.50 mmol/L in smokers. Effects persist years after cessation — a recent quitter may still be flagged.</a:t>
            </a:r>
          </a:p>
          <a:p>
            <a:r>
              <a:rPr lang="en-US" b="1" dirty="0"/>
              <a:t>Age 0.037:</a:t>
            </a:r>
            <a:r>
              <a:rPr lang="en-US" dirty="0"/>
              <a:t> Cohort artifact, not causal. Younger cohorts in this dataset smoke more. The model learned a negative age coefficient that has no </a:t>
            </a:r>
            <a:r>
              <a:rPr lang="en-US" dirty="0" err="1"/>
              <a:t>generalizabilit</a:t>
            </a:r>
            <a:endParaRPr lang="en-US" dirty="0"/>
          </a:p>
          <a:p>
            <a:endParaRPr lang="en-US" dirty="0"/>
          </a:p>
          <a:p>
            <a:endParaRPr lang="en-US" dirty="0"/>
          </a:p>
          <a:p>
            <a:r>
              <a:rPr lang="en-US" dirty="0"/>
              <a:t>Gini importance (MDI) systematically </a:t>
            </a:r>
            <a:r>
              <a:rPr lang="en-US" dirty="0" err="1"/>
              <a:t>overweights</a:t>
            </a:r>
            <a:r>
              <a:rPr lang="en-US" dirty="0"/>
              <a:t> high-cardinality continuous features. Hemoglobin has a large number of distinct values and appears in many splits — that mechanically inflates its Gini score relative to binary features like dental caries. The correct interpretation is "hemoglobin is the most important feature" but not "hemoglobin is 34x more important than dental caries." Permutation importance and SHAP values are the model-agnostic alternatives that correct for this bias. Mentioning this proactively shows you understand the metric's limits.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perfectly calibrated model produces predicted probabilities that match observed event rates: if the model says 0.70 for a group of patients, 70% of them should actually be smokers. The diagonal on the calibration plot is that perfect reference line. Gradient Boosting tracks the diagonal closely from 0.0 to 0.5 — that's the useful range for most clinical decisions.</a:t>
            </a:r>
          </a:p>
          <a:p>
            <a:r>
              <a:rPr lang="en-US" dirty="0">
                <a:effectLst/>
              </a:rPr>
              <a:t>The model caps near 0.85 rather than reaching 1.0. This is a known property of gradient boosting — it compresses high-confidence predictions. A patient the model is extremely confident about (true score near 0.95) gets predicted as 0.85. Isotonic regression or Platt scaling as a post-processing step would stretch that range back toward the true values. This matters if you want to use the model's score as a genuine risk probability, not just a ranking.</a:t>
            </a:r>
          </a:p>
          <a:p>
            <a:endParaRPr lang="en-US" dirty="0"/>
          </a:p>
          <a:p>
            <a:r>
              <a:rPr lang="en-US" dirty="0"/>
              <a:t>The default threshold of 0.50 was set for balanced precision and recall. But in screening, the costs are asymmetric:</a:t>
            </a:r>
          </a:p>
          <a:p>
            <a:r>
              <a:rPr lang="en-US" b="1" dirty="0"/>
              <a:t>False negative:</a:t>
            </a:r>
            <a:r>
              <a:rPr lang="en-US" dirty="0"/>
              <a:t> A smoker goes unidentified. They continue smoking without counseling, their risk model is wrong, downstream cardiovascular risk is understated.</a:t>
            </a:r>
          </a:p>
          <a:p>
            <a:r>
              <a:rPr lang="en-US" b="1" dirty="0"/>
              <a:t>False positive:</a:t>
            </a:r>
            <a:r>
              <a:rPr lang="en-US" dirty="0"/>
              <a:t> A non-smoker gets a counseling flag. The clinician asks a follow-up question, the patient clarifies. Downstream cost is low.</a:t>
            </a:r>
          </a:p>
          <a:p>
            <a:r>
              <a:rPr lang="en-US" dirty="0">
                <a:effectLst/>
              </a:rPr>
              <a:t>When false negatives are more costly than false positives, you lower the threshold. At 0.35, recall rises above 85% — you catch 85%+ of smokers — at a precision cost to about 62%. For population-level counseling referrals where the intervention is low-cost and the patient can self-correct the flag, this tradeoff is favorable. The Youden J statistic formalizes this: it finds the threshold that maximizes sensitivity + specificity − 1.</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weak limitations section says: "The model may not generalize." A strong one says: "Here is the exact mechanism by which it fails, in which populations, and what it would take to fix it." Lead with the three most consequential:</a:t>
            </a:r>
          </a:p>
          <a:p>
            <a:r>
              <a:rPr lang="en-US" b="1" dirty="0">
                <a:effectLst/>
              </a:rPr>
              <a:t>Synthetic data:</a:t>
            </a:r>
            <a:r>
              <a:rPr lang="en-US" dirty="0">
                <a:effectLst/>
              </a:rPr>
              <a:t> Tail compression in </a:t>
            </a:r>
            <a:r>
              <a:rPr lang="en-US" dirty="0" err="1">
                <a:effectLst/>
              </a:rPr>
              <a:t>Gtp</a:t>
            </a:r>
            <a:r>
              <a:rPr lang="en-US" dirty="0">
                <a:effectLst/>
              </a:rPr>
              <a:t>, ALT, triglycerides. A real patient with GGT of 400 IU/L (well above the dataset max of 321) would be out-of-distribution. The model has no signal for what happens at that extreme.</a:t>
            </a:r>
          </a:p>
          <a:p>
            <a:r>
              <a:rPr lang="en-US" b="1" dirty="0">
                <a:effectLst/>
              </a:rPr>
              <a:t>Korean population specificity:</a:t>
            </a:r>
            <a:r>
              <a:rPr lang="en-US" dirty="0">
                <a:effectLst/>
              </a:rPr>
              <a:t> The male-to-female smoking ratio in South Korea is among the highest globally (~4:1 vs ~1.5:1 in the US). The sex-by-smoking confound embedded in height is exaggerated relative to a Western deployment context. Without retraining on representative local data, deploying this model in a US clinic is not justified.</a:t>
            </a:r>
          </a:p>
          <a:p>
            <a:r>
              <a:rPr lang="en-US" b="1" dirty="0">
                <a:effectLst/>
              </a:rPr>
              <a:t>Alcohol confound in hepatic features:</a:t>
            </a:r>
            <a:r>
              <a:rPr lang="en-US" dirty="0">
                <a:effectLst/>
              </a:rPr>
              <a:t> </a:t>
            </a:r>
            <a:r>
              <a:rPr lang="en-US" dirty="0" err="1">
                <a:effectLst/>
              </a:rPr>
              <a:t>Gtp</a:t>
            </a:r>
            <a:r>
              <a:rPr lang="en-US" dirty="0">
                <a:effectLst/>
              </a:rPr>
              <a:t>, ALT, and AST all respond to both tobacco and alcohol. The dataset has no alcohol consumption variable. A heavy-drinking non-smoker with </a:t>
            </a:r>
            <a:r>
              <a:rPr lang="en-US" dirty="0" err="1">
                <a:effectLst/>
              </a:rPr>
              <a:t>Gtp</a:t>
            </a:r>
            <a:r>
              <a:rPr lang="en-US" dirty="0">
                <a:effectLst/>
              </a:rPr>
              <a:t> of 60 IU/L will receive a high smoking probability regardless of actual tobacco use. This cannot be corrected without adding alcohol data.</a:t>
            </a:r>
          </a:p>
          <a:p>
            <a:endParaRPr lang="en-US" dirty="0"/>
          </a:p>
          <a:p>
            <a:endParaRPr lang="en-US" dirty="0"/>
          </a:p>
          <a:p>
            <a:r>
              <a:rPr lang="en-US" dirty="0"/>
              <a:t>This one shows real depth. Hemoglobin normalizes within weeks to months of cessation. Triglyceride effects persist for years. HDL improves quickly. So a patient who quit 6 weeks ago has: partially normalized hemoglobin, still-elevated triglycerides, improved HDL. The model receives a mixed signal and assigns elevated smoking probability. The dataset labels this patient as a current non-smoker (if they've quit), so the model trains on a false negative. You can't quantify the misclassification rate because ex-smoker status isn't recorded anywhere in the data.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takeaways — how to say each one</a:t>
            </a:r>
          </a:p>
          <a:p>
            <a:r>
              <a:rPr lang="en-US" b="1" dirty="0"/>
              <a:t>1. AUC 0.8887 from routine labs:</a:t>
            </a:r>
            <a:r>
              <a:rPr lang="en-US" dirty="0"/>
              <a:t> Say — </a:t>
            </a:r>
            <a:r>
              <a:rPr lang="en-US" i="1" dirty="0"/>
              <a:t>"A standard CBC and metabolic panel, without cotinine, without any self-report, discriminates smokers from non-smokers with 89% AUC. That's clinically meaningful."</a:t>
            </a:r>
            <a:endParaRPr lang="en-US" dirty="0"/>
          </a:p>
          <a:p>
            <a:r>
              <a:rPr lang="en-US" b="1" dirty="0">
                <a:effectLst/>
              </a:rPr>
              <a:t>2. Hemoglobin dominates via polycythemia:</a:t>
            </a:r>
            <a:r>
              <a:rPr lang="en-US" dirty="0">
                <a:effectLst/>
              </a:rPr>
              <a:t> Say — </a:t>
            </a:r>
            <a:r>
              <a:rPr lang="en-US" i="1" dirty="0">
                <a:effectLst/>
              </a:rPr>
              <a:t>"The top feature isn't a guess — it has a mechanism confirmed across three independent clinical studies. The model found what the biology predicts."</a:t>
            </a:r>
            <a:endParaRPr lang="en-US" dirty="0">
              <a:effectLst/>
            </a:endParaRPr>
          </a:p>
          <a:p>
            <a:r>
              <a:rPr lang="en-US" b="1" dirty="0">
                <a:effectLst/>
              </a:rPr>
              <a:t>3. Threshold 0.35 for screening:</a:t>
            </a:r>
            <a:r>
              <a:rPr lang="en-US" dirty="0">
                <a:effectLst/>
              </a:rPr>
              <a:t> Say — </a:t>
            </a:r>
            <a:r>
              <a:rPr lang="en-US" i="1" dirty="0">
                <a:effectLst/>
              </a:rPr>
              <a:t>"At the default 0.50 threshold, 21% of smokers are missed. Lowering to 0.35 raises recall above 85%. For a counseling referral workflow, that tradeoff is favorable."</a:t>
            </a:r>
            <a:endParaRPr lang="en-US" dirty="0">
              <a:effectLst/>
            </a:endParaRPr>
          </a:p>
          <a:p>
            <a:r>
              <a:rPr lang="en-US" b="1" dirty="0">
                <a:effectLst/>
              </a:rPr>
              <a:t>4. Algorithm is not the ceiling — data is:</a:t>
            </a:r>
            <a:r>
              <a:rPr lang="en-US" dirty="0">
                <a:effectLst/>
              </a:rPr>
              <a:t> Say — </a:t>
            </a:r>
            <a:r>
              <a:rPr lang="en-US" i="1" dirty="0">
                <a:effectLst/>
              </a:rPr>
              <a:t>"All three models clustered within 0.01 AUC. The next meaningful gain doesn't come from a better algorithm. It comes from the full 159,000-row dataset."</a:t>
            </a:r>
            <a:endParaRPr lang="en-US" dirty="0">
              <a:effectLst/>
            </a:endParaRPr>
          </a:p>
          <a:p>
            <a:endParaRPr lang="en-US" dirty="0"/>
          </a:p>
          <a:p>
            <a:r>
              <a:rPr lang="en-US" b="1" dirty="0"/>
              <a:t>Priority 1 — Full 159K dataset:</a:t>
            </a:r>
            <a:r>
              <a:rPr lang="en-US" dirty="0"/>
              <a:t> 10x observations → +0.015 to 0.030 AUC, likely crossing 0.90. This is the only step with a published scaling </a:t>
            </a:r>
            <a:r>
              <a:rPr lang="en-US" dirty="0" err="1"/>
              <a:t>estimate.</a:t>
            </a:r>
            <a:r>
              <a:rPr lang="en-US" b="1" dirty="0" err="1"/>
              <a:t>Priority</a:t>
            </a:r>
            <a:r>
              <a:rPr lang="en-US" b="1" dirty="0"/>
              <a:t> 2 — Stacked ensemble (</a:t>
            </a:r>
            <a:r>
              <a:rPr lang="en-US" b="1" dirty="0" err="1"/>
              <a:t>XGBoost</a:t>
            </a:r>
            <a:r>
              <a:rPr lang="en-US" b="1" dirty="0"/>
              <a:t> + </a:t>
            </a:r>
            <a:r>
              <a:rPr lang="en-US" b="1" dirty="0" err="1"/>
              <a:t>LightGBM</a:t>
            </a:r>
            <a:r>
              <a:rPr lang="en-US" b="1" dirty="0"/>
              <a:t> → LR meta-learner):</a:t>
            </a:r>
            <a:r>
              <a:rPr lang="en-US" dirty="0"/>
              <a:t> Complementary inductive biases on the same feature set. Expected gain: 0.002–0.005 AUC on top of the full </a:t>
            </a:r>
            <a:r>
              <a:rPr lang="en-US" dirty="0" err="1"/>
              <a:t>dataset.</a:t>
            </a:r>
            <a:r>
              <a:rPr lang="en-US" b="1" dirty="0" err="1"/>
              <a:t>Priority</a:t>
            </a:r>
            <a:r>
              <a:rPr lang="en-US" b="1" dirty="0"/>
              <a:t> 3 — Add sex field and alcohol variable:</a:t>
            </a:r>
            <a:r>
              <a:rPr lang="en-US" dirty="0"/>
              <a:t> Disentangles height confound. Isolates tobacco-specific </a:t>
            </a:r>
            <a:r>
              <a:rPr lang="en-US" dirty="0" err="1"/>
              <a:t>Gtp</a:t>
            </a:r>
            <a:r>
              <a:rPr lang="en-US" dirty="0"/>
              <a:t> signal. Would clarify feature importance </a:t>
            </a:r>
            <a:r>
              <a:rPr lang="en-US" dirty="0" err="1"/>
              <a:t>interpretation.</a:t>
            </a:r>
            <a:r>
              <a:rPr lang="en-US" b="1" dirty="0" err="1"/>
              <a:t>Priority</a:t>
            </a:r>
            <a:r>
              <a:rPr lang="en-US" b="1" dirty="0"/>
              <a:t> 4 — SHAP values:</a:t>
            </a:r>
            <a:r>
              <a:rPr lang="en-US" dirty="0"/>
              <a:t> Replaces Gini MDI with model-agnostic attribution. No AUC gain — interpretability improvement </a:t>
            </a:r>
            <a:r>
              <a:rPr lang="en-US" dirty="0" err="1"/>
              <a:t>only.</a:t>
            </a:r>
            <a:r>
              <a:rPr lang="en-US" b="1" dirty="0" err="1"/>
              <a:t>Priority</a:t>
            </a:r>
            <a:r>
              <a:rPr lang="en-US" b="1" dirty="0"/>
              <a:t> 5 — Platt scaling/isotonic calibration:</a:t>
            </a:r>
            <a:r>
              <a:rPr lang="en-US" dirty="0"/>
              <a:t> Fixes the 0.85 probability cap. No AUC gain — necessary for individual clinical risk scores.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4B"/>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4B9CD3"/>
          </a:solidFill>
          <a:ln w="12700">
            <a:solidFill>
              <a:srgbClr val="4B9CD3"/>
            </a:solidFill>
            <a:prstDash val="solid"/>
          </a:ln>
        </p:spPr>
        <p:txBody>
          <a:bodyPr/>
          <a:lstStyle/>
          <a:p>
            <a:endParaRPr lang="en-US"/>
          </a:p>
        </p:txBody>
      </p:sp>
      <p:sp>
        <p:nvSpPr>
          <p:cNvPr id="5" name="Text 3"/>
          <p:cNvSpPr/>
          <p:nvPr/>
        </p:nvSpPr>
        <p:spPr>
          <a:xfrm>
            <a:off x="457200" y="731520"/>
            <a:ext cx="8321040" cy="1051560"/>
          </a:xfrm>
          <a:prstGeom prst="rect">
            <a:avLst/>
          </a:prstGeom>
          <a:noFill/>
          <a:ln/>
        </p:spPr>
        <p:txBody>
          <a:bodyPr wrap="square"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Smoker Status Prediction</a:t>
            </a:r>
            <a:endParaRPr lang="en-US" sz="4200" dirty="0"/>
          </a:p>
        </p:txBody>
      </p:sp>
      <p:sp>
        <p:nvSpPr>
          <p:cNvPr id="6" name="Text 4"/>
          <p:cNvSpPr/>
          <p:nvPr/>
        </p:nvSpPr>
        <p:spPr>
          <a:xfrm>
            <a:off x="457200" y="1783080"/>
            <a:ext cx="8321040" cy="594360"/>
          </a:xfrm>
          <a:prstGeom prst="rect">
            <a:avLst/>
          </a:prstGeom>
          <a:noFill/>
          <a:ln/>
        </p:spPr>
        <p:txBody>
          <a:bodyPr wrap="square" rtlCol="0" anchor="ctr"/>
          <a:lstStyle/>
          <a:p>
            <a:pPr marL="0" indent="0">
              <a:buNone/>
            </a:pPr>
            <a:r>
              <a:rPr lang="en-US" sz="2000" dirty="0">
                <a:solidFill>
                  <a:srgbClr val="9BC4E2"/>
                </a:solidFill>
                <a:latin typeface="Calibri" pitchFamily="34" charset="0"/>
                <a:ea typeface="Calibri" pitchFamily="34" charset="-122"/>
                <a:cs typeface="Calibri" pitchFamily="34" charset="-120"/>
              </a:rPr>
              <a:t>Using Clinical Biomarkers &amp; Ensemble Machine Learning</a:t>
            </a:r>
            <a:endParaRPr lang="en-US" sz="2000" dirty="0"/>
          </a:p>
        </p:txBody>
      </p:sp>
      <p:sp>
        <p:nvSpPr>
          <p:cNvPr id="7" name="Shape 5"/>
          <p:cNvSpPr/>
          <p:nvPr/>
        </p:nvSpPr>
        <p:spPr>
          <a:xfrm>
            <a:off x="457200" y="2542032"/>
            <a:ext cx="3657600" cy="45720"/>
          </a:xfrm>
          <a:prstGeom prst="rect">
            <a:avLst/>
          </a:prstGeom>
          <a:solidFill>
            <a:srgbClr val="4B9CD3"/>
          </a:solidFill>
          <a:ln w="12700">
            <a:solidFill>
              <a:srgbClr val="4B9CD3"/>
            </a:solidFill>
            <a:prstDash val="solid"/>
          </a:ln>
        </p:spPr>
        <p:txBody>
          <a:bodyPr/>
          <a:lstStyle/>
          <a:p>
            <a:endParaRPr lang="en-US"/>
          </a:p>
        </p:txBody>
      </p:sp>
      <p:sp>
        <p:nvSpPr>
          <p:cNvPr id="8" name="Text 6"/>
          <p:cNvSpPr/>
          <p:nvPr/>
        </p:nvSpPr>
        <p:spPr>
          <a:xfrm>
            <a:off x="457200" y="3246120"/>
            <a:ext cx="4114800" cy="1005840"/>
          </a:xfrm>
          <a:prstGeom prst="rect">
            <a:avLst/>
          </a:prstGeom>
          <a:noFill/>
          <a:ln/>
        </p:spPr>
        <p:txBody>
          <a:bodyPr wrap="square" rtlCol="0" anchor="ctr"/>
          <a:lstStyle/>
          <a:p>
            <a:pPr marL="0" indent="0">
              <a:buNone/>
            </a:pPr>
            <a:r>
              <a:rPr lang="en-US" sz="1400" b="1" dirty="0">
                <a:solidFill>
                  <a:srgbClr val="D6EAF8"/>
                </a:solidFill>
                <a:ea typeface="Calibri" pitchFamily="34" charset="-122"/>
                <a:cs typeface="Calibri" pitchFamily="34" charset="-120"/>
              </a:rPr>
              <a:t>Aidan Colvin</a:t>
            </a:r>
            <a:endParaRPr lang="en-US" sz="1400" dirty="0"/>
          </a:p>
          <a:p>
            <a:pPr marL="0" indent="0">
              <a:buNone/>
            </a:pPr>
            <a:br>
              <a:rPr lang="en-US" sz="800" dirty="0">
                <a:solidFill>
                  <a:srgbClr val="D6EAF8"/>
                </a:solidFill>
                <a:ea typeface="Calibri" pitchFamily="34" charset="-122"/>
                <a:cs typeface="Calibri" pitchFamily="34" charset="-120"/>
              </a:rPr>
            </a:br>
            <a:r>
              <a:rPr lang="en-US" sz="1400" dirty="0">
                <a:solidFill>
                  <a:srgbClr val="D6EAF8"/>
                </a:solidFill>
                <a:ea typeface="Calibri" pitchFamily="34" charset="-122"/>
                <a:cs typeface="Calibri" pitchFamily="34" charset="-120"/>
              </a:rPr>
              <a:t>Data Mining  ·  UNC Chapel Hill</a:t>
            </a:r>
            <a:endParaRPr lang="en-US" sz="1400" dirty="0"/>
          </a:p>
          <a:p>
            <a:pPr marL="0" indent="0">
              <a:buNone/>
            </a:pPr>
            <a:r>
              <a:rPr lang="en-US" sz="1400" dirty="0" err="1">
                <a:solidFill>
                  <a:srgbClr val="D6EAF8"/>
                </a:solidFill>
                <a:ea typeface="Calibri" pitchFamily="34" charset="-122"/>
                <a:cs typeface="Calibri" pitchFamily="34" charset="-120"/>
              </a:rPr>
              <a:t>github.com</a:t>
            </a:r>
            <a:r>
              <a:rPr lang="en-US" sz="1400" dirty="0">
                <a:solidFill>
                  <a:srgbClr val="D6EAF8"/>
                </a:solidFill>
                <a:ea typeface="Calibri" pitchFamily="34" charset="-122"/>
                <a:cs typeface="Calibri" pitchFamily="34" charset="-120"/>
              </a:rPr>
              <a:t>/AidanColvin/ml-smoker-status-prediction </a:t>
            </a:r>
            <a:endParaRPr lang="en-US" sz="1200" i="1" dirty="0">
              <a:solidFill>
                <a:srgbClr val="D6EAF8"/>
              </a:solidFill>
              <a:ea typeface="Calibri" pitchFamily="34" charset="-122"/>
              <a:cs typeface="Calibri" pitchFamily="34" charset="-120"/>
            </a:endParaRPr>
          </a:p>
          <a:p>
            <a:pPr marL="0" indent="0">
              <a:buNone/>
            </a:pPr>
            <a:endParaRPr lang="en-US" sz="800" i="1" dirty="0">
              <a:solidFill>
                <a:schemeClr val="bg1"/>
              </a:solidFill>
              <a:cs typeface="Calibri" pitchFamily="34" charset="-120"/>
            </a:endParaRPr>
          </a:p>
          <a:p>
            <a:r>
              <a:rPr lang="en-US" sz="1200" i="1" dirty="0">
                <a:solidFill>
                  <a:schemeClr val="bg1"/>
                </a:solidFill>
              </a:rPr>
              <a:t>Generative Al provided limited assistance in line with the course policy on usage of AI.</a:t>
            </a:r>
          </a:p>
        </p:txBody>
      </p:sp>
      <p:sp>
        <p:nvSpPr>
          <p:cNvPr id="9" name="Shape 7"/>
          <p:cNvSpPr/>
          <p:nvPr/>
        </p:nvSpPr>
        <p:spPr>
          <a:xfrm>
            <a:off x="5486400" y="3474720"/>
            <a:ext cx="1097280" cy="1325880"/>
          </a:xfrm>
          <a:prstGeom prst="rect">
            <a:avLst/>
          </a:prstGeom>
          <a:solidFill>
            <a:srgbClr val="4B9CD3"/>
          </a:solidFill>
          <a:ln w="12700">
            <a:solidFill>
              <a:srgbClr val="4B9CD3"/>
            </a:solidFill>
            <a:prstDash val="solid"/>
          </a:ln>
        </p:spPr>
        <p:txBody>
          <a:bodyPr/>
          <a:lstStyle/>
          <a:p>
            <a:endParaRPr lang="en-US"/>
          </a:p>
        </p:txBody>
      </p:sp>
      <p:sp>
        <p:nvSpPr>
          <p:cNvPr id="10" name="Text 8"/>
          <p:cNvSpPr/>
          <p:nvPr/>
        </p:nvSpPr>
        <p:spPr>
          <a:xfrm>
            <a:off x="5486400" y="3547872"/>
            <a:ext cx="1097280" cy="685800"/>
          </a:xfrm>
          <a:prstGeom prst="rect">
            <a:avLst/>
          </a:prstGeom>
          <a:noFill/>
          <a:ln/>
        </p:spPr>
        <p:txBody>
          <a:bodyPr wrap="square" rtlCol="0" anchor="b"/>
          <a:lstStyle/>
          <a:p>
            <a:pPr marL="0" indent="0" algn="ctr">
              <a:buNone/>
            </a:pPr>
            <a:r>
              <a:rPr lang="en-US" sz="2400" b="1" dirty="0">
                <a:solidFill>
                  <a:srgbClr val="FFFFFF"/>
                </a:solidFill>
                <a:latin typeface="Calibri" pitchFamily="34" charset="0"/>
                <a:ea typeface="Calibri" pitchFamily="34" charset="-122"/>
                <a:cs typeface="Calibri" pitchFamily="34" charset="-120"/>
              </a:rPr>
              <a:t>0.8887</a:t>
            </a:r>
            <a:endParaRPr lang="en-US" sz="2400" dirty="0"/>
          </a:p>
        </p:txBody>
      </p:sp>
      <p:sp>
        <p:nvSpPr>
          <p:cNvPr id="11" name="Text 9"/>
          <p:cNvSpPr/>
          <p:nvPr/>
        </p:nvSpPr>
        <p:spPr>
          <a:xfrm>
            <a:off x="5486400" y="4251960"/>
            <a:ext cx="1097280" cy="384048"/>
          </a:xfrm>
          <a:prstGeom prst="rect">
            <a:avLst/>
          </a:prstGeom>
          <a:noFill/>
          <a:ln/>
        </p:spPr>
        <p:txBody>
          <a:bodyPr wrap="square" rtlCol="0" anchor="t"/>
          <a:lstStyle/>
          <a:p>
            <a:pPr marL="0" indent="0" algn="ctr">
              <a:buNone/>
            </a:pPr>
            <a:r>
              <a:rPr lang="en-US" sz="1100" dirty="0">
                <a:solidFill>
                  <a:srgbClr val="13294B"/>
                </a:solidFill>
                <a:latin typeface="Calibri" pitchFamily="34" charset="0"/>
                <a:ea typeface="Calibri" pitchFamily="34" charset="-122"/>
                <a:cs typeface="Calibri" pitchFamily="34" charset="-120"/>
              </a:rPr>
              <a:t>Test AUC</a:t>
            </a:r>
            <a:endParaRPr lang="en-US" sz="1100" dirty="0"/>
          </a:p>
        </p:txBody>
      </p:sp>
      <p:sp>
        <p:nvSpPr>
          <p:cNvPr id="12" name="Shape 10"/>
          <p:cNvSpPr/>
          <p:nvPr/>
        </p:nvSpPr>
        <p:spPr>
          <a:xfrm>
            <a:off x="6693408" y="3474720"/>
            <a:ext cx="1097280" cy="1325880"/>
          </a:xfrm>
          <a:prstGeom prst="rect">
            <a:avLst/>
          </a:prstGeom>
          <a:solidFill>
            <a:srgbClr val="4B9CD3"/>
          </a:solidFill>
          <a:ln w="12700">
            <a:solidFill>
              <a:srgbClr val="4B9CD3"/>
            </a:solidFill>
            <a:prstDash val="solid"/>
          </a:ln>
        </p:spPr>
        <p:txBody>
          <a:bodyPr/>
          <a:lstStyle/>
          <a:p>
            <a:endParaRPr lang="en-US"/>
          </a:p>
        </p:txBody>
      </p:sp>
      <p:sp>
        <p:nvSpPr>
          <p:cNvPr id="13" name="Text 11"/>
          <p:cNvSpPr/>
          <p:nvPr/>
        </p:nvSpPr>
        <p:spPr>
          <a:xfrm>
            <a:off x="6693408" y="3547872"/>
            <a:ext cx="1097280" cy="685800"/>
          </a:xfrm>
          <a:prstGeom prst="rect">
            <a:avLst/>
          </a:prstGeom>
          <a:noFill/>
          <a:ln/>
        </p:spPr>
        <p:txBody>
          <a:bodyPr wrap="square" rtlCol="0" anchor="b"/>
          <a:lstStyle/>
          <a:p>
            <a:pPr marL="0" indent="0" algn="ctr">
              <a:buNone/>
            </a:pPr>
            <a:r>
              <a:rPr lang="en-US" sz="2400" b="1" dirty="0">
                <a:solidFill>
                  <a:srgbClr val="FFFFFF"/>
                </a:solidFill>
                <a:latin typeface="Calibri" pitchFamily="34" charset="0"/>
                <a:ea typeface="Calibri" pitchFamily="34" charset="-122"/>
                <a:cs typeface="Calibri" pitchFamily="34" charset="-120"/>
              </a:rPr>
              <a:t>15K</a:t>
            </a:r>
            <a:endParaRPr lang="en-US" sz="2400" dirty="0"/>
          </a:p>
        </p:txBody>
      </p:sp>
      <p:sp>
        <p:nvSpPr>
          <p:cNvPr id="14" name="Text 12"/>
          <p:cNvSpPr/>
          <p:nvPr/>
        </p:nvSpPr>
        <p:spPr>
          <a:xfrm>
            <a:off x="6693408" y="4251960"/>
            <a:ext cx="1097280" cy="384048"/>
          </a:xfrm>
          <a:prstGeom prst="rect">
            <a:avLst/>
          </a:prstGeom>
          <a:noFill/>
          <a:ln/>
        </p:spPr>
        <p:txBody>
          <a:bodyPr wrap="square" rtlCol="0" anchor="t"/>
          <a:lstStyle/>
          <a:p>
            <a:pPr marL="0" indent="0" algn="ctr">
              <a:buNone/>
            </a:pPr>
            <a:r>
              <a:rPr lang="en-US" sz="1100" dirty="0">
                <a:solidFill>
                  <a:srgbClr val="13294B"/>
                </a:solidFill>
                <a:latin typeface="Calibri" pitchFamily="34" charset="0"/>
                <a:ea typeface="Calibri" pitchFamily="34" charset="-122"/>
                <a:cs typeface="Calibri" pitchFamily="34" charset="-120"/>
              </a:rPr>
              <a:t>Training Obs</a:t>
            </a:r>
            <a:endParaRPr lang="en-US" sz="1100" dirty="0"/>
          </a:p>
        </p:txBody>
      </p:sp>
      <p:sp>
        <p:nvSpPr>
          <p:cNvPr id="15" name="Shape 13"/>
          <p:cNvSpPr/>
          <p:nvPr/>
        </p:nvSpPr>
        <p:spPr>
          <a:xfrm>
            <a:off x="7900416" y="3474720"/>
            <a:ext cx="1097280" cy="1325880"/>
          </a:xfrm>
          <a:prstGeom prst="rect">
            <a:avLst/>
          </a:prstGeom>
          <a:solidFill>
            <a:srgbClr val="4B9CD3"/>
          </a:solidFill>
          <a:ln w="12700">
            <a:solidFill>
              <a:srgbClr val="4B9CD3"/>
            </a:solidFill>
            <a:prstDash val="solid"/>
          </a:ln>
        </p:spPr>
        <p:txBody>
          <a:bodyPr/>
          <a:lstStyle/>
          <a:p>
            <a:endParaRPr lang="en-US"/>
          </a:p>
        </p:txBody>
      </p:sp>
      <p:sp>
        <p:nvSpPr>
          <p:cNvPr id="16" name="Text 14"/>
          <p:cNvSpPr/>
          <p:nvPr/>
        </p:nvSpPr>
        <p:spPr>
          <a:xfrm>
            <a:off x="7900416" y="3547872"/>
            <a:ext cx="1097280" cy="685800"/>
          </a:xfrm>
          <a:prstGeom prst="rect">
            <a:avLst/>
          </a:prstGeom>
          <a:noFill/>
          <a:ln/>
        </p:spPr>
        <p:txBody>
          <a:bodyPr wrap="square" rtlCol="0" anchor="b"/>
          <a:lstStyle/>
          <a:p>
            <a:pPr marL="0" indent="0" algn="ctr">
              <a:buNone/>
            </a:pPr>
            <a:r>
              <a:rPr lang="en-US" sz="2400" b="1" dirty="0">
                <a:solidFill>
                  <a:srgbClr val="FFFFFF"/>
                </a:solidFill>
                <a:latin typeface="Calibri" pitchFamily="34" charset="0"/>
                <a:ea typeface="Calibri" pitchFamily="34" charset="-122"/>
                <a:cs typeface="Calibri" pitchFamily="34" charset="-120"/>
              </a:rPr>
              <a:t>24</a:t>
            </a:r>
            <a:endParaRPr lang="en-US" sz="2400" dirty="0"/>
          </a:p>
        </p:txBody>
      </p:sp>
      <p:sp>
        <p:nvSpPr>
          <p:cNvPr id="17" name="Text 15"/>
          <p:cNvSpPr/>
          <p:nvPr/>
        </p:nvSpPr>
        <p:spPr>
          <a:xfrm>
            <a:off x="7900416" y="4251960"/>
            <a:ext cx="1097280" cy="384048"/>
          </a:xfrm>
          <a:prstGeom prst="rect">
            <a:avLst/>
          </a:prstGeom>
          <a:noFill/>
          <a:ln/>
        </p:spPr>
        <p:txBody>
          <a:bodyPr wrap="square" rtlCol="0" anchor="t"/>
          <a:lstStyle/>
          <a:p>
            <a:pPr marL="0" indent="0" algn="ctr">
              <a:buNone/>
            </a:pPr>
            <a:r>
              <a:rPr lang="en-US" sz="1100" dirty="0">
                <a:solidFill>
                  <a:srgbClr val="13294B"/>
                </a:solidFill>
                <a:latin typeface="Calibri" pitchFamily="34" charset="0"/>
                <a:ea typeface="Calibri" pitchFamily="34" charset="-122"/>
                <a:cs typeface="Calibri" pitchFamily="34" charset="-120"/>
              </a:rPr>
              <a:t>Biomarkers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Agenda</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sp>
        <p:nvSpPr>
          <p:cNvPr id="5" name="Shape 3"/>
          <p:cNvSpPr/>
          <p:nvPr/>
        </p:nvSpPr>
        <p:spPr>
          <a:xfrm>
            <a:off x="320040" y="804672"/>
            <a:ext cx="457200" cy="457200"/>
          </a:xfrm>
          <a:prstGeom prst="rect">
            <a:avLst/>
          </a:prstGeom>
          <a:solidFill>
            <a:srgbClr val="4B9CD3"/>
          </a:solidFill>
          <a:ln w="12700">
            <a:solidFill>
              <a:srgbClr val="4B9CD3"/>
            </a:solidFill>
            <a:prstDash val="solid"/>
          </a:ln>
        </p:spPr>
        <p:txBody>
          <a:bodyPr/>
          <a:lstStyle/>
          <a:p>
            <a:endParaRPr lang="en-US"/>
          </a:p>
        </p:txBody>
      </p:sp>
      <p:sp>
        <p:nvSpPr>
          <p:cNvPr id="6" name="Text 4"/>
          <p:cNvSpPr/>
          <p:nvPr/>
        </p:nvSpPr>
        <p:spPr>
          <a:xfrm>
            <a:off x="320040" y="804672"/>
            <a:ext cx="457200" cy="4572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Shape 5"/>
          <p:cNvSpPr/>
          <p:nvPr/>
        </p:nvSpPr>
        <p:spPr>
          <a:xfrm>
            <a:off x="932688" y="996696"/>
            <a:ext cx="7882128" cy="9144"/>
          </a:xfrm>
          <a:prstGeom prst="rect">
            <a:avLst/>
          </a:prstGeom>
          <a:solidFill>
            <a:srgbClr val="E8ECF0"/>
          </a:solidFill>
          <a:ln w="12700">
            <a:solidFill>
              <a:srgbClr val="E8ECF0"/>
            </a:solidFill>
            <a:prstDash val="solid"/>
          </a:ln>
        </p:spPr>
        <p:txBody>
          <a:bodyPr/>
          <a:lstStyle/>
          <a:p>
            <a:endParaRPr lang="en-US"/>
          </a:p>
        </p:txBody>
      </p:sp>
      <p:sp>
        <p:nvSpPr>
          <p:cNvPr id="8" name="Text 6"/>
          <p:cNvSpPr/>
          <p:nvPr/>
        </p:nvSpPr>
        <p:spPr>
          <a:xfrm>
            <a:off x="960120" y="786384"/>
            <a:ext cx="3200400" cy="320040"/>
          </a:xfrm>
          <a:prstGeom prst="rect">
            <a:avLst/>
          </a:prstGeom>
          <a:noFill/>
          <a:ln/>
        </p:spPr>
        <p:txBody>
          <a:bodyPr wrap="square" lIns="0" tIns="0" rIns="0" bIns="0"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Clinical Problem</a:t>
            </a:r>
            <a:endParaRPr lang="en-US" sz="1400" dirty="0"/>
          </a:p>
        </p:txBody>
      </p:sp>
      <p:sp>
        <p:nvSpPr>
          <p:cNvPr id="9" name="Text 7"/>
          <p:cNvSpPr/>
          <p:nvPr/>
        </p:nvSpPr>
        <p:spPr>
          <a:xfrm>
            <a:off x="960120" y="1069848"/>
            <a:ext cx="7863840" cy="22860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Why self-report fails — 20–30% of smokers deny tobacco use</a:t>
            </a:r>
            <a:endParaRPr lang="en-US" sz="1100" dirty="0"/>
          </a:p>
        </p:txBody>
      </p:sp>
      <p:sp>
        <p:nvSpPr>
          <p:cNvPr id="10" name="Shape 8"/>
          <p:cNvSpPr/>
          <p:nvPr/>
        </p:nvSpPr>
        <p:spPr>
          <a:xfrm>
            <a:off x="320040" y="1421892"/>
            <a:ext cx="457200" cy="457200"/>
          </a:xfrm>
          <a:prstGeom prst="rect">
            <a:avLst/>
          </a:prstGeom>
          <a:solidFill>
            <a:srgbClr val="4B9CD3"/>
          </a:solidFill>
          <a:ln w="12700">
            <a:solidFill>
              <a:srgbClr val="4B9CD3"/>
            </a:solidFill>
            <a:prstDash val="solid"/>
          </a:ln>
        </p:spPr>
        <p:txBody>
          <a:bodyPr/>
          <a:lstStyle/>
          <a:p>
            <a:endParaRPr lang="en-US"/>
          </a:p>
        </p:txBody>
      </p:sp>
      <p:sp>
        <p:nvSpPr>
          <p:cNvPr id="11" name="Text 9"/>
          <p:cNvSpPr/>
          <p:nvPr/>
        </p:nvSpPr>
        <p:spPr>
          <a:xfrm>
            <a:off x="320040" y="1421892"/>
            <a:ext cx="457200" cy="4572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Shape 10"/>
          <p:cNvSpPr/>
          <p:nvPr/>
        </p:nvSpPr>
        <p:spPr>
          <a:xfrm>
            <a:off x="932688" y="1613916"/>
            <a:ext cx="7882128" cy="9144"/>
          </a:xfrm>
          <a:prstGeom prst="rect">
            <a:avLst/>
          </a:prstGeom>
          <a:solidFill>
            <a:srgbClr val="E8ECF0"/>
          </a:solidFill>
          <a:ln w="12700">
            <a:solidFill>
              <a:srgbClr val="E8ECF0"/>
            </a:solidFill>
            <a:prstDash val="solid"/>
          </a:ln>
        </p:spPr>
        <p:txBody>
          <a:bodyPr/>
          <a:lstStyle/>
          <a:p>
            <a:endParaRPr lang="en-US"/>
          </a:p>
        </p:txBody>
      </p:sp>
      <p:sp>
        <p:nvSpPr>
          <p:cNvPr id="13" name="Text 11"/>
          <p:cNvSpPr/>
          <p:nvPr/>
        </p:nvSpPr>
        <p:spPr>
          <a:xfrm>
            <a:off x="960120" y="1403604"/>
            <a:ext cx="3200400" cy="320040"/>
          </a:xfrm>
          <a:prstGeom prst="rect">
            <a:avLst/>
          </a:prstGeom>
          <a:noFill/>
          <a:ln/>
        </p:spPr>
        <p:txBody>
          <a:bodyPr wrap="square" lIns="0" tIns="0" rIns="0" bIns="0"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Data &amp; Dataset Quirks</a:t>
            </a:r>
            <a:endParaRPr lang="en-US" sz="1400" dirty="0"/>
          </a:p>
        </p:txBody>
      </p:sp>
      <p:sp>
        <p:nvSpPr>
          <p:cNvPr id="14" name="Text 12"/>
          <p:cNvSpPr/>
          <p:nvPr/>
        </p:nvSpPr>
        <p:spPr>
          <a:xfrm>
            <a:off x="960120" y="1687068"/>
            <a:ext cx="7863840" cy="22860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15K synthetic Korean health records — provenance and limitations</a:t>
            </a:r>
            <a:endParaRPr lang="en-US" sz="1100" dirty="0"/>
          </a:p>
        </p:txBody>
      </p:sp>
      <p:sp>
        <p:nvSpPr>
          <p:cNvPr id="15" name="Shape 13"/>
          <p:cNvSpPr/>
          <p:nvPr/>
        </p:nvSpPr>
        <p:spPr>
          <a:xfrm>
            <a:off x="320040" y="2039112"/>
            <a:ext cx="457200" cy="457200"/>
          </a:xfrm>
          <a:prstGeom prst="rect">
            <a:avLst/>
          </a:prstGeom>
          <a:solidFill>
            <a:srgbClr val="4B9CD3"/>
          </a:solidFill>
          <a:ln w="12700">
            <a:solidFill>
              <a:srgbClr val="4B9CD3"/>
            </a:solidFill>
            <a:prstDash val="solid"/>
          </a:ln>
        </p:spPr>
        <p:txBody>
          <a:bodyPr/>
          <a:lstStyle/>
          <a:p>
            <a:endParaRPr lang="en-US"/>
          </a:p>
        </p:txBody>
      </p:sp>
      <p:sp>
        <p:nvSpPr>
          <p:cNvPr id="16" name="Text 14"/>
          <p:cNvSpPr/>
          <p:nvPr/>
        </p:nvSpPr>
        <p:spPr>
          <a:xfrm>
            <a:off x="320040" y="2039112"/>
            <a:ext cx="457200" cy="4572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Shape 15"/>
          <p:cNvSpPr/>
          <p:nvPr/>
        </p:nvSpPr>
        <p:spPr>
          <a:xfrm>
            <a:off x="932688" y="2231136"/>
            <a:ext cx="7882128" cy="9144"/>
          </a:xfrm>
          <a:prstGeom prst="rect">
            <a:avLst/>
          </a:prstGeom>
          <a:solidFill>
            <a:srgbClr val="E8ECF0"/>
          </a:solidFill>
          <a:ln w="12700">
            <a:solidFill>
              <a:srgbClr val="E8ECF0"/>
            </a:solidFill>
            <a:prstDash val="solid"/>
          </a:ln>
        </p:spPr>
        <p:txBody>
          <a:bodyPr/>
          <a:lstStyle/>
          <a:p>
            <a:endParaRPr lang="en-US"/>
          </a:p>
        </p:txBody>
      </p:sp>
      <p:sp>
        <p:nvSpPr>
          <p:cNvPr id="18" name="Text 16"/>
          <p:cNvSpPr/>
          <p:nvPr/>
        </p:nvSpPr>
        <p:spPr>
          <a:xfrm>
            <a:off x="960120" y="2020824"/>
            <a:ext cx="3200400" cy="320040"/>
          </a:xfrm>
          <a:prstGeom prst="rect">
            <a:avLst/>
          </a:prstGeom>
          <a:noFill/>
          <a:ln/>
        </p:spPr>
        <p:txBody>
          <a:bodyPr wrap="square" lIns="0" tIns="0" rIns="0" bIns="0"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Exploratory Analysis</a:t>
            </a:r>
            <a:endParaRPr lang="en-US" sz="1400" dirty="0"/>
          </a:p>
        </p:txBody>
      </p:sp>
      <p:sp>
        <p:nvSpPr>
          <p:cNvPr id="19" name="Text 17"/>
          <p:cNvSpPr/>
          <p:nvPr/>
        </p:nvSpPr>
        <p:spPr>
          <a:xfrm>
            <a:off x="960120" y="2304288"/>
            <a:ext cx="7863840" cy="22860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Hemoglobin biology, feature correlations, class distribution</a:t>
            </a:r>
            <a:endParaRPr lang="en-US" sz="1100" dirty="0"/>
          </a:p>
        </p:txBody>
      </p:sp>
      <p:sp>
        <p:nvSpPr>
          <p:cNvPr id="20" name="Shape 18"/>
          <p:cNvSpPr/>
          <p:nvPr/>
        </p:nvSpPr>
        <p:spPr>
          <a:xfrm>
            <a:off x="320040" y="2656332"/>
            <a:ext cx="457200" cy="457200"/>
          </a:xfrm>
          <a:prstGeom prst="rect">
            <a:avLst/>
          </a:prstGeom>
          <a:solidFill>
            <a:srgbClr val="4B9CD3"/>
          </a:solidFill>
          <a:ln w="12700">
            <a:solidFill>
              <a:srgbClr val="4B9CD3"/>
            </a:solidFill>
            <a:prstDash val="solid"/>
          </a:ln>
        </p:spPr>
        <p:txBody>
          <a:bodyPr/>
          <a:lstStyle/>
          <a:p>
            <a:endParaRPr lang="en-US"/>
          </a:p>
        </p:txBody>
      </p:sp>
      <p:sp>
        <p:nvSpPr>
          <p:cNvPr id="21" name="Text 19"/>
          <p:cNvSpPr/>
          <p:nvPr/>
        </p:nvSpPr>
        <p:spPr>
          <a:xfrm>
            <a:off x="320040" y="2656332"/>
            <a:ext cx="457200" cy="4572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Shape 20"/>
          <p:cNvSpPr/>
          <p:nvPr/>
        </p:nvSpPr>
        <p:spPr>
          <a:xfrm>
            <a:off x="932688" y="2848356"/>
            <a:ext cx="7882128" cy="9144"/>
          </a:xfrm>
          <a:prstGeom prst="rect">
            <a:avLst/>
          </a:prstGeom>
          <a:solidFill>
            <a:srgbClr val="E8ECF0"/>
          </a:solidFill>
          <a:ln w="12700">
            <a:solidFill>
              <a:srgbClr val="E8ECF0"/>
            </a:solidFill>
            <a:prstDash val="solid"/>
          </a:ln>
        </p:spPr>
        <p:txBody>
          <a:bodyPr/>
          <a:lstStyle/>
          <a:p>
            <a:endParaRPr lang="en-US"/>
          </a:p>
        </p:txBody>
      </p:sp>
      <p:sp>
        <p:nvSpPr>
          <p:cNvPr id="23" name="Text 21"/>
          <p:cNvSpPr/>
          <p:nvPr/>
        </p:nvSpPr>
        <p:spPr>
          <a:xfrm>
            <a:off x="960120" y="2638044"/>
            <a:ext cx="3200400" cy="320040"/>
          </a:xfrm>
          <a:prstGeom prst="rect">
            <a:avLst/>
          </a:prstGeom>
          <a:noFill/>
          <a:ln/>
        </p:spPr>
        <p:txBody>
          <a:bodyPr wrap="square" lIns="0" tIns="0" rIns="0" bIns="0"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The Research: Feature Biology</a:t>
            </a:r>
            <a:endParaRPr lang="en-US" sz="1400" dirty="0"/>
          </a:p>
        </p:txBody>
      </p:sp>
      <p:sp>
        <p:nvSpPr>
          <p:cNvPr id="24" name="Text 22"/>
          <p:cNvSpPr/>
          <p:nvPr/>
        </p:nvSpPr>
        <p:spPr>
          <a:xfrm>
            <a:off x="960120" y="2921508"/>
            <a:ext cx="7863840" cy="22860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Why each biomarker associates with smoking — published evidence</a:t>
            </a:r>
            <a:endParaRPr lang="en-US" sz="1100" dirty="0"/>
          </a:p>
        </p:txBody>
      </p:sp>
      <p:sp>
        <p:nvSpPr>
          <p:cNvPr id="25" name="Shape 23"/>
          <p:cNvSpPr/>
          <p:nvPr/>
        </p:nvSpPr>
        <p:spPr>
          <a:xfrm>
            <a:off x="320040" y="3273552"/>
            <a:ext cx="457200" cy="457200"/>
          </a:xfrm>
          <a:prstGeom prst="rect">
            <a:avLst/>
          </a:prstGeom>
          <a:solidFill>
            <a:srgbClr val="4B9CD3"/>
          </a:solidFill>
          <a:ln w="12700">
            <a:solidFill>
              <a:srgbClr val="4B9CD3"/>
            </a:solidFill>
            <a:prstDash val="solid"/>
          </a:ln>
        </p:spPr>
        <p:txBody>
          <a:bodyPr/>
          <a:lstStyle/>
          <a:p>
            <a:endParaRPr lang="en-US"/>
          </a:p>
        </p:txBody>
      </p:sp>
      <p:sp>
        <p:nvSpPr>
          <p:cNvPr id="26" name="Text 24"/>
          <p:cNvSpPr/>
          <p:nvPr/>
        </p:nvSpPr>
        <p:spPr>
          <a:xfrm>
            <a:off x="320040" y="3273552"/>
            <a:ext cx="457200" cy="4572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Shape 25"/>
          <p:cNvSpPr/>
          <p:nvPr/>
        </p:nvSpPr>
        <p:spPr>
          <a:xfrm>
            <a:off x="932688" y="3465576"/>
            <a:ext cx="7882128" cy="9144"/>
          </a:xfrm>
          <a:prstGeom prst="rect">
            <a:avLst/>
          </a:prstGeom>
          <a:solidFill>
            <a:srgbClr val="E8ECF0"/>
          </a:solidFill>
          <a:ln w="12700">
            <a:solidFill>
              <a:srgbClr val="E8ECF0"/>
            </a:solidFill>
            <a:prstDash val="solid"/>
          </a:ln>
        </p:spPr>
        <p:txBody>
          <a:bodyPr/>
          <a:lstStyle/>
          <a:p>
            <a:endParaRPr lang="en-US"/>
          </a:p>
        </p:txBody>
      </p:sp>
      <p:sp>
        <p:nvSpPr>
          <p:cNvPr id="28" name="Text 26"/>
          <p:cNvSpPr/>
          <p:nvPr/>
        </p:nvSpPr>
        <p:spPr>
          <a:xfrm>
            <a:off x="960120" y="3255264"/>
            <a:ext cx="3200400" cy="320040"/>
          </a:xfrm>
          <a:prstGeom prst="rect">
            <a:avLst/>
          </a:prstGeom>
          <a:noFill/>
          <a:ln/>
        </p:spPr>
        <p:txBody>
          <a:bodyPr wrap="square" lIns="0" tIns="0" rIns="0" bIns="0"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Methodology</a:t>
            </a:r>
            <a:endParaRPr lang="en-US" sz="1400" dirty="0"/>
          </a:p>
        </p:txBody>
      </p:sp>
      <p:sp>
        <p:nvSpPr>
          <p:cNvPr id="29" name="Text 27"/>
          <p:cNvSpPr/>
          <p:nvPr/>
        </p:nvSpPr>
        <p:spPr>
          <a:xfrm>
            <a:off x="960120" y="3538728"/>
            <a:ext cx="7863840" cy="22860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LassoCV selection · Logistic Regression · Random Forest · Gradient Boosting</a:t>
            </a:r>
            <a:endParaRPr lang="en-US" sz="1100" dirty="0"/>
          </a:p>
        </p:txBody>
      </p:sp>
      <p:sp>
        <p:nvSpPr>
          <p:cNvPr id="30" name="Shape 28"/>
          <p:cNvSpPr/>
          <p:nvPr/>
        </p:nvSpPr>
        <p:spPr>
          <a:xfrm>
            <a:off x="320040" y="3890772"/>
            <a:ext cx="457200" cy="457200"/>
          </a:xfrm>
          <a:prstGeom prst="rect">
            <a:avLst/>
          </a:prstGeom>
          <a:solidFill>
            <a:srgbClr val="4B9CD3"/>
          </a:solidFill>
          <a:ln w="12700">
            <a:solidFill>
              <a:srgbClr val="4B9CD3"/>
            </a:solidFill>
            <a:prstDash val="solid"/>
          </a:ln>
        </p:spPr>
        <p:txBody>
          <a:bodyPr/>
          <a:lstStyle/>
          <a:p>
            <a:endParaRPr lang="en-US"/>
          </a:p>
        </p:txBody>
      </p:sp>
      <p:sp>
        <p:nvSpPr>
          <p:cNvPr id="31" name="Text 29"/>
          <p:cNvSpPr/>
          <p:nvPr/>
        </p:nvSpPr>
        <p:spPr>
          <a:xfrm>
            <a:off x="320040" y="3890772"/>
            <a:ext cx="457200" cy="4572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06</a:t>
            </a:r>
            <a:endParaRPr lang="en-US" sz="1400" dirty="0"/>
          </a:p>
        </p:txBody>
      </p:sp>
      <p:sp>
        <p:nvSpPr>
          <p:cNvPr id="32" name="Shape 30"/>
          <p:cNvSpPr/>
          <p:nvPr/>
        </p:nvSpPr>
        <p:spPr>
          <a:xfrm>
            <a:off x="932688" y="4082796"/>
            <a:ext cx="7882128" cy="9144"/>
          </a:xfrm>
          <a:prstGeom prst="rect">
            <a:avLst/>
          </a:prstGeom>
          <a:solidFill>
            <a:srgbClr val="E8ECF0"/>
          </a:solidFill>
          <a:ln w="12700">
            <a:solidFill>
              <a:srgbClr val="E8ECF0"/>
            </a:solidFill>
            <a:prstDash val="solid"/>
          </a:ln>
        </p:spPr>
        <p:txBody>
          <a:bodyPr/>
          <a:lstStyle/>
          <a:p>
            <a:endParaRPr lang="en-US"/>
          </a:p>
        </p:txBody>
      </p:sp>
      <p:sp>
        <p:nvSpPr>
          <p:cNvPr id="33" name="Text 31"/>
          <p:cNvSpPr/>
          <p:nvPr/>
        </p:nvSpPr>
        <p:spPr>
          <a:xfrm>
            <a:off x="960120" y="3872484"/>
            <a:ext cx="3200400" cy="320040"/>
          </a:xfrm>
          <a:prstGeom prst="rect">
            <a:avLst/>
          </a:prstGeom>
          <a:noFill/>
          <a:ln/>
        </p:spPr>
        <p:txBody>
          <a:bodyPr wrap="square" lIns="0" tIns="0" rIns="0" bIns="0"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Results &amp; Interpretation</a:t>
            </a:r>
            <a:endParaRPr lang="en-US" sz="1400" dirty="0"/>
          </a:p>
        </p:txBody>
      </p:sp>
      <p:sp>
        <p:nvSpPr>
          <p:cNvPr id="34" name="Text 32"/>
          <p:cNvSpPr/>
          <p:nvPr/>
        </p:nvSpPr>
        <p:spPr>
          <a:xfrm>
            <a:off x="960120" y="4155948"/>
            <a:ext cx="7863840" cy="22860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AUC 0.8887 · Feature importance · Calibration · Threshold analysis</a:t>
            </a:r>
            <a:endParaRPr lang="en-US" sz="1100" dirty="0"/>
          </a:p>
        </p:txBody>
      </p:sp>
      <p:sp>
        <p:nvSpPr>
          <p:cNvPr id="35" name="Shape 33"/>
          <p:cNvSpPr/>
          <p:nvPr/>
        </p:nvSpPr>
        <p:spPr>
          <a:xfrm>
            <a:off x="320040" y="4507992"/>
            <a:ext cx="457200" cy="457200"/>
          </a:xfrm>
          <a:prstGeom prst="rect">
            <a:avLst/>
          </a:prstGeom>
          <a:solidFill>
            <a:srgbClr val="4B9CD3"/>
          </a:solidFill>
          <a:ln w="12700">
            <a:solidFill>
              <a:srgbClr val="4B9CD3"/>
            </a:solidFill>
            <a:prstDash val="solid"/>
          </a:ln>
        </p:spPr>
        <p:txBody>
          <a:bodyPr/>
          <a:lstStyle/>
          <a:p>
            <a:endParaRPr lang="en-US"/>
          </a:p>
        </p:txBody>
      </p:sp>
      <p:sp>
        <p:nvSpPr>
          <p:cNvPr id="36" name="Text 34"/>
          <p:cNvSpPr/>
          <p:nvPr/>
        </p:nvSpPr>
        <p:spPr>
          <a:xfrm>
            <a:off x="320040" y="4507992"/>
            <a:ext cx="457200" cy="4572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07</a:t>
            </a:r>
            <a:endParaRPr lang="en-US" sz="1400" dirty="0"/>
          </a:p>
        </p:txBody>
      </p:sp>
      <p:sp>
        <p:nvSpPr>
          <p:cNvPr id="37" name="Shape 35"/>
          <p:cNvSpPr/>
          <p:nvPr/>
        </p:nvSpPr>
        <p:spPr>
          <a:xfrm>
            <a:off x="932688" y="4700016"/>
            <a:ext cx="7882128" cy="9144"/>
          </a:xfrm>
          <a:prstGeom prst="rect">
            <a:avLst/>
          </a:prstGeom>
          <a:solidFill>
            <a:srgbClr val="E8ECF0"/>
          </a:solidFill>
          <a:ln w="12700">
            <a:solidFill>
              <a:srgbClr val="E8ECF0"/>
            </a:solidFill>
            <a:prstDash val="solid"/>
          </a:ln>
        </p:spPr>
        <p:txBody>
          <a:bodyPr/>
          <a:lstStyle/>
          <a:p>
            <a:endParaRPr lang="en-US"/>
          </a:p>
        </p:txBody>
      </p:sp>
      <p:sp>
        <p:nvSpPr>
          <p:cNvPr id="38" name="Text 36"/>
          <p:cNvSpPr/>
          <p:nvPr/>
        </p:nvSpPr>
        <p:spPr>
          <a:xfrm>
            <a:off x="960120" y="4489704"/>
            <a:ext cx="3200400" cy="320040"/>
          </a:xfrm>
          <a:prstGeom prst="rect">
            <a:avLst/>
          </a:prstGeom>
          <a:noFill/>
          <a:ln/>
        </p:spPr>
        <p:txBody>
          <a:bodyPr wrap="square" lIns="0" tIns="0" rIns="0" bIns="0"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Conclusions &amp; Next Steps</a:t>
            </a:r>
            <a:endParaRPr lang="en-US" sz="1400" dirty="0"/>
          </a:p>
        </p:txBody>
      </p:sp>
      <p:sp>
        <p:nvSpPr>
          <p:cNvPr id="39" name="Text 37"/>
          <p:cNvSpPr/>
          <p:nvPr/>
        </p:nvSpPr>
        <p:spPr>
          <a:xfrm>
            <a:off x="960120" y="4773168"/>
            <a:ext cx="7863840" cy="22860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Path to 0.90+ AUC and clinical deployment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01 · Clinical Problem: Why Self-Report Fails</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sp>
        <p:nvSpPr>
          <p:cNvPr id="5" name="Text 3"/>
          <p:cNvSpPr/>
          <p:nvPr/>
        </p:nvSpPr>
        <p:spPr>
          <a:xfrm>
            <a:off x="320040" y="749808"/>
            <a:ext cx="4937760" cy="475488"/>
          </a:xfrm>
          <a:prstGeom prst="rect">
            <a:avLst/>
          </a:prstGeom>
          <a:noFill/>
          <a:ln/>
        </p:spPr>
        <p:txBody>
          <a:bodyPr wrap="square" rtlCol="0" anchor="ctr"/>
          <a:lstStyle/>
          <a:p>
            <a:pPr marL="0" indent="0">
              <a:buNone/>
            </a:pPr>
            <a:r>
              <a:rPr lang="en-US" sz="1600" b="1" dirty="0">
                <a:solidFill>
                  <a:srgbClr val="13294B"/>
                </a:solidFill>
                <a:latin typeface="Calibri" pitchFamily="34" charset="0"/>
                <a:ea typeface="Calibri" pitchFamily="34" charset="-122"/>
                <a:cs typeface="Calibri" pitchFamily="34" charset="-120"/>
              </a:rPr>
              <a:t>Smoking is the #1 preventable cause of death globally.</a:t>
            </a:r>
            <a:endParaRPr lang="en-US" sz="1600" dirty="0"/>
          </a:p>
        </p:txBody>
      </p:sp>
      <p:sp>
        <p:nvSpPr>
          <p:cNvPr id="6" name="Text 4"/>
          <p:cNvSpPr/>
          <p:nvPr/>
        </p:nvSpPr>
        <p:spPr>
          <a:xfrm>
            <a:off x="320040" y="1298448"/>
            <a:ext cx="4937760" cy="2194560"/>
          </a:xfrm>
          <a:prstGeom prst="rect">
            <a:avLst/>
          </a:prstGeom>
          <a:noFill/>
          <a:ln/>
        </p:spPr>
        <p:txBody>
          <a:bodyPr wrap="square" rtlCol="0" anchor="ctr"/>
          <a:lstStyle/>
          <a:p>
            <a:pPr marL="0" indent="0">
              <a:buNone/>
            </a:pPr>
            <a:r>
              <a:rPr lang="en-US" sz="1300" b="1" dirty="0">
                <a:solidFill>
                  <a:srgbClr val="13294B"/>
                </a:solidFill>
                <a:latin typeface="Calibri" pitchFamily="34" charset="0"/>
                <a:ea typeface="Calibri" pitchFamily="34" charset="-122"/>
                <a:cs typeface="Calibri" pitchFamily="34" charset="-120"/>
              </a:rPr>
              <a:t>Self-reported smoking status is unreliable.</a:t>
            </a:r>
            <a:endParaRPr lang="en-US" sz="1300" dirty="0"/>
          </a:p>
          <a:p>
            <a:pPr marL="0" indent="0">
              <a:buNone/>
            </a:pPr>
            <a:endParaRPr lang="en-US" sz="1300" dirty="0"/>
          </a:p>
          <a:p>
            <a:pPr marL="0" indent="0">
              <a:buNone/>
            </a:pPr>
            <a:r>
              <a:rPr lang="en-US" sz="1300" dirty="0">
                <a:solidFill>
                  <a:srgbClr val="4A5568"/>
                </a:solidFill>
                <a:latin typeface="Calibri" pitchFamily="34" charset="0"/>
                <a:ea typeface="Calibri" pitchFamily="34" charset="-122"/>
                <a:cs typeface="Calibri" pitchFamily="34" charset="-120"/>
              </a:rPr>
              <a:t>Published estimates place the denial rate among current smokers at </a:t>
            </a:r>
            <a:endParaRPr lang="en-US" sz="1300" dirty="0"/>
          </a:p>
          <a:p>
            <a:pPr marL="0" indent="0">
              <a:buNone/>
            </a:pPr>
            <a:r>
              <a:rPr lang="en-US" sz="1300" b="1" dirty="0">
                <a:solidFill>
                  <a:srgbClr val="4B9CD3"/>
                </a:solidFill>
                <a:latin typeface="Calibri" pitchFamily="34" charset="0"/>
                <a:ea typeface="Calibri" pitchFamily="34" charset="-122"/>
                <a:cs typeface="Calibri" pitchFamily="34" charset="-120"/>
              </a:rPr>
              <a:t>20–30%</a:t>
            </a:r>
            <a:r>
              <a:rPr lang="en-US" sz="1300" dirty="0">
                <a:solidFill>
                  <a:srgbClr val="4A5568"/>
                </a:solidFill>
                <a:latin typeface="Calibri" pitchFamily="34" charset="0"/>
                <a:ea typeface="Calibri" pitchFamily="34" charset="-122"/>
                <a:cs typeface="Calibri" pitchFamily="34" charset="-120"/>
              </a:rPr>
              <a:t> in clinical settings. Social desirability bias and fear of treatment consequences drive this underreporting.</a:t>
            </a:r>
            <a:endParaRPr lang="en-US" sz="1300" dirty="0"/>
          </a:p>
          <a:p>
            <a:pPr marL="0" indent="0">
              <a:buNone/>
            </a:pPr>
            <a:endParaRPr lang="en-US" sz="1300" dirty="0"/>
          </a:p>
          <a:p>
            <a:pPr marL="0" indent="0">
              <a:buNone/>
            </a:pPr>
            <a:r>
              <a:rPr lang="en-US" sz="1300" dirty="0">
                <a:solidFill>
                  <a:srgbClr val="4A5568"/>
                </a:solidFill>
                <a:latin typeface="Calibri" pitchFamily="34" charset="0"/>
                <a:ea typeface="Calibri" pitchFamily="34" charset="-122"/>
                <a:cs typeface="Calibri" pitchFamily="34" charset="-120"/>
              </a:rPr>
              <a:t>If routine laboratory measurements can predict smoking status without self-report, clinicians can proactively identify at-risk patients and intervene.</a:t>
            </a:r>
            <a:endParaRPr lang="en-US" sz="1300" dirty="0"/>
          </a:p>
        </p:txBody>
      </p:sp>
      <p:sp>
        <p:nvSpPr>
          <p:cNvPr id="7" name="Shape 5"/>
          <p:cNvSpPr/>
          <p:nvPr/>
        </p:nvSpPr>
        <p:spPr>
          <a:xfrm>
            <a:off x="320040" y="3611880"/>
            <a:ext cx="4937760" cy="658368"/>
          </a:xfrm>
          <a:prstGeom prst="rect">
            <a:avLst/>
          </a:prstGeom>
          <a:solidFill>
            <a:srgbClr val="4B9CD3"/>
          </a:solidFill>
          <a:ln w="12700">
            <a:solidFill>
              <a:srgbClr val="4B9CD3"/>
            </a:solidFill>
            <a:prstDash val="solid"/>
          </a:ln>
        </p:spPr>
        <p:txBody>
          <a:bodyPr/>
          <a:lstStyle/>
          <a:p>
            <a:endParaRPr lang="en-US"/>
          </a:p>
        </p:txBody>
      </p:sp>
      <p:sp>
        <p:nvSpPr>
          <p:cNvPr id="8" name="Text 6"/>
          <p:cNvSpPr/>
          <p:nvPr/>
        </p:nvSpPr>
        <p:spPr>
          <a:xfrm>
            <a:off x="320040" y="3611880"/>
            <a:ext cx="4937760" cy="658368"/>
          </a:xfrm>
          <a:prstGeom prst="rect">
            <a:avLst/>
          </a:prstGeom>
          <a:noFill/>
          <a:ln/>
        </p:spPr>
        <p:txBody>
          <a:bodyPr wrap="square" rtlCol="0" anchor="ctr"/>
          <a:lstStyle/>
          <a:p>
            <a:pPr marL="0" indent="0" algn="ctr">
              <a:buNone/>
            </a:pPr>
            <a:r>
              <a:rPr lang="en-US" sz="1400" b="1" i="1" dirty="0">
                <a:solidFill>
                  <a:srgbClr val="FFFFFF"/>
                </a:solidFill>
                <a:latin typeface="Calibri" pitchFamily="34" charset="0"/>
                <a:ea typeface="Calibri" pitchFamily="34" charset="-122"/>
                <a:cs typeface="Calibri" pitchFamily="34" charset="-120"/>
              </a:rPr>
              <a:t>Can 24 routine biomarkers replace self-report for smoking classification?</a:t>
            </a:r>
            <a:endParaRPr lang="en-US" sz="1400" dirty="0"/>
          </a:p>
        </p:txBody>
      </p:sp>
      <p:sp>
        <p:nvSpPr>
          <p:cNvPr id="9" name="Shape 7"/>
          <p:cNvSpPr/>
          <p:nvPr/>
        </p:nvSpPr>
        <p:spPr>
          <a:xfrm>
            <a:off x="5577840" y="749808"/>
            <a:ext cx="3246120" cy="1097280"/>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10" name="Shape 8"/>
          <p:cNvSpPr/>
          <p:nvPr/>
        </p:nvSpPr>
        <p:spPr>
          <a:xfrm>
            <a:off x="5577840" y="749808"/>
            <a:ext cx="3246120" cy="54864"/>
          </a:xfrm>
          <a:prstGeom prst="rect">
            <a:avLst/>
          </a:prstGeom>
          <a:solidFill>
            <a:srgbClr val="4B9CD3"/>
          </a:solidFill>
          <a:ln w="12700">
            <a:solidFill>
              <a:srgbClr val="4B9CD3"/>
            </a:solidFill>
            <a:prstDash val="solid"/>
          </a:ln>
        </p:spPr>
        <p:txBody>
          <a:bodyPr/>
          <a:lstStyle/>
          <a:p>
            <a:endParaRPr lang="en-US"/>
          </a:p>
        </p:txBody>
      </p:sp>
      <p:sp>
        <p:nvSpPr>
          <p:cNvPr id="11" name="Text 9"/>
          <p:cNvSpPr/>
          <p:nvPr/>
        </p:nvSpPr>
        <p:spPr>
          <a:xfrm>
            <a:off x="5577840" y="841248"/>
            <a:ext cx="3246120" cy="614477"/>
          </a:xfrm>
          <a:prstGeom prst="rect">
            <a:avLst/>
          </a:prstGeom>
          <a:noFill/>
          <a:ln/>
        </p:spPr>
        <p:txBody>
          <a:bodyPr wrap="square" rtlCol="0" anchor="b"/>
          <a:lstStyle/>
          <a:p>
            <a:pPr marL="0" indent="0" algn="ctr">
              <a:buNone/>
            </a:pPr>
            <a:r>
              <a:rPr lang="en-US" sz="3000" b="1" dirty="0">
                <a:solidFill>
                  <a:srgbClr val="FFFFFF"/>
                </a:solidFill>
                <a:latin typeface="Calibri" pitchFamily="34" charset="0"/>
                <a:ea typeface="Calibri" pitchFamily="34" charset="-122"/>
                <a:cs typeface="Calibri" pitchFamily="34" charset="-120"/>
              </a:rPr>
              <a:t>1 in 4</a:t>
            </a:r>
            <a:endParaRPr lang="en-US" sz="3000" dirty="0"/>
          </a:p>
        </p:txBody>
      </p:sp>
      <p:sp>
        <p:nvSpPr>
          <p:cNvPr id="12" name="Text 10"/>
          <p:cNvSpPr/>
          <p:nvPr/>
        </p:nvSpPr>
        <p:spPr>
          <a:xfrm>
            <a:off x="5577840" y="1386230"/>
            <a:ext cx="3246120" cy="416966"/>
          </a:xfrm>
          <a:prstGeom prst="rect">
            <a:avLst/>
          </a:prstGeom>
          <a:noFill/>
          <a:ln/>
        </p:spPr>
        <p:txBody>
          <a:bodyPr wrap="square" rtlCol="0" anchor="t"/>
          <a:lstStyle/>
          <a:p>
            <a:pPr marL="0" indent="0" algn="ctr">
              <a:buNone/>
            </a:pPr>
            <a:r>
              <a:rPr lang="en-US" sz="1100" dirty="0">
                <a:solidFill>
                  <a:srgbClr val="9BC4E2"/>
                </a:solidFill>
                <a:latin typeface="Calibri" pitchFamily="34" charset="0"/>
                <a:ea typeface="Calibri" pitchFamily="34" charset="-122"/>
                <a:cs typeface="Calibri" pitchFamily="34" charset="-120"/>
              </a:rPr>
              <a:t>Smokers deny use in clinical settings</a:t>
            </a:r>
            <a:endParaRPr lang="en-US" sz="1100" dirty="0"/>
          </a:p>
        </p:txBody>
      </p:sp>
      <p:sp>
        <p:nvSpPr>
          <p:cNvPr id="13" name="Shape 11"/>
          <p:cNvSpPr/>
          <p:nvPr/>
        </p:nvSpPr>
        <p:spPr>
          <a:xfrm>
            <a:off x="5577840" y="1993392"/>
            <a:ext cx="3246120" cy="1097280"/>
          </a:xfrm>
          <a:prstGeom prst="rect">
            <a:avLst/>
          </a:prstGeom>
          <a:solidFill>
            <a:srgbClr val="4B9CD3"/>
          </a:solidFill>
          <a:ln w="12700">
            <a:solidFill>
              <a:srgbClr val="4B9CD3"/>
            </a:solidFill>
            <a:prstDash val="solid"/>
          </a:ln>
          <a:effectLst>
            <a:outerShdw blurRad="50800" dist="25400" dir="8100000" algn="bl" rotWithShape="0">
              <a:srgbClr val="000000">
                <a:alpha val="10000"/>
              </a:srgbClr>
            </a:outerShdw>
          </a:effectLst>
        </p:spPr>
        <p:txBody>
          <a:bodyPr/>
          <a:lstStyle/>
          <a:p>
            <a:endParaRPr lang="en-US"/>
          </a:p>
        </p:txBody>
      </p:sp>
      <p:sp>
        <p:nvSpPr>
          <p:cNvPr id="14" name="Shape 12"/>
          <p:cNvSpPr/>
          <p:nvPr/>
        </p:nvSpPr>
        <p:spPr>
          <a:xfrm>
            <a:off x="5577840" y="1993392"/>
            <a:ext cx="3246120" cy="54864"/>
          </a:xfrm>
          <a:prstGeom prst="rect">
            <a:avLst/>
          </a:prstGeom>
          <a:solidFill>
            <a:srgbClr val="13294B"/>
          </a:solidFill>
          <a:ln w="12700">
            <a:solidFill>
              <a:srgbClr val="13294B"/>
            </a:solidFill>
            <a:prstDash val="solid"/>
          </a:ln>
        </p:spPr>
        <p:txBody>
          <a:bodyPr/>
          <a:lstStyle/>
          <a:p>
            <a:endParaRPr lang="en-US"/>
          </a:p>
        </p:txBody>
      </p:sp>
      <p:sp>
        <p:nvSpPr>
          <p:cNvPr id="15" name="Text 13"/>
          <p:cNvSpPr/>
          <p:nvPr/>
        </p:nvSpPr>
        <p:spPr>
          <a:xfrm>
            <a:off x="5577840" y="2084832"/>
            <a:ext cx="3246120" cy="614477"/>
          </a:xfrm>
          <a:prstGeom prst="rect">
            <a:avLst/>
          </a:prstGeom>
          <a:noFill/>
          <a:ln/>
        </p:spPr>
        <p:txBody>
          <a:bodyPr wrap="square" rtlCol="0" anchor="b"/>
          <a:lstStyle/>
          <a:p>
            <a:pPr marL="0" indent="0" algn="ctr">
              <a:buNone/>
            </a:pPr>
            <a:r>
              <a:rPr lang="en-US" sz="3000" b="1" dirty="0">
                <a:solidFill>
                  <a:srgbClr val="FFFFFF"/>
                </a:solidFill>
                <a:latin typeface="Calibri" pitchFamily="34" charset="0"/>
                <a:ea typeface="Calibri" pitchFamily="34" charset="-122"/>
                <a:cs typeface="Calibri" pitchFamily="34" charset="-120"/>
              </a:rPr>
              <a:t>AUC 0.8887</a:t>
            </a:r>
            <a:endParaRPr lang="en-US" sz="3000" dirty="0"/>
          </a:p>
        </p:txBody>
      </p:sp>
      <p:sp>
        <p:nvSpPr>
          <p:cNvPr id="16" name="Text 14"/>
          <p:cNvSpPr/>
          <p:nvPr/>
        </p:nvSpPr>
        <p:spPr>
          <a:xfrm>
            <a:off x="5577840" y="2629814"/>
            <a:ext cx="3246120" cy="416966"/>
          </a:xfrm>
          <a:prstGeom prst="rect">
            <a:avLst/>
          </a:prstGeom>
          <a:noFill/>
          <a:ln/>
        </p:spPr>
        <p:txBody>
          <a:bodyPr wrap="square" rtlCol="0" anchor="t"/>
          <a:lstStyle/>
          <a:p>
            <a:pPr marL="0" indent="0" algn="ctr">
              <a:buNone/>
            </a:pPr>
            <a:r>
              <a:rPr lang="en-US" sz="1100" dirty="0">
                <a:solidFill>
                  <a:srgbClr val="9BC4E2"/>
                </a:solidFill>
                <a:latin typeface="Calibri" pitchFamily="34" charset="0"/>
                <a:ea typeface="Calibri" pitchFamily="34" charset="-122"/>
                <a:cs typeface="Calibri" pitchFamily="34" charset="-120"/>
              </a:rPr>
              <a:t>Achieved without any self-report</a:t>
            </a:r>
            <a:endParaRPr lang="en-US" sz="1100" dirty="0"/>
          </a:p>
        </p:txBody>
      </p:sp>
      <p:sp>
        <p:nvSpPr>
          <p:cNvPr id="17" name="Shape 15"/>
          <p:cNvSpPr/>
          <p:nvPr/>
        </p:nvSpPr>
        <p:spPr>
          <a:xfrm>
            <a:off x="5577840" y="3236976"/>
            <a:ext cx="3246120" cy="1097280"/>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18" name="Shape 16"/>
          <p:cNvSpPr/>
          <p:nvPr/>
        </p:nvSpPr>
        <p:spPr>
          <a:xfrm>
            <a:off x="5577840" y="3236976"/>
            <a:ext cx="3246120" cy="54864"/>
          </a:xfrm>
          <a:prstGeom prst="rect">
            <a:avLst/>
          </a:prstGeom>
          <a:solidFill>
            <a:srgbClr val="4B9CD3"/>
          </a:solidFill>
          <a:ln w="12700">
            <a:solidFill>
              <a:srgbClr val="4B9CD3"/>
            </a:solidFill>
            <a:prstDash val="solid"/>
          </a:ln>
        </p:spPr>
        <p:txBody>
          <a:bodyPr/>
          <a:lstStyle/>
          <a:p>
            <a:endParaRPr lang="en-US"/>
          </a:p>
        </p:txBody>
      </p:sp>
      <p:sp>
        <p:nvSpPr>
          <p:cNvPr id="19" name="Text 17"/>
          <p:cNvSpPr/>
          <p:nvPr/>
        </p:nvSpPr>
        <p:spPr>
          <a:xfrm>
            <a:off x="5577840" y="3328416"/>
            <a:ext cx="3246120" cy="614477"/>
          </a:xfrm>
          <a:prstGeom prst="rect">
            <a:avLst/>
          </a:prstGeom>
          <a:noFill/>
          <a:ln/>
        </p:spPr>
        <p:txBody>
          <a:bodyPr wrap="square" rtlCol="0" anchor="b"/>
          <a:lstStyle/>
          <a:p>
            <a:pPr marL="0" indent="0" algn="ctr">
              <a:buNone/>
            </a:pPr>
            <a:r>
              <a:rPr lang="en-US" sz="3000" b="1" dirty="0">
                <a:solidFill>
                  <a:srgbClr val="FFFFFF"/>
                </a:solidFill>
                <a:latin typeface="Calibri" pitchFamily="34" charset="0"/>
                <a:ea typeface="Calibri" pitchFamily="34" charset="-122"/>
                <a:cs typeface="Calibri" pitchFamily="34" charset="-120"/>
              </a:rPr>
              <a:t>21.2% FNR</a:t>
            </a:r>
            <a:endParaRPr lang="en-US" sz="3000" dirty="0"/>
          </a:p>
        </p:txBody>
      </p:sp>
      <p:sp>
        <p:nvSpPr>
          <p:cNvPr id="20" name="Text 18"/>
          <p:cNvSpPr/>
          <p:nvPr/>
        </p:nvSpPr>
        <p:spPr>
          <a:xfrm>
            <a:off x="5577840" y="3873398"/>
            <a:ext cx="3246120" cy="416966"/>
          </a:xfrm>
          <a:prstGeom prst="rect">
            <a:avLst/>
          </a:prstGeom>
          <a:noFill/>
          <a:ln/>
        </p:spPr>
        <p:txBody>
          <a:bodyPr wrap="square" rtlCol="0" anchor="t"/>
          <a:lstStyle/>
          <a:p>
            <a:pPr marL="0" indent="0" algn="ctr">
              <a:buNone/>
            </a:pPr>
            <a:r>
              <a:rPr lang="en-US" sz="1100" dirty="0">
                <a:solidFill>
                  <a:srgbClr val="9BC4E2"/>
                </a:solidFill>
                <a:latin typeface="Calibri" pitchFamily="34" charset="0"/>
                <a:ea typeface="Calibri" pitchFamily="34" charset="-122"/>
                <a:cs typeface="Calibri" pitchFamily="34" charset="-120"/>
              </a:rPr>
              <a:t>False negative rate — Gradient Boosting</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02 · Dataset Overview: 15K Synthetic Korean Health Records</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74320" y="713232"/>
          <a:ext cx="5394960" cy="4114800"/>
        </p:xfrm>
        <a:graphic>
          <a:graphicData uri="http://schemas.openxmlformats.org/drawingml/2006/table">
            <a:tbl>
              <a:tblPr/>
              <a:tblGrid>
                <a:gridCol w="13716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Property</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Implication</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457200">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Source population</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Korean gov. health screening</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Not generalisable to Western populations</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Generation method</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Deep-learning generative model</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Tail compression in skewed features</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Training observations</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15,000</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~10× smaller than original; limits ceiling AUC</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Original dataset size</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159,256 rows</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Full data = most direct path to 0.90+</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Age 40 concentration</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35.9% of all observations</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Model undertrained at ages &lt;30 or &gt;60</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Class imbalance</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63.5% non-smoker / 36.5% smoker</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Stratified CV sufficient; no SMOTE needed</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Sex field</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Absent</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Height absorbs 41pp sex-by-smoking confound</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7"/>
                  </a:ext>
                </a:extLst>
              </a:tr>
              <a:tr h="457200">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Alcohol variable</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Absent</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Gtp/ALT/AST cannot separate tobacco vs. alcohol</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graphicFrame>
        <p:nvGraphicFramePr>
          <p:cNvPr id="6" name="Chart 0"/>
          <p:cNvGraphicFramePr/>
          <p:nvPr/>
        </p:nvGraphicFramePr>
        <p:xfrm>
          <a:off x="5897880" y="713232"/>
          <a:ext cx="2926080" cy="21031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1"/>
          <p:cNvGraphicFramePr/>
          <p:nvPr/>
        </p:nvGraphicFramePr>
        <p:xfrm>
          <a:off x="5897880" y="2907792"/>
          <a:ext cx="2926080" cy="192024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03 · EDA: Hemoglobin: The Dominant Signal</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274320" y="685800"/>
            <a:ext cx="5303520" cy="4069080"/>
          </a:xfrm>
          <a:prstGeom prst="rect">
            <a:avLst/>
          </a:prstGeom>
        </p:spPr>
      </p:pic>
      <p:sp>
        <p:nvSpPr>
          <p:cNvPr id="6" name="Shape 3"/>
          <p:cNvSpPr/>
          <p:nvPr/>
        </p:nvSpPr>
        <p:spPr>
          <a:xfrm>
            <a:off x="5760720" y="713232"/>
            <a:ext cx="3108960" cy="749808"/>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7" name="Shape 4"/>
          <p:cNvSpPr/>
          <p:nvPr/>
        </p:nvSpPr>
        <p:spPr>
          <a:xfrm>
            <a:off x="5760720" y="713232"/>
            <a:ext cx="64008" cy="749808"/>
          </a:xfrm>
          <a:prstGeom prst="rect">
            <a:avLst/>
          </a:prstGeom>
          <a:solidFill>
            <a:srgbClr val="13294B"/>
          </a:solidFill>
          <a:ln w="12700">
            <a:solidFill>
              <a:srgbClr val="13294B"/>
            </a:solidFill>
            <a:prstDash val="solid"/>
          </a:ln>
        </p:spPr>
        <p:txBody>
          <a:bodyPr/>
          <a:lstStyle/>
          <a:p>
            <a:endParaRPr lang="en-US"/>
          </a:p>
        </p:txBody>
      </p:sp>
      <p:sp>
        <p:nvSpPr>
          <p:cNvPr id="8" name="Text 5"/>
          <p:cNvSpPr/>
          <p:nvPr/>
        </p:nvSpPr>
        <p:spPr>
          <a:xfrm>
            <a:off x="5943600" y="749808"/>
            <a:ext cx="2834640" cy="347472"/>
          </a:xfrm>
          <a:prstGeom prst="rect">
            <a:avLst/>
          </a:prstGeom>
          <a:noFill/>
          <a:ln/>
        </p:spPr>
        <p:txBody>
          <a:bodyPr wrap="square" lIns="0" tIns="0" rIns="0" bIns="0" rtlCol="0" anchor="ctr"/>
          <a:lstStyle/>
          <a:p>
            <a:pPr marL="0" indent="0">
              <a:buNone/>
            </a:pPr>
            <a:r>
              <a:rPr lang="en-US" sz="2200" b="1" dirty="0">
                <a:solidFill>
                  <a:srgbClr val="13294B"/>
                </a:solidFill>
                <a:latin typeface="Calibri" pitchFamily="34" charset="0"/>
                <a:ea typeface="Calibri" pitchFamily="34" charset="-122"/>
                <a:cs typeface="Calibri" pitchFamily="34" charset="-120"/>
              </a:rPr>
              <a:t>~13.8 g/dL</a:t>
            </a:r>
            <a:endParaRPr lang="en-US" sz="2200" dirty="0"/>
          </a:p>
        </p:txBody>
      </p:sp>
      <p:sp>
        <p:nvSpPr>
          <p:cNvPr id="9" name="Text 6"/>
          <p:cNvSpPr/>
          <p:nvPr/>
        </p:nvSpPr>
        <p:spPr>
          <a:xfrm>
            <a:off x="5943600" y="1115568"/>
            <a:ext cx="28346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Non-Smoker Mode</a:t>
            </a:r>
            <a:endParaRPr lang="en-US" sz="1200" dirty="0"/>
          </a:p>
        </p:txBody>
      </p:sp>
      <p:sp>
        <p:nvSpPr>
          <p:cNvPr id="10" name="Shape 7"/>
          <p:cNvSpPr/>
          <p:nvPr/>
        </p:nvSpPr>
        <p:spPr>
          <a:xfrm>
            <a:off x="5760720" y="1581912"/>
            <a:ext cx="3108960" cy="749808"/>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1" name="Shape 8"/>
          <p:cNvSpPr/>
          <p:nvPr/>
        </p:nvSpPr>
        <p:spPr>
          <a:xfrm>
            <a:off x="5760720" y="1581912"/>
            <a:ext cx="64008" cy="749808"/>
          </a:xfrm>
          <a:prstGeom prst="rect">
            <a:avLst/>
          </a:prstGeom>
          <a:solidFill>
            <a:srgbClr val="4B9CD3"/>
          </a:solidFill>
          <a:ln w="12700">
            <a:solidFill>
              <a:srgbClr val="4B9CD3"/>
            </a:solidFill>
            <a:prstDash val="solid"/>
          </a:ln>
        </p:spPr>
        <p:txBody>
          <a:bodyPr/>
          <a:lstStyle/>
          <a:p>
            <a:endParaRPr lang="en-US"/>
          </a:p>
        </p:txBody>
      </p:sp>
      <p:sp>
        <p:nvSpPr>
          <p:cNvPr id="12" name="Text 9"/>
          <p:cNvSpPr/>
          <p:nvPr/>
        </p:nvSpPr>
        <p:spPr>
          <a:xfrm>
            <a:off x="5943600" y="1618488"/>
            <a:ext cx="2834640" cy="347472"/>
          </a:xfrm>
          <a:prstGeom prst="rect">
            <a:avLst/>
          </a:prstGeom>
          <a:noFill/>
          <a:ln/>
        </p:spPr>
        <p:txBody>
          <a:bodyPr wrap="square" lIns="0" tIns="0" rIns="0" bIns="0" rtlCol="0" anchor="ctr"/>
          <a:lstStyle/>
          <a:p>
            <a:pPr marL="0" indent="0">
              <a:buNone/>
            </a:pPr>
            <a:r>
              <a:rPr lang="en-US" sz="2200" b="1" dirty="0">
                <a:solidFill>
                  <a:srgbClr val="4B9CD3"/>
                </a:solidFill>
                <a:latin typeface="Calibri" pitchFamily="34" charset="0"/>
                <a:ea typeface="Calibri" pitchFamily="34" charset="-122"/>
                <a:cs typeface="Calibri" pitchFamily="34" charset="-120"/>
              </a:rPr>
              <a:t>~15.7 g/dL</a:t>
            </a:r>
            <a:endParaRPr lang="en-US" sz="2200" dirty="0"/>
          </a:p>
        </p:txBody>
      </p:sp>
      <p:sp>
        <p:nvSpPr>
          <p:cNvPr id="13" name="Text 10"/>
          <p:cNvSpPr/>
          <p:nvPr/>
        </p:nvSpPr>
        <p:spPr>
          <a:xfrm>
            <a:off x="5943600" y="1984248"/>
            <a:ext cx="28346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Smoker Mode</a:t>
            </a:r>
            <a:endParaRPr lang="en-US" sz="1200" dirty="0"/>
          </a:p>
        </p:txBody>
      </p:sp>
      <p:sp>
        <p:nvSpPr>
          <p:cNvPr id="14" name="Shape 11"/>
          <p:cNvSpPr/>
          <p:nvPr/>
        </p:nvSpPr>
        <p:spPr>
          <a:xfrm>
            <a:off x="5760720" y="2450592"/>
            <a:ext cx="3108960" cy="749808"/>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5" name="Shape 12"/>
          <p:cNvSpPr/>
          <p:nvPr/>
        </p:nvSpPr>
        <p:spPr>
          <a:xfrm>
            <a:off x="5760720" y="2450592"/>
            <a:ext cx="64008" cy="749808"/>
          </a:xfrm>
          <a:prstGeom prst="rect">
            <a:avLst/>
          </a:prstGeom>
          <a:solidFill>
            <a:srgbClr val="1A1A1A"/>
          </a:solidFill>
          <a:ln w="12700">
            <a:solidFill>
              <a:srgbClr val="1A1A1A"/>
            </a:solidFill>
            <a:prstDash val="solid"/>
          </a:ln>
        </p:spPr>
        <p:txBody>
          <a:bodyPr/>
          <a:lstStyle/>
          <a:p>
            <a:endParaRPr lang="en-US"/>
          </a:p>
        </p:txBody>
      </p:sp>
      <p:sp>
        <p:nvSpPr>
          <p:cNvPr id="16" name="Text 13"/>
          <p:cNvSpPr/>
          <p:nvPr/>
        </p:nvSpPr>
        <p:spPr>
          <a:xfrm>
            <a:off x="5943600" y="2487168"/>
            <a:ext cx="2834640" cy="347472"/>
          </a:xfrm>
          <a:prstGeom prst="rect">
            <a:avLst/>
          </a:prstGeom>
          <a:noFill/>
          <a:ln/>
        </p:spPr>
        <p:txBody>
          <a:bodyPr wrap="square" lIns="0" tIns="0" rIns="0" bIns="0" rtlCol="0" anchor="ctr"/>
          <a:lstStyle/>
          <a:p>
            <a:pPr marL="0" indent="0">
              <a:buNone/>
            </a:pPr>
            <a:r>
              <a:rPr lang="en-US" sz="2200" b="1" dirty="0">
                <a:solidFill>
                  <a:srgbClr val="1A1A1A"/>
                </a:solidFill>
                <a:latin typeface="Calibri" pitchFamily="34" charset="0"/>
                <a:ea typeface="Calibri" pitchFamily="34" charset="-122"/>
                <a:cs typeface="Calibri" pitchFamily="34" charset="-120"/>
              </a:rPr>
              <a:t>1.9 g/dL</a:t>
            </a:r>
            <a:endParaRPr lang="en-US" sz="2200" dirty="0"/>
          </a:p>
        </p:txBody>
      </p:sp>
      <p:sp>
        <p:nvSpPr>
          <p:cNvPr id="17" name="Text 14"/>
          <p:cNvSpPr/>
          <p:nvPr/>
        </p:nvSpPr>
        <p:spPr>
          <a:xfrm>
            <a:off x="5943600" y="2852928"/>
            <a:ext cx="28346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Modal Gap</a:t>
            </a:r>
            <a:endParaRPr lang="en-US" sz="1200" dirty="0"/>
          </a:p>
        </p:txBody>
      </p:sp>
      <p:sp>
        <p:nvSpPr>
          <p:cNvPr id="18" name="Shape 15"/>
          <p:cNvSpPr/>
          <p:nvPr/>
        </p:nvSpPr>
        <p:spPr>
          <a:xfrm>
            <a:off x="5760720" y="3319272"/>
            <a:ext cx="3108960" cy="749808"/>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9" name="Shape 16"/>
          <p:cNvSpPr/>
          <p:nvPr/>
        </p:nvSpPr>
        <p:spPr>
          <a:xfrm>
            <a:off x="5760720" y="3319272"/>
            <a:ext cx="64008" cy="749808"/>
          </a:xfrm>
          <a:prstGeom prst="rect">
            <a:avLst/>
          </a:prstGeom>
          <a:solidFill>
            <a:srgbClr val="13294B"/>
          </a:solidFill>
          <a:ln w="12700">
            <a:solidFill>
              <a:srgbClr val="13294B"/>
            </a:solidFill>
            <a:prstDash val="solid"/>
          </a:ln>
        </p:spPr>
        <p:txBody>
          <a:bodyPr/>
          <a:lstStyle/>
          <a:p>
            <a:endParaRPr lang="en-US"/>
          </a:p>
        </p:txBody>
      </p:sp>
      <p:sp>
        <p:nvSpPr>
          <p:cNvPr id="20" name="Text 17"/>
          <p:cNvSpPr/>
          <p:nvPr/>
        </p:nvSpPr>
        <p:spPr>
          <a:xfrm>
            <a:off x="5943600" y="3355848"/>
            <a:ext cx="2834640" cy="347472"/>
          </a:xfrm>
          <a:prstGeom prst="rect">
            <a:avLst/>
          </a:prstGeom>
          <a:noFill/>
          <a:ln/>
        </p:spPr>
        <p:txBody>
          <a:bodyPr wrap="square" lIns="0" tIns="0" rIns="0" bIns="0" rtlCol="0" anchor="ctr"/>
          <a:lstStyle/>
          <a:p>
            <a:pPr marL="0" indent="0">
              <a:buNone/>
            </a:pPr>
            <a:r>
              <a:rPr lang="en-US" sz="2200" b="1" dirty="0">
                <a:solidFill>
                  <a:srgbClr val="13294B"/>
                </a:solidFill>
                <a:latin typeface="Calibri" pitchFamily="34" charset="0"/>
                <a:ea typeface="Calibri" pitchFamily="34" charset="-122"/>
                <a:cs typeface="Calibri" pitchFamily="34" charset="-120"/>
              </a:rPr>
              <a:t>0.501</a:t>
            </a:r>
            <a:endParaRPr lang="en-US" sz="2200" dirty="0"/>
          </a:p>
        </p:txBody>
      </p:sp>
      <p:sp>
        <p:nvSpPr>
          <p:cNvPr id="21" name="Text 18"/>
          <p:cNvSpPr/>
          <p:nvPr/>
        </p:nvSpPr>
        <p:spPr>
          <a:xfrm>
            <a:off x="5943600" y="3721608"/>
            <a:ext cx="28346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Pearson r</a:t>
            </a:r>
            <a:endParaRPr lang="en-US" sz="1200" dirty="0"/>
          </a:p>
        </p:txBody>
      </p:sp>
      <p:sp>
        <p:nvSpPr>
          <p:cNvPr id="22" name="Shape 19"/>
          <p:cNvSpPr/>
          <p:nvPr/>
        </p:nvSpPr>
        <p:spPr>
          <a:xfrm>
            <a:off x="5760720" y="4251960"/>
            <a:ext cx="3108960" cy="502920"/>
          </a:xfrm>
          <a:prstGeom prst="rect">
            <a:avLst/>
          </a:prstGeom>
          <a:solidFill>
            <a:srgbClr val="D6EAF8"/>
          </a:solidFill>
          <a:ln w="12700">
            <a:solidFill>
              <a:srgbClr val="4B9CD3"/>
            </a:solidFill>
            <a:prstDash val="solid"/>
          </a:ln>
        </p:spPr>
        <p:txBody>
          <a:bodyPr/>
          <a:lstStyle/>
          <a:p>
            <a:endParaRPr lang="en-US"/>
          </a:p>
        </p:txBody>
      </p:sp>
      <p:sp>
        <p:nvSpPr>
          <p:cNvPr id="23" name="Text 20"/>
          <p:cNvSpPr/>
          <p:nvPr/>
        </p:nvSpPr>
        <p:spPr>
          <a:xfrm>
            <a:off x="5760720" y="4251960"/>
            <a:ext cx="3108960" cy="502920"/>
          </a:xfrm>
          <a:prstGeom prst="rect">
            <a:avLst/>
          </a:prstGeom>
          <a:noFill/>
          <a:ln/>
        </p:spPr>
        <p:txBody>
          <a:bodyPr wrap="square" rtlCol="0" anchor="ctr"/>
          <a:lstStyle/>
          <a:p>
            <a:pPr marL="0" indent="0" algn="ctr">
              <a:buNone/>
            </a:pPr>
            <a:r>
              <a:rPr lang="en-US" sz="1100" dirty="0">
                <a:solidFill>
                  <a:srgbClr val="13294B"/>
                </a:solidFill>
                <a:latin typeface="Calibri" pitchFamily="34" charset="0"/>
                <a:ea typeface="Calibri" pitchFamily="34" charset="-122"/>
                <a:cs typeface="Calibri" pitchFamily="34" charset="-120"/>
              </a:rPr>
              <a:t>Overlap at 14–15 g/dL =</a:t>
            </a:r>
            <a:endParaRPr lang="en-US" sz="1100" dirty="0"/>
          </a:p>
          <a:p>
            <a:pPr marL="0" indent="0" algn="ctr">
              <a:buNone/>
            </a:pPr>
            <a:r>
              <a:rPr lang="en-US" sz="1100" dirty="0">
                <a:solidFill>
                  <a:srgbClr val="13294B"/>
                </a:solidFill>
                <a:latin typeface="Calibri" pitchFamily="34" charset="0"/>
                <a:ea typeface="Calibri" pitchFamily="34" charset="-122"/>
                <a:cs typeface="Calibri" pitchFamily="34" charset="-120"/>
              </a:rPr>
              <a:t>primary misclassification zone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03 · EDA: Feature Correlations with Smoking Status</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 y="713232"/>
          <a:ext cx="8595360" cy="4373880"/>
        </p:xfrm>
        <a:graphic>
          <a:graphicData uri="http://schemas.openxmlformats.org/drawingml/2006/table">
            <a:tbl>
              <a:tblPr/>
              <a:tblGrid>
                <a:gridCol w="4572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5440680">
                  <a:extLst>
                    <a:ext uri="{9D8B030D-6E8A-4147-A177-3AD203B41FA5}">
                      <a16:colId xmlns:a16="http://schemas.microsoft.com/office/drawing/2014/main" val="20004"/>
                    </a:ext>
                  </a:extLst>
                </a:gridCol>
              </a:tblGrid>
              <a:tr h="393192">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Rank</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Feature</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Pearson r</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Direction</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Interpretation</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393192">
                <a:tc>
                  <a:txBody>
                    <a:bodyPr/>
                    <a:lstStyle/>
                    <a:p>
                      <a:pPr marL="0" indent="0" algn="ctr">
                        <a:buNone/>
                      </a:pPr>
                      <a:r>
                        <a:rPr lang="en-US" sz="1150" b="1" dirty="0">
                          <a:solidFill>
                            <a:srgbClr val="4B9CD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hemoglobin</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b="1" dirty="0">
                          <a:solidFill>
                            <a:srgbClr val="4B9CD3"/>
                          </a:solidFill>
                          <a:latin typeface="Calibri" pitchFamily="34" charset="0"/>
                          <a:ea typeface="Calibri" pitchFamily="34" charset="-122"/>
                          <a:cs typeface="Calibri" pitchFamily="34" charset="-120"/>
                        </a:rPr>
                        <a:t>0.501</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b="1" dirty="0">
                          <a:solidFill>
                            <a:srgbClr val="4B9CD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Polycythemia pathway — strongest signal by wide margin</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1"/>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height (cm)</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0.486</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Sex proxy — no explicit sex field in dataset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2"/>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weight (kg)</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0.403</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Body composition; partially a sex proxy</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3"/>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Gtp</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0.378</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Liver enzyme; elevated by tobacco metabolites</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4"/>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serum creatinine</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0.346</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Higher in males; sex proxy component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5"/>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triglyceride</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0.346</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VLDL elevation from smoking-induced dyslipidemia</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6"/>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waist (cm)</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0.311</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Abdominal adiposity; metabolic syndrome</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7"/>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HDL</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b="1" dirty="0">
                          <a:solidFill>
                            <a:srgbClr val="DC2626"/>
                          </a:solidFill>
                          <a:latin typeface="Calibri" pitchFamily="34" charset="0"/>
                          <a:ea typeface="Calibri" pitchFamily="34" charset="-122"/>
                          <a:cs typeface="Calibri" pitchFamily="34" charset="-120"/>
                        </a:rPr>
                        <a:t>-0.292</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b="1" dirty="0">
                          <a:solidFill>
                            <a:srgbClr val="DC262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Smoking suppresses hepatic HDL synthesis</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8"/>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ALT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0.242</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Hepatotoxic stress; synergistic with alcohol</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9"/>
                  </a:ext>
                </a:extLst>
              </a:tr>
              <a:tr h="393192">
                <a:tc>
                  <a:txBody>
                    <a:bodyPr/>
                    <a:lstStyle/>
                    <a:p>
                      <a:pPr marL="0" indent="0" algn="ctr">
                        <a:buNone/>
                      </a:pPr>
                      <a:r>
                        <a:rPr lang="en-US" sz="1150" dirty="0">
                          <a:solidFill>
                            <a:srgbClr val="000000"/>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age</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DC2626"/>
                          </a:solidFill>
                          <a:latin typeface="Calibri" pitchFamily="34" charset="0"/>
                          <a:ea typeface="Calibri" pitchFamily="34" charset="-122"/>
                          <a:cs typeface="Calibri" pitchFamily="34" charset="-120"/>
                        </a:rPr>
                        <a:t>-0.185</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150" dirty="0">
                          <a:solidFill>
                            <a:srgbClr val="DC262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Negative cohort artifact — not causal</a:t>
                      </a:r>
                      <a:endParaRPr lang="en-US" sz="11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04 · Research: Why Each Biomarker Associates with Smoking</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sp>
        <p:nvSpPr>
          <p:cNvPr id="5" name="Shape 3"/>
          <p:cNvSpPr/>
          <p:nvPr/>
        </p:nvSpPr>
        <p:spPr>
          <a:xfrm>
            <a:off x="274320" y="713232"/>
            <a:ext cx="4206240" cy="1371600"/>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6" name="Shape 4"/>
          <p:cNvSpPr/>
          <p:nvPr/>
        </p:nvSpPr>
        <p:spPr>
          <a:xfrm>
            <a:off x="274320" y="713232"/>
            <a:ext cx="4206240" cy="54864"/>
          </a:xfrm>
          <a:prstGeom prst="rect">
            <a:avLst/>
          </a:prstGeom>
          <a:solidFill>
            <a:srgbClr val="4B9CD3"/>
          </a:solidFill>
          <a:ln w="12700">
            <a:solidFill>
              <a:srgbClr val="4B9CD3"/>
            </a:solidFill>
            <a:prstDash val="solid"/>
          </a:ln>
        </p:spPr>
        <p:txBody>
          <a:bodyPr/>
          <a:lstStyle/>
          <a:p>
            <a:endParaRPr lang="en-US"/>
          </a:p>
        </p:txBody>
      </p:sp>
      <p:sp>
        <p:nvSpPr>
          <p:cNvPr id="7" name="Text 5"/>
          <p:cNvSpPr/>
          <p:nvPr/>
        </p:nvSpPr>
        <p:spPr>
          <a:xfrm>
            <a:off x="384048" y="804672"/>
            <a:ext cx="3977640" cy="274320"/>
          </a:xfrm>
          <a:prstGeom prst="rect">
            <a:avLst/>
          </a:prstGeom>
          <a:noFill/>
          <a:ln/>
        </p:spPr>
        <p:txBody>
          <a:bodyPr wrap="square" lIns="0" tIns="0" rIns="0" bIns="0" rtlCol="0" anchor="ctr"/>
          <a:lstStyle/>
          <a:p>
            <a:pPr marL="0" indent="0">
              <a:buNone/>
            </a:pPr>
            <a:r>
              <a:rPr lang="en-US" sz="1200" b="1" dirty="0">
                <a:solidFill>
                  <a:srgbClr val="4B9CD3"/>
                </a:solidFill>
                <a:latin typeface="Calibri" pitchFamily="34" charset="0"/>
                <a:ea typeface="Calibri" pitchFamily="34" charset="-122"/>
                <a:cs typeface="Calibri" pitchFamily="34" charset="-120"/>
              </a:rPr>
              <a:t>Hemoglobin</a:t>
            </a:r>
            <a:r>
              <a:rPr lang="en-US" sz="1200" dirty="0">
                <a:solidFill>
                  <a:srgbClr val="4A5568"/>
                </a:solidFill>
                <a:latin typeface="Calibri" pitchFamily="34" charset="0"/>
                <a:ea typeface="Calibri" pitchFamily="34" charset="-122"/>
                <a:cs typeface="Calibri" pitchFamily="34" charset="-120"/>
              </a:rPr>
              <a:t>  ·  Polycythemia Pathway</a:t>
            </a:r>
            <a:endParaRPr lang="en-US" sz="1200" dirty="0"/>
          </a:p>
        </p:txBody>
      </p:sp>
      <p:sp>
        <p:nvSpPr>
          <p:cNvPr id="8" name="Text 6"/>
          <p:cNvSpPr/>
          <p:nvPr/>
        </p:nvSpPr>
        <p:spPr>
          <a:xfrm>
            <a:off x="384048" y="1115568"/>
            <a:ext cx="3977640" cy="896112"/>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Smoking produces carboxyhemoglobin → reduced O₂ delivery → renal erythropoietin release → ↑ RBC production → ↑ Hgb. Mean Hgb in smokers is ~1.9 g/dL higher. Confirmed across NEJM (1978), Saudi J. Bio Sci (2020), Mayo Clinic Proc. (2018, n=6,808).</a:t>
            </a:r>
            <a:endParaRPr lang="en-US" sz="1000" dirty="0"/>
          </a:p>
        </p:txBody>
      </p:sp>
      <p:sp>
        <p:nvSpPr>
          <p:cNvPr id="9" name="Shape 7"/>
          <p:cNvSpPr/>
          <p:nvPr/>
        </p:nvSpPr>
        <p:spPr>
          <a:xfrm>
            <a:off x="4709160" y="713232"/>
            <a:ext cx="4206240" cy="1371600"/>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0" name="Shape 8"/>
          <p:cNvSpPr/>
          <p:nvPr/>
        </p:nvSpPr>
        <p:spPr>
          <a:xfrm>
            <a:off x="4709160" y="713232"/>
            <a:ext cx="4206240" cy="54864"/>
          </a:xfrm>
          <a:prstGeom prst="rect">
            <a:avLst/>
          </a:prstGeom>
          <a:solidFill>
            <a:srgbClr val="13294B"/>
          </a:solidFill>
          <a:ln w="12700">
            <a:solidFill>
              <a:srgbClr val="13294B"/>
            </a:solidFill>
            <a:prstDash val="solid"/>
          </a:ln>
        </p:spPr>
        <p:txBody>
          <a:bodyPr/>
          <a:lstStyle/>
          <a:p>
            <a:endParaRPr lang="en-US"/>
          </a:p>
        </p:txBody>
      </p:sp>
      <p:sp>
        <p:nvSpPr>
          <p:cNvPr id="11" name="Text 9"/>
          <p:cNvSpPr/>
          <p:nvPr/>
        </p:nvSpPr>
        <p:spPr>
          <a:xfrm>
            <a:off x="4818888" y="804672"/>
            <a:ext cx="3977640" cy="274320"/>
          </a:xfrm>
          <a:prstGeom prst="rect">
            <a:avLst/>
          </a:prstGeom>
          <a:noFill/>
          <a:ln/>
        </p:spPr>
        <p:txBody>
          <a:bodyPr wrap="square" lIns="0" tIns="0" rIns="0" bIns="0" rtlCol="0" anchor="ctr"/>
          <a:lstStyle/>
          <a:p>
            <a:pPr marL="0" indent="0">
              <a:buNone/>
            </a:pPr>
            <a:r>
              <a:rPr lang="en-US" sz="1200" b="1" dirty="0">
                <a:solidFill>
                  <a:srgbClr val="13294B"/>
                </a:solidFill>
                <a:latin typeface="Calibri" pitchFamily="34" charset="0"/>
                <a:ea typeface="Calibri" pitchFamily="34" charset="-122"/>
                <a:cs typeface="Calibri" pitchFamily="34" charset="-120"/>
              </a:rPr>
              <a:t>Gtp (GGT)</a:t>
            </a:r>
            <a:r>
              <a:rPr lang="en-US" sz="1200" dirty="0">
                <a:solidFill>
                  <a:srgbClr val="4A5568"/>
                </a:solidFill>
                <a:latin typeface="Calibri" pitchFamily="34" charset="0"/>
                <a:ea typeface="Calibri" pitchFamily="34" charset="-122"/>
                <a:cs typeface="Calibri" pitchFamily="34" charset="-120"/>
              </a:rPr>
              <a:t>  ·  Hepatotoxic Exposure</a:t>
            </a:r>
            <a:endParaRPr lang="en-US" sz="1200" dirty="0"/>
          </a:p>
        </p:txBody>
      </p:sp>
      <p:sp>
        <p:nvSpPr>
          <p:cNvPr id="12" name="Text 10"/>
          <p:cNvSpPr/>
          <p:nvPr/>
        </p:nvSpPr>
        <p:spPr>
          <a:xfrm>
            <a:off x="4818888" y="1115568"/>
            <a:ext cx="3977640" cy="896112"/>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Gamma-glutamyl transferase is induced by tobacco metabolites. Mean GGT: 20.89 IU/L in smokers vs. 14.51 IU/L in non-smokers (Nomura et al. 2013). Confounded by alcohol — GGT association abolished after CRP adjustment in non-drinkers.</a:t>
            </a:r>
            <a:endParaRPr lang="en-US" sz="1000" dirty="0"/>
          </a:p>
        </p:txBody>
      </p:sp>
      <p:sp>
        <p:nvSpPr>
          <p:cNvPr id="13" name="Shape 11"/>
          <p:cNvSpPr/>
          <p:nvPr/>
        </p:nvSpPr>
        <p:spPr>
          <a:xfrm>
            <a:off x="274320" y="2203704"/>
            <a:ext cx="4206240" cy="1371600"/>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4" name="Shape 12"/>
          <p:cNvSpPr/>
          <p:nvPr/>
        </p:nvSpPr>
        <p:spPr>
          <a:xfrm>
            <a:off x="274320" y="2203704"/>
            <a:ext cx="4206240" cy="54864"/>
          </a:xfrm>
          <a:prstGeom prst="rect">
            <a:avLst/>
          </a:prstGeom>
          <a:solidFill>
            <a:srgbClr val="4B9CD3"/>
          </a:solidFill>
          <a:ln w="12700">
            <a:solidFill>
              <a:srgbClr val="4B9CD3"/>
            </a:solidFill>
            <a:prstDash val="solid"/>
          </a:ln>
        </p:spPr>
        <p:txBody>
          <a:bodyPr/>
          <a:lstStyle/>
          <a:p>
            <a:endParaRPr lang="en-US"/>
          </a:p>
        </p:txBody>
      </p:sp>
      <p:sp>
        <p:nvSpPr>
          <p:cNvPr id="15" name="Text 13"/>
          <p:cNvSpPr/>
          <p:nvPr/>
        </p:nvSpPr>
        <p:spPr>
          <a:xfrm>
            <a:off x="384048" y="2295144"/>
            <a:ext cx="3977640" cy="274320"/>
          </a:xfrm>
          <a:prstGeom prst="rect">
            <a:avLst/>
          </a:prstGeom>
          <a:noFill/>
          <a:ln/>
        </p:spPr>
        <p:txBody>
          <a:bodyPr wrap="square" lIns="0" tIns="0" rIns="0" bIns="0" rtlCol="0" anchor="ctr"/>
          <a:lstStyle/>
          <a:p>
            <a:pPr marL="0" indent="0">
              <a:buNone/>
            </a:pPr>
            <a:r>
              <a:rPr lang="en-US" sz="1200" b="1" dirty="0">
                <a:solidFill>
                  <a:srgbClr val="4B9CD3"/>
                </a:solidFill>
                <a:latin typeface="Calibri" pitchFamily="34" charset="0"/>
                <a:ea typeface="Calibri" pitchFamily="34" charset="-122"/>
                <a:cs typeface="Calibri" pitchFamily="34" charset="-120"/>
              </a:rPr>
              <a:t>Triglyceride</a:t>
            </a:r>
            <a:r>
              <a:rPr lang="en-US" sz="1200" dirty="0">
                <a:solidFill>
                  <a:srgbClr val="4A5568"/>
                </a:solidFill>
                <a:latin typeface="Calibri" pitchFamily="34" charset="0"/>
                <a:ea typeface="Calibri" pitchFamily="34" charset="-122"/>
                <a:cs typeface="Calibri" pitchFamily="34" charset="-120"/>
              </a:rPr>
              <a:t>  ·  Dyslipidemia Pathway</a:t>
            </a:r>
            <a:endParaRPr lang="en-US" sz="1200" dirty="0"/>
          </a:p>
        </p:txBody>
      </p:sp>
      <p:sp>
        <p:nvSpPr>
          <p:cNvPr id="16" name="Text 14"/>
          <p:cNvSpPr/>
          <p:nvPr/>
        </p:nvSpPr>
        <p:spPr>
          <a:xfrm>
            <a:off x="384048" y="2606040"/>
            <a:ext cx="3977640" cy="896112"/>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Smoking upregulates VLDL synthesis and impairs lipoprotein lipase activity. Meta-analysis of 169 studies (Mach et al. 2023): triglycerides average +0.50 mmol/L in smokers. Effects persist years after cessation.</a:t>
            </a:r>
            <a:endParaRPr lang="en-US" sz="1000" dirty="0"/>
          </a:p>
        </p:txBody>
      </p:sp>
      <p:sp>
        <p:nvSpPr>
          <p:cNvPr id="17" name="Shape 15"/>
          <p:cNvSpPr/>
          <p:nvPr/>
        </p:nvSpPr>
        <p:spPr>
          <a:xfrm>
            <a:off x="4709160" y="2203704"/>
            <a:ext cx="4206240" cy="1371600"/>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8" name="Shape 16"/>
          <p:cNvSpPr/>
          <p:nvPr/>
        </p:nvSpPr>
        <p:spPr>
          <a:xfrm>
            <a:off x="4709160" y="2203704"/>
            <a:ext cx="4206240" cy="54864"/>
          </a:xfrm>
          <a:prstGeom prst="rect">
            <a:avLst/>
          </a:prstGeom>
          <a:solidFill>
            <a:srgbClr val="13294B"/>
          </a:solidFill>
          <a:ln w="12700">
            <a:solidFill>
              <a:srgbClr val="13294B"/>
            </a:solidFill>
            <a:prstDash val="solid"/>
          </a:ln>
        </p:spPr>
        <p:txBody>
          <a:bodyPr/>
          <a:lstStyle/>
          <a:p>
            <a:endParaRPr lang="en-US"/>
          </a:p>
        </p:txBody>
      </p:sp>
      <p:sp>
        <p:nvSpPr>
          <p:cNvPr id="19" name="Text 17"/>
          <p:cNvSpPr/>
          <p:nvPr/>
        </p:nvSpPr>
        <p:spPr>
          <a:xfrm>
            <a:off x="4818888" y="2295144"/>
            <a:ext cx="3977640" cy="274320"/>
          </a:xfrm>
          <a:prstGeom prst="rect">
            <a:avLst/>
          </a:prstGeom>
          <a:noFill/>
          <a:ln/>
        </p:spPr>
        <p:txBody>
          <a:bodyPr wrap="square" lIns="0" tIns="0" rIns="0" bIns="0" rtlCol="0" anchor="ctr"/>
          <a:lstStyle/>
          <a:p>
            <a:pPr marL="0" indent="0">
              <a:buNone/>
            </a:pPr>
            <a:r>
              <a:rPr lang="en-US" sz="1200" b="1" dirty="0">
                <a:solidFill>
                  <a:srgbClr val="13294B"/>
                </a:solidFill>
                <a:latin typeface="Calibri" pitchFamily="34" charset="0"/>
                <a:ea typeface="Calibri" pitchFamily="34" charset="-122"/>
                <a:cs typeface="Calibri" pitchFamily="34" charset="-120"/>
              </a:rPr>
              <a:t>HDL</a:t>
            </a:r>
            <a:r>
              <a:rPr lang="en-US" sz="1200" dirty="0">
                <a:solidFill>
                  <a:srgbClr val="4A5568"/>
                </a:solidFill>
                <a:latin typeface="Calibri" pitchFamily="34" charset="0"/>
                <a:ea typeface="Calibri" pitchFamily="34" charset="-122"/>
                <a:cs typeface="Calibri" pitchFamily="34" charset="-120"/>
              </a:rPr>
              <a:t>  ·  Inverse Association</a:t>
            </a:r>
            <a:endParaRPr lang="en-US" sz="1200" dirty="0"/>
          </a:p>
        </p:txBody>
      </p:sp>
      <p:sp>
        <p:nvSpPr>
          <p:cNvPr id="20" name="Text 18"/>
          <p:cNvSpPr/>
          <p:nvPr/>
        </p:nvSpPr>
        <p:spPr>
          <a:xfrm>
            <a:off x="4818888" y="2606040"/>
            <a:ext cx="3977640" cy="896112"/>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Tobacco smoke reduces hepatic HDL synthesis (Mohammadi et al. 2024: OR 2.90 for low HDL in smokers vs. non-smokers). Cessation raises HDL-C but not total cholesterol or LDL short-term (Shirai et al. 2003 meta-analysis).</a:t>
            </a:r>
            <a:endParaRPr lang="en-US" sz="1000" dirty="0"/>
          </a:p>
        </p:txBody>
      </p:sp>
      <p:sp>
        <p:nvSpPr>
          <p:cNvPr id="21" name="Shape 19"/>
          <p:cNvSpPr/>
          <p:nvPr/>
        </p:nvSpPr>
        <p:spPr>
          <a:xfrm>
            <a:off x="274320" y="3694176"/>
            <a:ext cx="4206240" cy="1371600"/>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22" name="Shape 20"/>
          <p:cNvSpPr/>
          <p:nvPr/>
        </p:nvSpPr>
        <p:spPr>
          <a:xfrm>
            <a:off x="274320" y="3694176"/>
            <a:ext cx="4206240" cy="54864"/>
          </a:xfrm>
          <a:prstGeom prst="rect">
            <a:avLst/>
          </a:prstGeom>
          <a:solidFill>
            <a:srgbClr val="4B9CD3"/>
          </a:solidFill>
          <a:ln w="12700">
            <a:solidFill>
              <a:srgbClr val="4B9CD3"/>
            </a:solidFill>
            <a:prstDash val="solid"/>
          </a:ln>
        </p:spPr>
        <p:txBody>
          <a:bodyPr/>
          <a:lstStyle/>
          <a:p>
            <a:endParaRPr lang="en-US"/>
          </a:p>
        </p:txBody>
      </p:sp>
      <p:sp>
        <p:nvSpPr>
          <p:cNvPr id="23" name="Text 21"/>
          <p:cNvSpPr/>
          <p:nvPr/>
        </p:nvSpPr>
        <p:spPr>
          <a:xfrm>
            <a:off x="384048" y="3785616"/>
            <a:ext cx="3977640" cy="274320"/>
          </a:xfrm>
          <a:prstGeom prst="rect">
            <a:avLst/>
          </a:prstGeom>
          <a:noFill/>
          <a:ln/>
        </p:spPr>
        <p:txBody>
          <a:bodyPr wrap="square" lIns="0" tIns="0" rIns="0" bIns="0" rtlCol="0" anchor="ctr"/>
          <a:lstStyle/>
          <a:p>
            <a:pPr marL="0" indent="0">
              <a:buNone/>
            </a:pPr>
            <a:r>
              <a:rPr lang="en-US" sz="1200" b="1" dirty="0">
                <a:solidFill>
                  <a:srgbClr val="4B9CD3"/>
                </a:solidFill>
                <a:latin typeface="Calibri" pitchFamily="34" charset="0"/>
                <a:ea typeface="Calibri" pitchFamily="34" charset="-122"/>
                <a:cs typeface="Calibri" pitchFamily="34" charset="-120"/>
              </a:rPr>
              <a:t>ALT &amp; AST</a:t>
            </a:r>
            <a:r>
              <a:rPr lang="en-US" sz="1200" dirty="0">
                <a:solidFill>
                  <a:srgbClr val="4A5568"/>
                </a:solidFill>
                <a:latin typeface="Calibri" pitchFamily="34" charset="0"/>
                <a:ea typeface="Calibri" pitchFamily="34" charset="-122"/>
                <a:cs typeface="Calibri" pitchFamily="34" charset="-120"/>
              </a:rPr>
              <a:t>  ·  Hepatocellular Stress</a:t>
            </a:r>
            <a:endParaRPr lang="en-US" sz="1200" dirty="0"/>
          </a:p>
        </p:txBody>
      </p:sp>
      <p:sp>
        <p:nvSpPr>
          <p:cNvPr id="24" name="Text 22"/>
          <p:cNvSpPr/>
          <p:nvPr/>
        </p:nvSpPr>
        <p:spPr>
          <a:xfrm>
            <a:off x="384048" y="4096512"/>
            <a:ext cx="3977640" cy="896112"/>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Statistically significant synergistic interactions of smoking with alcohol for both AST and ALT, implicating exacerbated hepatocellular vulnerability (Riedl et al. 2011, PLOS ONE). Cannot separate tobacco from alcohol signal without an alcohol variable.</a:t>
            </a:r>
            <a:endParaRPr lang="en-US" sz="1000" dirty="0"/>
          </a:p>
        </p:txBody>
      </p:sp>
      <p:sp>
        <p:nvSpPr>
          <p:cNvPr id="25" name="Shape 23"/>
          <p:cNvSpPr/>
          <p:nvPr/>
        </p:nvSpPr>
        <p:spPr>
          <a:xfrm>
            <a:off x="4709160" y="3694176"/>
            <a:ext cx="4206240" cy="1371600"/>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26" name="Shape 24"/>
          <p:cNvSpPr/>
          <p:nvPr/>
        </p:nvSpPr>
        <p:spPr>
          <a:xfrm>
            <a:off x="4709160" y="3694176"/>
            <a:ext cx="4206240" cy="54864"/>
          </a:xfrm>
          <a:prstGeom prst="rect">
            <a:avLst/>
          </a:prstGeom>
          <a:solidFill>
            <a:srgbClr val="13294B"/>
          </a:solidFill>
          <a:ln w="12700">
            <a:solidFill>
              <a:srgbClr val="13294B"/>
            </a:solidFill>
            <a:prstDash val="solid"/>
          </a:ln>
        </p:spPr>
        <p:txBody>
          <a:bodyPr/>
          <a:lstStyle/>
          <a:p>
            <a:endParaRPr lang="en-US"/>
          </a:p>
        </p:txBody>
      </p:sp>
      <p:sp>
        <p:nvSpPr>
          <p:cNvPr id="27" name="Text 25"/>
          <p:cNvSpPr/>
          <p:nvPr/>
        </p:nvSpPr>
        <p:spPr>
          <a:xfrm>
            <a:off x="4818888" y="3785616"/>
            <a:ext cx="3977640" cy="274320"/>
          </a:xfrm>
          <a:prstGeom prst="rect">
            <a:avLst/>
          </a:prstGeom>
          <a:noFill/>
          <a:ln/>
        </p:spPr>
        <p:txBody>
          <a:bodyPr wrap="square" lIns="0" tIns="0" rIns="0" bIns="0" rtlCol="0" anchor="ctr"/>
          <a:lstStyle/>
          <a:p>
            <a:pPr marL="0" indent="0">
              <a:buNone/>
            </a:pPr>
            <a:r>
              <a:rPr lang="en-US" sz="1200" b="1" dirty="0">
                <a:solidFill>
                  <a:srgbClr val="13294B"/>
                </a:solidFill>
                <a:latin typeface="Calibri" pitchFamily="34" charset="0"/>
                <a:ea typeface="Calibri" pitchFamily="34" charset="-122"/>
                <a:cs typeface="Calibri" pitchFamily="34" charset="-120"/>
              </a:rPr>
              <a:t>Height (Sex Proxy)</a:t>
            </a:r>
            <a:r>
              <a:rPr lang="en-US" sz="1200" dirty="0">
                <a:solidFill>
                  <a:srgbClr val="4A5568"/>
                </a:solidFill>
                <a:latin typeface="Calibri" pitchFamily="34" charset="0"/>
                <a:ea typeface="Calibri" pitchFamily="34" charset="-122"/>
                <a:cs typeface="Calibri" pitchFamily="34" charset="-120"/>
              </a:rPr>
              <a:t>  ·  Structural Confound</a:t>
            </a:r>
            <a:endParaRPr lang="en-US" sz="1200" dirty="0"/>
          </a:p>
        </p:txBody>
      </p:sp>
      <p:sp>
        <p:nvSpPr>
          <p:cNvPr id="28" name="Text 26"/>
          <p:cNvSpPr/>
          <p:nvPr/>
        </p:nvSpPr>
        <p:spPr>
          <a:xfrm>
            <a:off x="4818888" y="4096512"/>
            <a:ext cx="3977640" cy="896112"/>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No sex field in dataset. Males average 8.6 cm taller and smoke at 60.9% vs. 19.1% for shorter observations — a 41pp gap. Height absorbs a sex-by-smoking confound throughout. Adding sex would substantially reduce height's Gini importance of 0.196.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05 · Methodology: Pipeline &amp; Model Hyperparameters</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sp>
        <p:nvSpPr>
          <p:cNvPr id="5" name="Shape 3"/>
          <p:cNvSpPr/>
          <p:nvPr/>
        </p:nvSpPr>
        <p:spPr>
          <a:xfrm>
            <a:off x="256032" y="713232"/>
            <a:ext cx="1572768" cy="1508760"/>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6" name="Shape 4"/>
          <p:cNvSpPr/>
          <p:nvPr/>
        </p:nvSpPr>
        <p:spPr>
          <a:xfrm>
            <a:off x="795528" y="621792"/>
            <a:ext cx="502920" cy="502920"/>
          </a:xfrm>
          <a:prstGeom prst="ellipse">
            <a:avLst/>
          </a:prstGeom>
          <a:solidFill>
            <a:srgbClr val="4B9CD3"/>
          </a:solidFill>
          <a:ln w="12700">
            <a:solidFill>
              <a:srgbClr val="4B9CD3"/>
            </a:solidFill>
            <a:prstDash val="solid"/>
          </a:ln>
        </p:spPr>
        <p:txBody>
          <a:bodyPr/>
          <a:lstStyle/>
          <a:p>
            <a:endParaRPr lang="en-US"/>
          </a:p>
        </p:txBody>
      </p:sp>
      <p:sp>
        <p:nvSpPr>
          <p:cNvPr id="7" name="Text 5"/>
          <p:cNvSpPr/>
          <p:nvPr/>
        </p:nvSpPr>
        <p:spPr>
          <a:xfrm>
            <a:off x="795528" y="621792"/>
            <a:ext cx="502920" cy="50292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256032" y="1097280"/>
            <a:ext cx="157276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Load &amp; Split</a:t>
            </a:r>
            <a:endParaRPr lang="en-US" sz="1200" dirty="0"/>
          </a:p>
        </p:txBody>
      </p:sp>
      <p:sp>
        <p:nvSpPr>
          <p:cNvPr id="9" name="Text 7"/>
          <p:cNvSpPr/>
          <p:nvPr/>
        </p:nvSpPr>
        <p:spPr>
          <a:xfrm>
            <a:off x="256032" y="1463040"/>
            <a:ext cx="1572768" cy="713232"/>
          </a:xfrm>
          <a:prstGeom prst="rect">
            <a:avLst/>
          </a:prstGeom>
          <a:noFill/>
          <a:ln/>
        </p:spPr>
        <p:txBody>
          <a:bodyPr wrap="square" rtlCol="0" anchor="ctr"/>
          <a:lstStyle/>
          <a:p>
            <a:pPr marL="0" indent="0" algn="ctr">
              <a:buNone/>
            </a:pPr>
            <a:r>
              <a:rPr lang="en-US" sz="1050" dirty="0">
                <a:solidFill>
                  <a:srgbClr val="D6EAF8"/>
                </a:solidFill>
                <a:latin typeface="Calibri" pitchFamily="34" charset="0"/>
                <a:ea typeface="Calibri" pitchFamily="34" charset="-122"/>
                <a:cs typeface="Calibri" pitchFamily="34" charset="-120"/>
              </a:rPr>
              <a:t>Drop ID · 80/20</a:t>
            </a:r>
            <a:endParaRPr lang="en-US" sz="1050" dirty="0"/>
          </a:p>
          <a:p>
            <a:pPr marL="0" indent="0" algn="ctr">
              <a:buNone/>
            </a:pPr>
            <a:r>
              <a:rPr lang="en-US" sz="1050" dirty="0">
                <a:solidFill>
                  <a:srgbClr val="D6EAF8"/>
                </a:solidFill>
                <a:latin typeface="Calibri" pitchFamily="34" charset="0"/>
                <a:ea typeface="Calibri" pitchFamily="34" charset="-122"/>
                <a:cs typeface="Calibri" pitchFamily="34" charset="-120"/>
              </a:rPr>
              <a:t>Stratified split</a:t>
            </a:r>
            <a:endParaRPr lang="en-US" sz="1050" dirty="0"/>
          </a:p>
        </p:txBody>
      </p:sp>
      <p:sp>
        <p:nvSpPr>
          <p:cNvPr id="10" name="Shape 8"/>
          <p:cNvSpPr/>
          <p:nvPr/>
        </p:nvSpPr>
        <p:spPr>
          <a:xfrm>
            <a:off x="1828800" y="1417320"/>
            <a:ext cx="164592" cy="0"/>
          </a:xfrm>
          <a:prstGeom prst="line">
            <a:avLst/>
          </a:prstGeom>
          <a:noFill/>
          <a:ln w="25400">
            <a:solidFill>
              <a:srgbClr val="4B9CD3"/>
            </a:solidFill>
            <a:prstDash val="solid"/>
          </a:ln>
        </p:spPr>
        <p:txBody>
          <a:bodyPr/>
          <a:lstStyle/>
          <a:p>
            <a:endParaRPr lang="en-US"/>
          </a:p>
        </p:txBody>
      </p:sp>
      <p:sp>
        <p:nvSpPr>
          <p:cNvPr id="11" name="Shape 9"/>
          <p:cNvSpPr/>
          <p:nvPr/>
        </p:nvSpPr>
        <p:spPr>
          <a:xfrm>
            <a:off x="1993392" y="713232"/>
            <a:ext cx="1572768" cy="1508760"/>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12" name="Shape 10"/>
          <p:cNvSpPr/>
          <p:nvPr/>
        </p:nvSpPr>
        <p:spPr>
          <a:xfrm>
            <a:off x="2532888" y="621792"/>
            <a:ext cx="502920" cy="502920"/>
          </a:xfrm>
          <a:prstGeom prst="ellipse">
            <a:avLst/>
          </a:prstGeom>
          <a:solidFill>
            <a:srgbClr val="4B9CD3"/>
          </a:solidFill>
          <a:ln w="12700">
            <a:solidFill>
              <a:srgbClr val="4B9CD3"/>
            </a:solidFill>
            <a:prstDash val="solid"/>
          </a:ln>
        </p:spPr>
        <p:txBody>
          <a:bodyPr/>
          <a:lstStyle/>
          <a:p>
            <a:endParaRPr lang="en-US"/>
          </a:p>
        </p:txBody>
      </p:sp>
      <p:sp>
        <p:nvSpPr>
          <p:cNvPr id="13" name="Text 11"/>
          <p:cNvSpPr/>
          <p:nvPr/>
        </p:nvSpPr>
        <p:spPr>
          <a:xfrm>
            <a:off x="2532888" y="621792"/>
            <a:ext cx="502920" cy="50292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p:nvPr/>
        </p:nvSpPr>
        <p:spPr>
          <a:xfrm>
            <a:off x="1993392" y="1097280"/>
            <a:ext cx="157276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Z-Score Scale</a:t>
            </a:r>
            <a:endParaRPr lang="en-US" sz="1200" dirty="0"/>
          </a:p>
        </p:txBody>
      </p:sp>
      <p:sp>
        <p:nvSpPr>
          <p:cNvPr id="15" name="Text 13"/>
          <p:cNvSpPr/>
          <p:nvPr/>
        </p:nvSpPr>
        <p:spPr>
          <a:xfrm>
            <a:off x="1993392" y="1463040"/>
            <a:ext cx="1572768" cy="713232"/>
          </a:xfrm>
          <a:prstGeom prst="rect">
            <a:avLst/>
          </a:prstGeom>
          <a:noFill/>
          <a:ln/>
        </p:spPr>
        <p:txBody>
          <a:bodyPr wrap="square" rtlCol="0" anchor="ctr"/>
          <a:lstStyle/>
          <a:p>
            <a:pPr marL="0" indent="0" algn="ctr">
              <a:buNone/>
            </a:pPr>
            <a:r>
              <a:rPr lang="en-US" sz="1050" dirty="0">
                <a:solidFill>
                  <a:srgbClr val="D6EAF8"/>
                </a:solidFill>
                <a:latin typeface="Calibri" pitchFamily="34" charset="0"/>
                <a:ea typeface="Calibri" pitchFamily="34" charset="-122"/>
                <a:cs typeface="Calibri" pitchFamily="34" charset="-120"/>
              </a:rPr>
              <a:t>Fit on train only</a:t>
            </a:r>
            <a:endParaRPr lang="en-US" sz="1050" dirty="0"/>
          </a:p>
          <a:p>
            <a:pPr marL="0" indent="0" algn="ctr">
              <a:buNone/>
            </a:pPr>
            <a:r>
              <a:rPr lang="en-US" sz="1050" dirty="0">
                <a:solidFill>
                  <a:srgbClr val="D6EAF8"/>
                </a:solidFill>
                <a:latin typeface="Calibri" pitchFamily="34" charset="0"/>
                <a:ea typeface="Calibri" pitchFamily="34" charset="-122"/>
                <a:cs typeface="Calibri" pitchFamily="34" charset="-120"/>
              </a:rPr>
              <a:t>No data leakage</a:t>
            </a:r>
            <a:endParaRPr lang="en-US" sz="1050" dirty="0"/>
          </a:p>
        </p:txBody>
      </p:sp>
      <p:sp>
        <p:nvSpPr>
          <p:cNvPr id="16" name="Shape 14"/>
          <p:cNvSpPr/>
          <p:nvPr/>
        </p:nvSpPr>
        <p:spPr>
          <a:xfrm>
            <a:off x="3566160" y="1417320"/>
            <a:ext cx="164592" cy="0"/>
          </a:xfrm>
          <a:prstGeom prst="line">
            <a:avLst/>
          </a:prstGeom>
          <a:noFill/>
          <a:ln w="25400">
            <a:solidFill>
              <a:srgbClr val="4B9CD3"/>
            </a:solidFill>
            <a:prstDash val="solid"/>
          </a:ln>
        </p:spPr>
        <p:txBody>
          <a:bodyPr/>
          <a:lstStyle/>
          <a:p>
            <a:endParaRPr lang="en-US"/>
          </a:p>
        </p:txBody>
      </p:sp>
      <p:sp>
        <p:nvSpPr>
          <p:cNvPr id="17" name="Shape 15"/>
          <p:cNvSpPr/>
          <p:nvPr/>
        </p:nvSpPr>
        <p:spPr>
          <a:xfrm>
            <a:off x="3730752" y="713232"/>
            <a:ext cx="1572768" cy="1508760"/>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18" name="Shape 16"/>
          <p:cNvSpPr/>
          <p:nvPr/>
        </p:nvSpPr>
        <p:spPr>
          <a:xfrm>
            <a:off x="4270248" y="621792"/>
            <a:ext cx="502920" cy="502920"/>
          </a:xfrm>
          <a:prstGeom prst="ellipse">
            <a:avLst/>
          </a:prstGeom>
          <a:solidFill>
            <a:srgbClr val="4B9CD3"/>
          </a:solidFill>
          <a:ln w="12700">
            <a:solidFill>
              <a:srgbClr val="4B9CD3"/>
            </a:solidFill>
            <a:prstDash val="solid"/>
          </a:ln>
        </p:spPr>
        <p:txBody>
          <a:bodyPr/>
          <a:lstStyle/>
          <a:p>
            <a:endParaRPr lang="en-US"/>
          </a:p>
        </p:txBody>
      </p:sp>
      <p:sp>
        <p:nvSpPr>
          <p:cNvPr id="19" name="Text 17"/>
          <p:cNvSpPr/>
          <p:nvPr/>
        </p:nvSpPr>
        <p:spPr>
          <a:xfrm>
            <a:off x="4270248" y="621792"/>
            <a:ext cx="502920" cy="50292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p:nvPr/>
        </p:nvSpPr>
        <p:spPr>
          <a:xfrm>
            <a:off x="3730752" y="1097280"/>
            <a:ext cx="157276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LassoCV</a:t>
            </a:r>
            <a:endParaRPr lang="en-US" sz="1200" dirty="0"/>
          </a:p>
        </p:txBody>
      </p:sp>
      <p:sp>
        <p:nvSpPr>
          <p:cNvPr id="21" name="Text 19"/>
          <p:cNvSpPr/>
          <p:nvPr/>
        </p:nvSpPr>
        <p:spPr>
          <a:xfrm>
            <a:off x="3730752" y="1463040"/>
            <a:ext cx="1572768" cy="713232"/>
          </a:xfrm>
          <a:prstGeom prst="rect">
            <a:avLst/>
          </a:prstGeom>
          <a:noFill/>
          <a:ln/>
        </p:spPr>
        <p:txBody>
          <a:bodyPr wrap="square" rtlCol="0" anchor="ctr"/>
          <a:lstStyle/>
          <a:p>
            <a:pPr marL="0" indent="0" algn="ctr">
              <a:buNone/>
            </a:pPr>
            <a:r>
              <a:rPr lang="en-US" sz="1050" dirty="0">
                <a:solidFill>
                  <a:srgbClr val="D6EAF8"/>
                </a:solidFill>
                <a:latin typeface="Calibri" pitchFamily="34" charset="0"/>
                <a:ea typeface="Calibri" pitchFamily="34" charset="-122"/>
                <a:cs typeface="Calibri" pitchFamily="34" charset="-120"/>
              </a:rPr>
              <a:t>L1 · 5-fold CV</a:t>
            </a:r>
            <a:endParaRPr lang="en-US" sz="1050" dirty="0"/>
          </a:p>
          <a:p>
            <a:pPr marL="0" indent="0" algn="ctr">
              <a:buNone/>
            </a:pPr>
            <a:r>
              <a:rPr lang="en-US" sz="1050" dirty="0">
                <a:solidFill>
                  <a:srgbClr val="D6EAF8"/>
                </a:solidFill>
                <a:latin typeface="Calibri" pitchFamily="34" charset="0"/>
                <a:ea typeface="Calibri" pitchFamily="34" charset="-122"/>
                <a:cs typeface="Calibri" pitchFamily="34" charset="-120"/>
              </a:rPr>
              <a:t>15 features kept</a:t>
            </a:r>
            <a:endParaRPr lang="en-US" sz="1050" dirty="0"/>
          </a:p>
        </p:txBody>
      </p:sp>
      <p:sp>
        <p:nvSpPr>
          <p:cNvPr id="22" name="Shape 20"/>
          <p:cNvSpPr/>
          <p:nvPr/>
        </p:nvSpPr>
        <p:spPr>
          <a:xfrm>
            <a:off x="5303520" y="1417320"/>
            <a:ext cx="164592" cy="0"/>
          </a:xfrm>
          <a:prstGeom prst="line">
            <a:avLst/>
          </a:prstGeom>
          <a:noFill/>
          <a:ln w="25400">
            <a:solidFill>
              <a:srgbClr val="4B9CD3"/>
            </a:solidFill>
            <a:prstDash val="solid"/>
          </a:ln>
        </p:spPr>
        <p:txBody>
          <a:bodyPr/>
          <a:lstStyle/>
          <a:p>
            <a:endParaRPr lang="en-US"/>
          </a:p>
        </p:txBody>
      </p:sp>
      <p:sp>
        <p:nvSpPr>
          <p:cNvPr id="23" name="Shape 21"/>
          <p:cNvSpPr/>
          <p:nvPr/>
        </p:nvSpPr>
        <p:spPr>
          <a:xfrm>
            <a:off x="5468112" y="713232"/>
            <a:ext cx="1572768" cy="1508760"/>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24" name="Shape 22"/>
          <p:cNvSpPr/>
          <p:nvPr/>
        </p:nvSpPr>
        <p:spPr>
          <a:xfrm>
            <a:off x="6007608" y="621792"/>
            <a:ext cx="502920" cy="502920"/>
          </a:xfrm>
          <a:prstGeom prst="ellipse">
            <a:avLst/>
          </a:prstGeom>
          <a:solidFill>
            <a:srgbClr val="4B9CD3"/>
          </a:solidFill>
          <a:ln w="12700">
            <a:solidFill>
              <a:srgbClr val="4B9CD3"/>
            </a:solidFill>
            <a:prstDash val="solid"/>
          </a:ln>
        </p:spPr>
        <p:txBody>
          <a:bodyPr/>
          <a:lstStyle/>
          <a:p>
            <a:endParaRPr lang="en-US"/>
          </a:p>
        </p:txBody>
      </p:sp>
      <p:sp>
        <p:nvSpPr>
          <p:cNvPr id="25" name="Text 23"/>
          <p:cNvSpPr/>
          <p:nvPr/>
        </p:nvSpPr>
        <p:spPr>
          <a:xfrm>
            <a:off x="6007608" y="621792"/>
            <a:ext cx="502920" cy="50292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6" name="Text 24"/>
          <p:cNvSpPr/>
          <p:nvPr/>
        </p:nvSpPr>
        <p:spPr>
          <a:xfrm>
            <a:off x="5468112" y="1097280"/>
            <a:ext cx="157276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 Models</a:t>
            </a:r>
            <a:endParaRPr lang="en-US" sz="1200" dirty="0"/>
          </a:p>
        </p:txBody>
      </p:sp>
      <p:sp>
        <p:nvSpPr>
          <p:cNvPr id="27" name="Text 25"/>
          <p:cNvSpPr/>
          <p:nvPr/>
        </p:nvSpPr>
        <p:spPr>
          <a:xfrm>
            <a:off x="5468112" y="1463040"/>
            <a:ext cx="1572768" cy="713232"/>
          </a:xfrm>
          <a:prstGeom prst="rect">
            <a:avLst/>
          </a:prstGeom>
          <a:noFill/>
          <a:ln/>
        </p:spPr>
        <p:txBody>
          <a:bodyPr wrap="square" rtlCol="0" anchor="ctr"/>
          <a:lstStyle/>
          <a:p>
            <a:pPr marL="0" indent="0" algn="ctr">
              <a:buNone/>
            </a:pPr>
            <a:r>
              <a:rPr lang="en-US" sz="1050" dirty="0">
                <a:solidFill>
                  <a:srgbClr val="D6EAF8"/>
                </a:solidFill>
                <a:latin typeface="Calibri" pitchFamily="34" charset="0"/>
                <a:ea typeface="Calibri" pitchFamily="34" charset="-122"/>
                <a:cs typeface="Calibri" pitchFamily="34" charset="-120"/>
              </a:rPr>
              <a:t>LR · RF · GB</a:t>
            </a:r>
            <a:endParaRPr lang="en-US" sz="1050" dirty="0"/>
          </a:p>
          <a:p>
            <a:pPr marL="0" indent="0" algn="ctr">
              <a:buNone/>
            </a:pPr>
            <a:r>
              <a:rPr lang="en-US" sz="1050" dirty="0">
                <a:solidFill>
                  <a:srgbClr val="D6EAF8"/>
                </a:solidFill>
                <a:latin typeface="Calibri" pitchFamily="34" charset="0"/>
                <a:ea typeface="Calibri" pitchFamily="34" charset="-122"/>
                <a:cs typeface="Calibri" pitchFamily="34" charset="-120"/>
              </a:rPr>
              <a:t>GridSearch tuned</a:t>
            </a:r>
            <a:endParaRPr lang="en-US" sz="1050" dirty="0"/>
          </a:p>
        </p:txBody>
      </p:sp>
      <p:sp>
        <p:nvSpPr>
          <p:cNvPr id="28" name="Shape 26"/>
          <p:cNvSpPr/>
          <p:nvPr/>
        </p:nvSpPr>
        <p:spPr>
          <a:xfrm>
            <a:off x="7040880" y="1417320"/>
            <a:ext cx="164592" cy="0"/>
          </a:xfrm>
          <a:prstGeom prst="line">
            <a:avLst/>
          </a:prstGeom>
          <a:noFill/>
          <a:ln w="25400">
            <a:solidFill>
              <a:srgbClr val="4B9CD3"/>
            </a:solidFill>
            <a:prstDash val="solid"/>
          </a:ln>
        </p:spPr>
        <p:txBody>
          <a:bodyPr/>
          <a:lstStyle/>
          <a:p>
            <a:endParaRPr lang="en-US"/>
          </a:p>
        </p:txBody>
      </p:sp>
      <p:sp>
        <p:nvSpPr>
          <p:cNvPr id="29" name="Shape 27"/>
          <p:cNvSpPr/>
          <p:nvPr/>
        </p:nvSpPr>
        <p:spPr>
          <a:xfrm>
            <a:off x="7205472" y="713232"/>
            <a:ext cx="1572768" cy="1508760"/>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30" name="Shape 28"/>
          <p:cNvSpPr/>
          <p:nvPr/>
        </p:nvSpPr>
        <p:spPr>
          <a:xfrm>
            <a:off x="7744968" y="621792"/>
            <a:ext cx="502920" cy="502920"/>
          </a:xfrm>
          <a:prstGeom prst="ellipse">
            <a:avLst/>
          </a:prstGeom>
          <a:solidFill>
            <a:srgbClr val="4B9CD3"/>
          </a:solidFill>
          <a:ln w="12700">
            <a:solidFill>
              <a:srgbClr val="4B9CD3"/>
            </a:solidFill>
            <a:prstDash val="solid"/>
          </a:ln>
        </p:spPr>
        <p:txBody>
          <a:bodyPr/>
          <a:lstStyle/>
          <a:p>
            <a:endParaRPr lang="en-US"/>
          </a:p>
        </p:txBody>
      </p:sp>
      <p:sp>
        <p:nvSpPr>
          <p:cNvPr id="31" name="Text 29"/>
          <p:cNvSpPr/>
          <p:nvPr/>
        </p:nvSpPr>
        <p:spPr>
          <a:xfrm>
            <a:off x="7744968" y="621792"/>
            <a:ext cx="502920" cy="50292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2" name="Text 30"/>
          <p:cNvSpPr/>
          <p:nvPr/>
        </p:nvSpPr>
        <p:spPr>
          <a:xfrm>
            <a:off x="7205472" y="1097280"/>
            <a:ext cx="1572768"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Evaluate</a:t>
            </a:r>
            <a:endParaRPr lang="en-US" sz="1200" dirty="0"/>
          </a:p>
        </p:txBody>
      </p:sp>
      <p:sp>
        <p:nvSpPr>
          <p:cNvPr id="33" name="Text 31"/>
          <p:cNvSpPr/>
          <p:nvPr/>
        </p:nvSpPr>
        <p:spPr>
          <a:xfrm>
            <a:off x="7205472" y="1463040"/>
            <a:ext cx="1572768" cy="713232"/>
          </a:xfrm>
          <a:prstGeom prst="rect">
            <a:avLst/>
          </a:prstGeom>
          <a:noFill/>
          <a:ln/>
        </p:spPr>
        <p:txBody>
          <a:bodyPr wrap="square" rtlCol="0" anchor="ctr"/>
          <a:lstStyle/>
          <a:p>
            <a:pPr marL="0" indent="0" algn="ctr">
              <a:buNone/>
            </a:pPr>
            <a:r>
              <a:rPr lang="en-US" sz="1050" dirty="0">
                <a:solidFill>
                  <a:srgbClr val="D6EAF8"/>
                </a:solidFill>
                <a:latin typeface="Calibri" pitchFamily="34" charset="0"/>
                <a:ea typeface="Calibri" pitchFamily="34" charset="-122"/>
                <a:cs typeface="Calibri" pitchFamily="34" charset="-120"/>
              </a:rPr>
              <a:t>AUC · Recall · F1</a:t>
            </a:r>
            <a:endParaRPr lang="en-US" sz="1050" dirty="0"/>
          </a:p>
          <a:p>
            <a:pPr marL="0" indent="0" algn="ctr">
              <a:buNone/>
            </a:pPr>
            <a:r>
              <a:rPr lang="en-US" sz="1050" dirty="0">
                <a:solidFill>
                  <a:srgbClr val="D6EAF8"/>
                </a:solidFill>
                <a:latin typeface="Calibri" pitchFamily="34" charset="0"/>
                <a:ea typeface="Calibri" pitchFamily="34" charset="-122"/>
                <a:cs typeface="Calibri" pitchFamily="34" charset="-120"/>
              </a:rPr>
              <a:t>5-fold stratified</a:t>
            </a:r>
            <a:endParaRPr lang="en-US" sz="10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256032" y="2423160"/>
          <a:ext cx="8631936" cy="2377440"/>
        </p:xfrm>
        <a:graphic>
          <a:graphicData uri="http://schemas.openxmlformats.org/drawingml/2006/table">
            <a:tbl>
              <a:tblPr/>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145536">
                  <a:extLst>
                    <a:ext uri="{9D8B030D-6E8A-4147-A177-3AD203B41FA5}">
                      <a16:colId xmlns:a16="http://schemas.microsoft.com/office/drawing/2014/main" val="20002"/>
                    </a:ext>
                  </a:extLst>
                </a:gridCol>
              </a:tblGrid>
              <a:tr h="59436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Key Hyperparameters</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Rationale</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5943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Logistic Regression</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C=10 (Ridge L2) · degree=3 splines · n_knots=5 · solver=lbfgs</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Best C via GridSearchCV over 6 values; splines capture nonlinear dose-response</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1"/>
                  </a:ext>
                </a:extLst>
              </a:tr>
              <a:tr h="59436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Random Forest</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n_estimators=100 · max_depth=None · min_samples_split=2</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Compute-limited; 500+ estimators recommended for full variance reduction</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2"/>
                  </a:ext>
                </a:extLst>
              </a:tr>
              <a:tr h="5943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Gradient Boosting ★</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buNone/>
                      </a:pPr>
                      <a:r>
                        <a:rPr lang="en-US" sz="1100" dirty="0">
                          <a:solidFill>
                            <a:srgbClr val="FFFFFF"/>
                          </a:solidFill>
                          <a:latin typeface="Calibri" pitchFamily="34" charset="0"/>
                          <a:ea typeface="Calibri" pitchFamily="34" charset="-122"/>
                          <a:cs typeface="Calibri" pitchFamily="34" charset="-120"/>
                        </a:rPr>
                        <a:t>n_estimators=200 · learning_rate=0.1 · max_depth=3</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buNone/>
                      </a:pPr>
                      <a:r>
                        <a:rPr lang="en-US" sz="1100" dirty="0">
                          <a:solidFill>
                            <a:srgbClr val="FFFFFF"/>
                          </a:solidFill>
                          <a:latin typeface="Calibri" pitchFamily="34" charset="0"/>
                          <a:ea typeface="Calibri" pitchFamily="34" charset="-122"/>
                          <a:cs typeface="Calibri" pitchFamily="34" charset="-120"/>
                        </a:rPr>
                        <a:t>Shallow trees + shrinkage prevent overfit; CV–test gap = −0.0015 confirms this</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06 · Results: Model Performance &amp; ROC Curves</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713232"/>
          <a:ext cx="4983480" cy="1755648"/>
        </p:xfrm>
        <a:graphic>
          <a:graphicData uri="http://schemas.openxmlformats.org/drawingml/2006/table">
            <a:tbl>
              <a:tblPr/>
              <a:tblGrid>
                <a:gridCol w="1691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tblGrid>
              <a:tr h="438912">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CV AUC</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Test AUC</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43891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LR (Ridge+Spline)</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0.867 ± 0.003</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0.879</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72.5%</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0.719</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Random Forest</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0.883 ± 0.004</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0.884</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78.1%</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0.739</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Gradient Boosting ★</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0.887 ± 0.004</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0.889</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78.8%</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0.750</a:t>
                      </a:r>
                      <a:endParaRPr lang="en-US" sz="11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extLst>
                  <a:ext uri="{0D108BD9-81ED-4DB2-BD59-A6C34878D82A}">
                    <a16:rowId xmlns:a16="http://schemas.microsoft.com/office/drawing/2014/main" val="10003"/>
                  </a:ext>
                </a:extLst>
              </a:tr>
            </a:tbl>
          </a:graphicData>
        </a:graphic>
      </p:graphicFrame>
      <p:sp>
        <p:nvSpPr>
          <p:cNvPr id="6" name="Shape 3"/>
          <p:cNvSpPr/>
          <p:nvPr/>
        </p:nvSpPr>
        <p:spPr>
          <a:xfrm>
            <a:off x="274320" y="2688336"/>
            <a:ext cx="1572768" cy="1024128"/>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7" name="Shape 4"/>
          <p:cNvSpPr/>
          <p:nvPr/>
        </p:nvSpPr>
        <p:spPr>
          <a:xfrm>
            <a:off x="274320" y="2688336"/>
            <a:ext cx="1572768" cy="54864"/>
          </a:xfrm>
          <a:prstGeom prst="rect">
            <a:avLst/>
          </a:prstGeom>
          <a:solidFill>
            <a:srgbClr val="4B9CD3"/>
          </a:solidFill>
          <a:ln w="12700">
            <a:solidFill>
              <a:srgbClr val="4B9CD3"/>
            </a:solidFill>
            <a:prstDash val="solid"/>
          </a:ln>
        </p:spPr>
        <p:txBody>
          <a:bodyPr/>
          <a:lstStyle/>
          <a:p>
            <a:endParaRPr lang="en-US"/>
          </a:p>
        </p:txBody>
      </p:sp>
      <p:sp>
        <p:nvSpPr>
          <p:cNvPr id="8" name="Text 5"/>
          <p:cNvSpPr/>
          <p:nvPr/>
        </p:nvSpPr>
        <p:spPr>
          <a:xfrm>
            <a:off x="274320" y="2779776"/>
            <a:ext cx="1572768" cy="573512"/>
          </a:xfrm>
          <a:prstGeom prst="rect">
            <a:avLst/>
          </a:prstGeom>
          <a:noFill/>
          <a:ln/>
        </p:spPr>
        <p:txBody>
          <a:bodyPr wrap="square" rtlCol="0" anchor="b"/>
          <a:lstStyle/>
          <a:p>
            <a:pPr marL="0" indent="0" algn="ctr">
              <a:buNone/>
            </a:pPr>
            <a:r>
              <a:rPr lang="en-US" sz="3000" b="1" dirty="0">
                <a:solidFill>
                  <a:srgbClr val="FFFFFF"/>
                </a:solidFill>
                <a:latin typeface="Calibri" pitchFamily="34" charset="0"/>
                <a:ea typeface="Calibri" pitchFamily="34" charset="-122"/>
                <a:cs typeface="Calibri" pitchFamily="34" charset="-120"/>
              </a:rPr>
              <a:t>0.8887</a:t>
            </a:r>
            <a:endParaRPr lang="en-US" sz="3000" dirty="0"/>
          </a:p>
        </p:txBody>
      </p:sp>
      <p:sp>
        <p:nvSpPr>
          <p:cNvPr id="9" name="Text 6"/>
          <p:cNvSpPr/>
          <p:nvPr/>
        </p:nvSpPr>
        <p:spPr>
          <a:xfrm>
            <a:off x="274320" y="3282330"/>
            <a:ext cx="1572768" cy="389169"/>
          </a:xfrm>
          <a:prstGeom prst="rect">
            <a:avLst/>
          </a:prstGeom>
          <a:noFill/>
          <a:ln/>
        </p:spPr>
        <p:txBody>
          <a:bodyPr wrap="square" rtlCol="0" anchor="t"/>
          <a:lstStyle/>
          <a:p>
            <a:pPr marL="0" indent="0" algn="ctr">
              <a:buNone/>
            </a:pPr>
            <a:r>
              <a:rPr lang="en-US" sz="1100" dirty="0">
                <a:solidFill>
                  <a:srgbClr val="9BC4E2"/>
                </a:solidFill>
                <a:latin typeface="Calibri" pitchFamily="34" charset="0"/>
                <a:ea typeface="Calibri" pitchFamily="34" charset="-122"/>
                <a:cs typeface="Calibri" pitchFamily="34" charset="-120"/>
              </a:rPr>
              <a:t>Best Test AUC</a:t>
            </a:r>
            <a:endParaRPr lang="en-US" sz="1100" dirty="0"/>
          </a:p>
        </p:txBody>
      </p:sp>
      <p:sp>
        <p:nvSpPr>
          <p:cNvPr id="5" name="Shape 7"/>
          <p:cNvSpPr/>
          <p:nvPr/>
        </p:nvSpPr>
        <p:spPr>
          <a:xfrm>
            <a:off x="1984248" y="2688336"/>
            <a:ext cx="1572768" cy="1024128"/>
          </a:xfrm>
          <a:prstGeom prst="rect">
            <a:avLst/>
          </a:prstGeom>
          <a:solidFill>
            <a:srgbClr val="4B9CD3"/>
          </a:solidFill>
          <a:ln w="12700">
            <a:solidFill>
              <a:srgbClr val="4B9CD3"/>
            </a:solidFill>
            <a:prstDash val="solid"/>
          </a:ln>
          <a:effectLst>
            <a:outerShdw blurRad="50800" dist="25400" dir="8100000" algn="bl" rotWithShape="0">
              <a:srgbClr val="000000">
                <a:alpha val="10000"/>
              </a:srgbClr>
            </a:outerShdw>
          </a:effectLst>
        </p:spPr>
        <p:txBody>
          <a:bodyPr/>
          <a:lstStyle/>
          <a:p>
            <a:endParaRPr lang="en-US"/>
          </a:p>
        </p:txBody>
      </p:sp>
      <p:sp>
        <p:nvSpPr>
          <p:cNvPr id="11" name="Shape 8"/>
          <p:cNvSpPr/>
          <p:nvPr/>
        </p:nvSpPr>
        <p:spPr>
          <a:xfrm>
            <a:off x="1984248" y="2688336"/>
            <a:ext cx="1572768" cy="54864"/>
          </a:xfrm>
          <a:prstGeom prst="rect">
            <a:avLst/>
          </a:prstGeom>
          <a:solidFill>
            <a:srgbClr val="13294B"/>
          </a:solidFill>
          <a:ln w="12700">
            <a:solidFill>
              <a:srgbClr val="13294B"/>
            </a:solidFill>
            <a:prstDash val="solid"/>
          </a:ln>
        </p:spPr>
        <p:txBody>
          <a:bodyPr/>
          <a:lstStyle/>
          <a:p>
            <a:endParaRPr lang="en-US"/>
          </a:p>
        </p:txBody>
      </p:sp>
      <p:sp>
        <p:nvSpPr>
          <p:cNvPr id="12" name="Text 9"/>
          <p:cNvSpPr/>
          <p:nvPr/>
        </p:nvSpPr>
        <p:spPr>
          <a:xfrm>
            <a:off x="1984248" y="2779776"/>
            <a:ext cx="1572768" cy="573512"/>
          </a:xfrm>
          <a:prstGeom prst="rect">
            <a:avLst/>
          </a:prstGeom>
          <a:noFill/>
          <a:ln/>
        </p:spPr>
        <p:txBody>
          <a:bodyPr wrap="square" rtlCol="0" anchor="b"/>
          <a:lstStyle/>
          <a:p>
            <a:pPr marL="0" indent="0" algn="ctr">
              <a:buNone/>
            </a:pPr>
            <a:r>
              <a:rPr lang="en-US" sz="3000" b="1" dirty="0">
                <a:solidFill>
                  <a:srgbClr val="FFFFFF"/>
                </a:solidFill>
                <a:latin typeface="Calibri" pitchFamily="34" charset="0"/>
                <a:ea typeface="Calibri" pitchFamily="34" charset="-122"/>
                <a:cs typeface="Calibri" pitchFamily="34" charset="-120"/>
              </a:rPr>
              <a:t>21.2%</a:t>
            </a:r>
            <a:endParaRPr lang="en-US" sz="3000" dirty="0"/>
          </a:p>
        </p:txBody>
      </p:sp>
      <p:sp>
        <p:nvSpPr>
          <p:cNvPr id="13" name="Text 10"/>
          <p:cNvSpPr/>
          <p:nvPr/>
        </p:nvSpPr>
        <p:spPr>
          <a:xfrm>
            <a:off x="1984248" y="3282330"/>
            <a:ext cx="1572768" cy="389169"/>
          </a:xfrm>
          <a:prstGeom prst="rect">
            <a:avLst/>
          </a:prstGeom>
          <a:noFill/>
          <a:ln/>
        </p:spPr>
        <p:txBody>
          <a:bodyPr wrap="square" rtlCol="0" anchor="t"/>
          <a:lstStyle/>
          <a:p>
            <a:pPr marL="0" indent="0" algn="ctr">
              <a:buNone/>
            </a:pPr>
            <a:r>
              <a:rPr lang="en-US" sz="1100" dirty="0">
                <a:solidFill>
                  <a:srgbClr val="9BC4E2"/>
                </a:solidFill>
                <a:latin typeface="Calibri" pitchFamily="34" charset="0"/>
                <a:ea typeface="Calibri" pitchFamily="34" charset="-122"/>
                <a:cs typeface="Calibri" pitchFamily="34" charset="-120"/>
              </a:rPr>
              <a:t>False Neg. Rate</a:t>
            </a:r>
            <a:endParaRPr lang="en-US" sz="1100" dirty="0"/>
          </a:p>
        </p:txBody>
      </p:sp>
      <p:sp>
        <p:nvSpPr>
          <p:cNvPr id="14" name="Shape 11"/>
          <p:cNvSpPr/>
          <p:nvPr/>
        </p:nvSpPr>
        <p:spPr>
          <a:xfrm>
            <a:off x="3685032" y="2688336"/>
            <a:ext cx="1572768" cy="1024128"/>
          </a:xfrm>
          <a:prstGeom prst="rect">
            <a:avLst/>
          </a:prstGeom>
          <a:solidFill>
            <a:srgbClr val="13294B"/>
          </a:solidFill>
          <a:ln w="12700">
            <a:solidFill>
              <a:srgbClr val="13294B"/>
            </a:solidFill>
            <a:prstDash val="solid"/>
          </a:ln>
          <a:effectLst>
            <a:outerShdw blurRad="50800" dist="25400" dir="8100000" algn="bl" rotWithShape="0">
              <a:srgbClr val="000000">
                <a:alpha val="10000"/>
              </a:srgbClr>
            </a:outerShdw>
          </a:effectLst>
        </p:spPr>
        <p:txBody>
          <a:bodyPr/>
          <a:lstStyle/>
          <a:p>
            <a:endParaRPr lang="en-US"/>
          </a:p>
        </p:txBody>
      </p:sp>
      <p:sp>
        <p:nvSpPr>
          <p:cNvPr id="15" name="Shape 12"/>
          <p:cNvSpPr/>
          <p:nvPr/>
        </p:nvSpPr>
        <p:spPr>
          <a:xfrm>
            <a:off x="3685032" y="2688336"/>
            <a:ext cx="1572768" cy="54864"/>
          </a:xfrm>
          <a:prstGeom prst="rect">
            <a:avLst/>
          </a:prstGeom>
          <a:solidFill>
            <a:srgbClr val="4B9CD3"/>
          </a:solidFill>
          <a:ln w="12700">
            <a:solidFill>
              <a:srgbClr val="4B9CD3"/>
            </a:solidFill>
            <a:prstDash val="solid"/>
          </a:ln>
        </p:spPr>
        <p:txBody>
          <a:bodyPr/>
          <a:lstStyle/>
          <a:p>
            <a:endParaRPr lang="en-US"/>
          </a:p>
        </p:txBody>
      </p:sp>
      <p:sp>
        <p:nvSpPr>
          <p:cNvPr id="16" name="Text 13"/>
          <p:cNvSpPr/>
          <p:nvPr/>
        </p:nvSpPr>
        <p:spPr>
          <a:xfrm>
            <a:off x="3685032" y="2779776"/>
            <a:ext cx="1572768" cy="573512"/>
          </a:xfrm>
          <a:prstGeom prst="rect">
            <a:avLst/>
          </a:prstGeom>
          <a:noFill/>
          <a:ln/>
        </p:spPr>
        <p:txBody>
          <a:bodyPr wrap="square" rtlCol="0" anchor="b"/>
          <a:lstStyle/>
          <a:p>
            <a:pPr marL="0" indent="0" algn="ctr">
              <a:buNone/>
            </a:pPr>
            <a:r>
              <a:rPr lang="en-US" sz="3000" b="1" dirty="0">
                <a:solidFill>
                  <a:srgbClr val="FFFFFF"/>
                </a:solidFill>
                <a:latin typeface="Calibri" pitchFamily="34" charset="0"/>
                <a:ea typeface="Calibri" pitchFamily="34" charset="-122"/>
                <a:cs typeface="Calibri" pitchFamily="34" charset="-120"/>
              </a:rPr>
              <a:t>0.0037</a:t>
            </a:r>
            <a:endParaRPr lang="en-US" sz="3000" dirty="0"/>
          </a:p>
        </p:txBody>
      </p:sp>
      <p:sp>
        <p:nvSpPr>
          <p:cNvPr id="17" name="Text 14"/>
          <p:cNvSpPr/>
          <p:nvPr/>
        </p:nvSpPr>
        <p:spPr>
          <a:xfrm>
            <a:off x="3685032" y="3282330"/>
            <a:ext cx="1572768" cy="389169"/>
          </a:xfrm>
          <a:prstGeom prst="rect">
            <a:avLst/>
          </a:prstGeom>
          <a:noFill/>
          <a:ln/>
        </p:spPr>
        <p:txBody>
          <a:bodyPr wrap="square" rtlCol="0" anchor="t"/>
          <a:lstStyle/>
          <a:p>
            <a:pPr marL="0" indent="0" algn="ctr">
              <a:buNone/>
            </a:pPr>
            <a:r>
              <a:rPr lang="en-US" sz="1100" dirty="0">
                <a:solidFill>
                  <a:srgbClr val="9BC4E2"/>
                </a:solidFill>
                <a:latin typeface="Calibri" pitchFamily="34" charset="0"/>
                <a:ea typeface="Calibri" pitchFamily="34" charset="-122"/>
                <a:cs typeface="Calibri" pitchFamily="34" charset="-120"/>
              </a:rPr>
              <a:t>CV Std Dev</a:t>
            </a:r>
            <a:endParaRPr lang="en-US" sz="1100" dirty="0"/>
          </a:p>
        </p:txBody>
      </p:sp>
      <p:sp>
        <p:nvSpPr>
          <p:cNvPr id="18" name="Text 15"/>
          <p:cNvSpPr/>
          <p:nvPr/>
        </p:nvSpPr>
        <p:spPr>
          <a:xfrm>
            <a:off x="274320" y="3785616"/>
            <a:ext cx="2743200" cy="256032"/>
          </a:xfrm>
          <a:prstGeom prst="rect">
            <a:avLst/>
          </a:prstGeom>
          <a:noFill/>
          <a:ln/>
        </p:spPr>
        <p:txBody>
          <a:bodyPr wrap="square" rtlCol="0" anchor="ctr"/>
          <a:lstStyle/>
          <a:p>
            <a:pPr marL="0" indent="0">
              <a:buNone/>
            </a:pPr>
            <a:r>
              <a:rPr lang="en-US" sz="1100" b="1" dirty="0">
                <a:solidFill>
                  <a:srgbClr val="13294B"/>
                </a:solidFill>
                <a:latin typeface="Calibri" pitchFamily="34" charset="0"/>
                <a:ea typeface="Calibri" pitchFamily="34" charset="-122"/>
                <a:cs typeface="Calibri" pitchFamily="34" charset="-120"/>
              </a:rPr>
              <a:t>GB Confusion Matrix:</a:t>
            </a:r>
            <a:endParaRPr lang="en-US" sz="11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274320" y="4041648"/>
          <a:ext cx="4983480" cy="905256"/>
        </p:xfrm>
        <a:graphic>
          <a:graphicData uri="http://schemas.openxmlformats.org/drawingml/2006/table">
            <a:tbl>
              <a:tblPr/>
              <a:tblGrid>
                <a:gridCol w="14173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01752">
                <a:tc>
                  <a:txBody>
                    <a:bodyPr/>
                    <a:lstStyle/>
                    <a:p>
                      <a:pPr marL="0" indent="0">
                        <a:buNone/>
                      </a:pP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Pred: No Smoke</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Pred: Smoker</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301752">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Act: No Smoke</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A5568"/>
                    </a:solidFill>
                  </a:tcPr>
                </a:tc>
                <a:tc>
                  <a:txBody>
                    <a:bodyPr/>
                    <a:lstStyle/>
                    <a:p>
                      <a:pPr marL="0" indent="0" algn="ctr">
                        <a:buNone/>
                      </a:pPr>
                      <a:r>
                        <a:rPr lang="en-US" sz="1000" dirty="0">
                          <a:solidFill>
                            <a:srgbClr val="13294B"/>
                          </a:solidFill>
                          <a:latin typeface="Calibri" pitchFamily="34" charset="0"/>
                          <a:ea typeface="Calibri" pitchFamily="34" charset="-122"/>
                          <a:cs typeface="Calibri" pitchFamily="34" charset="-120"/>
                        </a:rPr>
                        <a:t>83.4% (n=1,593) TN</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D6EAF8"/>
                    </a:solidFill>
                  </a:tcPr>
                </a:tc>
                <a:tc>
                  <a:txBody>
                    <a:bodyPr/>
                    <a:lstStyle/>
                    <a:p>
                      <a:pPr marL="0" indent="0" algn="ctr">
                        <a:buNone/>
                      </a:pPr>
                      <a:r>
                        <a:rPr lang="en-US" sz="1000" dirty="0">
                          <a:solidFill>
                            <a:srgbClr val="000000"/>
                          </a:solidFill>
                          <a:latin typeface="Calibri" pitchFamily="34" charset="0"/>
                          <a:ea typeface="Calibri" pitchFamily="34" charset="-122"/>
                          <a:cs typeface="Calibri" pitchFamily="34" charset="-120"/>
                        </a:rPr>
                        <a:t>16.6% (n=318) FP</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Act: Smoker</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A5568"/>
                    </a:solidFill>
                  </a:tcPr>
                </a:tc>
                <a:tc>
                  <a:txBody>
                    <a:bodyPr/>
                    <a:lstStyle/>
                    <a:p>
                      <a:pPr marL="0" indent="0" algn="ctr">
                        <a:buNone/>
                      </a:pPr>
                      <a:r>
                        <a:rPr lang="en-US" sz="1000" dirty="0">
                          <a:solidFill>
                            <a:srgbClr val="000000"/>
                          </a:solidFill>
                          <a:latin typeface="Calibri" pitchFamily="34" charset="0"/>
                          <a:ea typeface="Calibri" pitchFamily="34" charset="-122"/>
                          <a:cs typeface="Calibri" pitchFamily="34" charset="-120"/>
                        </a:rPr>
                        <a:t>21.2% (n=231) FN</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000" dirty="0">
                          <a:solidFill>
                            <a:srgbClr val="13294B"/>
                          </a:solidFill>
                          <a:latin typeface="Calibri" pitchFamily="34" charset="0"/>
                          <a:ea typeface="Calibri" pitchFamily="34" charset="-122"/>
                          <a:cs typeface="Calibri" pitchFamily="34" charset="-120"/>
                        </a:rPr>
                        <a:t>78.8% (n=858) TP</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D6EAF8"/>
                    </a:solidFill>
                  </a:tcPr>
                </a:tc>
                <a:extLst>
                  <a:ext uri="{0D108BD9-81ED-4DB2-BD59-A6C34878D82A}">
                    <a16:rowId xmlns:a16="http://schemas.microsoft.com/office/drawing/2014/main" val="10002"/>
                  </a:ext>
                </a:extLst>
              </a:tr>
            </a:tbl>
          </a:graphicData>
        </a:graphic>
      </p:graphicFrame>
      <p:pic>
        <p:nvPicPr>
          <p:cNvPr id="20" name="Image 0" descr="preencoded.png"/>
          <p:cNvPicPr>
            <a:picLocks noChangeAspect="1"/>
          </p:cNvPicPr>
          <p:nvPr/>
        </p:nvPicPr>
        <p:blipFill>
          <a:blip r:embed="rId3"/>
          <a:stretch>
            <a:fillRect/>
          </a:stretch>
        </p:blipFill>
        <p:spPr>
          <a:xfrm>
            <a:off x="5440680" y="713232"/>
            <a:ext cx="3429000" cy="42519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06 · Feature Importance: Gradient Boosting (Gini MDI)</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228600" y="658368"/>
            <a:ext cx="5303520" cy="416052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658368"/>
          <a:ext cx="3246120" cy="4114800"/>
        </p:xfrm>
        <a:graphic>
          <a:graphicData uri="http://schemas.openxmlformats.org/drawingml/2006/table">
            <a:tbl>
              <a:tblPr/>
              <a:tblGrid>
                <a:gridCol w="91440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5720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Feature</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Gini</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Biological Signal</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457200">
                <a:tc>
                  <a:txBody>
                    <a:bodyPr/>
                    <a:lstStyle/>
                    <a:p>
                      <a:pPr marL="0" indent="0">
                        <a:buNone/>
                      </a:pPr>
                      <a:r>
                        <a:rPr lang="en-US" sz="950" b="1" dirty="0">
                          <a:solidFill>
                            <a:srgbClr val="4B9CD3"/>
                          </a:solidFill>
                          <a:latin typeface="Calibri" pitchFamily="34" charset="0"/>
                          <a:ea typeface="Calibri" pitchFamily="34" charset="-122"/>
                          <a:cs typeface="Calibri" pitchFamily="34" charset="-120"/>
                        </a:rPr>
                        <a:t>hemoglobin</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950" b="1" dirty="0">
                          <a:solidFill>
                            <a:srgbClr val="4B9CD3"/>
                          </a:solidFill>
                          <a:latin typeface="Calibri" pitchFamily="34" charset="0"/>
                          <a:ea typeface="Calibri" pitchFamily="34" charset="-122"/>
                          <a:cs typeface="Calibri" pitchFamily="34" charset="-120"/>
                        </a:rPr>
                        <a:t>0.411</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Secondary polycythemia; erythropoietin pathway</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height (cm)</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950" dirty="0">
                          <a:solidFill>
                            <a:srgbClr val="000000"/>
                          </a:solidFill>
                          <a:latin typeface="Calibri" pitchFamily="34" charset="0"/>
                          <a:ea typeface="Calibri" pitchFamily="34" charset="-122"/>
                          <a:cs typeface="Calibri" pitchFamily="34" charset="-120"/>
                        </a:rPr>
                        <a:t>0.196</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Sex proxy — males ~8.6cm taller, 3× smoking rate</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Gtp</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950" dirty="0">
                          <a:solidFill>
                            <a:srgbClr val="000000"/>
                          </a:solidFill>
                          <a:latin typeface="Calibri" pitchFamily="34" charset="0"/>
                          <a:ea typeface="Calibri" pitchFamily="34" charset="-122"/>
                          <a:cs typeface="Calibri" pitchFamily="34" charset="-120"/>
                        </a:rPr>
                        <a:t>0.109</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GGT elevated by tobacco; alcohol confound present</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triglyceride</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950" dirty="0">
                          <a:solidFill>
                            <a:srgbClr val="000000"/>
                          </a:solidFill>
                          <a:latin typeface="Calibri" pitchFamily="34" charset="0"/>
                          <a:ea typeface="Calibri" pitchFamily="34" charset="-122"/>
                          <a:cs typeface="Calibri" pitchFamily="34" charset="-120"/>
                        </a:rPr>
                        <a:t>0.089</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VLDL upregulation; +0.50 mmol/L in smokers (n=169 studies)</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age</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950" dirty="0">
                          <a:solidFill>
                            <a:srgbClr val="000000"/>
                          </a:solidFill>
                          <a:latin typeface="Calibri" pitchFamily="34" charset="0"/>
                          <a:ea typeface="Calibri" pitchFamily="34" charset="-122"/>
                          <a:cs typeface="Calibri" pitchFamily="34" charset="-120"/>
                        </a:rPr>
                        <a:t>0.037</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Cohort artifact — not causal (rate inverts with age)</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LDL</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950" dirty="0">
                          <a:solidFill>
                            <a:srgbClr val="000000"/>
                          </a:solidFill>
                          <a:latin typeface="Calibri" pitchFamily="34" charset="0"/>
                          <a:ea typeface="Calibri" pitchFamily="34" charset="-122"/>
                          <a:cs typeface="Calibri" pitchFamily="34" charset="-120"/>
                        </a:rPr>
                        <a:t>0.033</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Lipid dysregulation; complements triglyceride</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ALT</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950" dirty="0">
                          <a:solidFill>
                            <a:srgbClr val="000000"/>
                          </a:solidFill>
                          <a:latin typeface="Calibri" pitchFamily="34" charset="0"/>
                          <a:ea typeface="Calibri" pitchFamily="34" charset="-122"/>
                          <a:cs typeface="Calibri" pitchFamily="34" charset="-120"/>
                        </a:rPr>
                        <a:t>0.026</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Hepatotoxic stress; synergistic with alcohol</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7"/>
                  </a:ext>
                </a:extLst>
              </a:tr>
              <a:tr h="45720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HDL</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950" dirty="0">
                          <a:solidFill>
                            <a:srgbClr val="DC2626"/>
                          </a:solidFill>
                          <a:latin typeface="Calibri" pitchFamily="34" charset="0"/>
                          <a:ea typeface="Calibri" pitchFamily="34" charset="-122"/>
                          <a:cs typeface="Calibri" pitchFamily="34" charset="-120"/>
                        </a:rPr>
                        <a:t>0.012</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Inverse: smoking suppresses HDL synthesis</a:t>
                      </a:r>
                      <a:endParaRPr lang="en-US" sz="95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06 · Deployment Readiness: Calibration &amp; Threshold Analysis</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sp>
        <p:nvSpPr>
          <p:cNvPr id="5" name="Text 3"/>
          <p:cNvSpPr/>
          <p:nvPr/>
        </p:nvSpPr>
        <p:spPr>
          <a:xfrm>
            <a:off x="274320" y="676656"/>
            <a:ext cx="4114800" cy="292608"/>
          </a:xfrm>
          <a:prstGeom prst="rect">
            <a:avLst/>
          </a:prstGeom>
          <a:noFill/>
          <a:ln/>
        </p:spPr>
        <p:txBody>
          <a:bodyPr wrap="square"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Calibration Curve</a:t>
            </a:r>
            <a:endParaRPr lang="en-US" sz="1400" dirty="0"/>
          </a:p>
        </p:txBody>
      </p:sp>
      <p:graphicFrame>
        <p:nvGraphicFramePr>
          <p:cNvPr id="6" name="Chart 0"/>
          <p:cNvGraphicFramePr/>
          <p:nvPr/>
        </p:nvGraphicFramePr>
        <p:xfrm>
          <a:off x="274320" y="987552"/>
          <a:ext cx="411480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4709160" y="676656"/>
            <a:ext cx="4114800" cy="292608"/>
          </a:xfrm>
          <a:prstGeom prst="rect">
            <a:avLst/>
          </a:prstGeom>
          <a:noFill/>
          <a:ln/>
        </p:spPr>
        <p:txBody>
          <a:bodyPr wrap="square" rtlCol="0" anchor="ctr"/>
          <a:lstStyle/>
          <a:p>
            <a:pPr marL="0" indent="0">
              <a:buNone/>
            </a:pPr>
            <a:r>
              <a:rPr lang="en-US" sz="1400" b="1" dirty="0">
                <a:solidFill>
                  <a:srgbClr val="13294B"/>
                </a:solidFill>
                <a:latin typeface="Calibri" pitchFamily="34" charset="0"/>
                <a:ea typeface="Calibri" pitchFamily="34" charset="-122"/>
                <a:cs typeface="Calibri" pitchFamily="34" charset="-120"/>
              </a:rPr>
              <a:t>Precision / Recall vs. Threshold</a:t>
            </a:r>
            <a:endParaRPr lang="en-US" sz="1400" dirty="0"/>
          </a:p>
        </p:txBody>
      </p:sp>
      <p:graphicFrame>
        <p:nvGraphicFramePr>
          <p:cNvPr id="9" name="Chart 1"/>
          <p:cNvGraphicFramePr/>
          <p:nvPr/>
        </p:nvGraphicFramePr>
        <p:xfrm>
          <a:off x="4709160" y="987552"/>
          <a:ext cx="4114800" cy="260604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89172196"/>
              </p:ext>
            </p:extLst>
          </p:nvPr>
        </p:nvGraphicFramePr>
        <p:xfrm>
          <a:off x="274320" y="3849847"/>
          <a:ext cx="8631936" cy="975360"/>
        </p:xfrm>
        <a:graphic>
          <a:graphicData uri="http://schemas.openxmlformats.org/drawingml/2006/table">
            <a:tbl>
              <a:tblPr/>
              <a:tblGrid>
                <a:gridCol w="14630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4608576">
                  <a:extLst>
                    <a:ext uri="{9D8B030D-6E8A-4147-A177-3AD203B41FA5}">
                      <a16:colId xmlns:a16="http://schemas.microsoft.com/office/drawing/2014/main" val="20003"/>
                    </a:ext>
                  </a:extLst>
                </a:gridCol>
              </a:tblGrid>
              <a:tr h="219456">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Threshold</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Precision</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Use Case</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219456">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0.35</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lgn="ctr">
                        <a:buNone/>
                      </a:pPr>
                      <a:r>
                        <a:rPr lang="en-US" sz="1000" dirty="0">
                          <a:solidFill>
                            <a:srgbClr val="FFFFFF"/>
                          </a:solidFill>
                          <a:latin typeface="Calibri" pitchFamily="34" charset="0"/>
                          <a:ea typeface="Calibri" pitchFamily="34" charset="-122"/>
                          <a:cs typeface="Calibri" pitchFamily="34" charset="-120"/>
                        </a:rPr>
                        <a:t>&gt;0.62</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&gt;0.85</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tc>
                  <a:txBody>
                    <a:bodyPr/>
                    <a:lstStyle/>
                    <a:p>
                      <a:pPr marL="0" indent="0" algn="ctr">
                        <a:buNone/>
                      </a:pPr>
                      <a:r>
                        <a:rPr lang="en-US" sz="1000" dirty="0">
                          <a:solidFill>
                            <a:srgbClr val="FFFFFF"/>
                          </a:solidFill>
                          <a:latin typeface="Calibri" pitchFamily="34" charset="0"/>
                          <a:ea typeface="Calibri" pitchFamily="34" charset="-122"/>
                          <a:cs typeface="Calibri" pitchFamily="34" charset="-120"/>
                        </a:rPr>
                        <a:t>Population screening ✓</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solidFill>
                      <a:srgbClr val="4B9CD3"/>
                    </a:solidFill>
                  </a:tcPr>
                </a:tc>
                <a:extLst>
                  <a:ext uri="{0D108BD9-81ED-4DB2-BD59-A6C34878D82A}">
                    <a16:rowId xmlns:a16="http://schemas.microsoft.com/office/drawing/2014/main" val="10001"/>
                  </a:ext>
                </a:extLst>
              </a:tr>
              <a:tr h="219456">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0.50 (default)</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000" dirty="0">
                          <a:solidFill>
                            <a:srgbClr val="000000"/>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000" dirty="0">
                          <a:solidFill>
                            <a:srgbClr val="000000"/>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Balanced precision / recall</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000" dirty="0">
                          <a:solidFill>
                            <a:srgbClr val="000000"/>
                          </a:solidFill>
                          <a:latin typeface="Calibri" pitchFamily="34" charset="0"/>
                          <a:ea typeface="Calibri" pitchFamily="34" charset="-122"/>
                          <a:cs typeface="Calibri" pitchFamily="34" charset="-120"/>
                        </a:rPr>
                        <a:t>~0.80</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lgn="ctr">
                        <a:buNone/>
                      </a:pPr>
                      <a:r>
                        <a:rPr lang="en-US" sz="1000" dirty="0">
                          <a:solidFill>
                            <a:srgbClr val="000000"/>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tc>
                  <a:txBody>
                    <a:bodyPr/>
                    <a:lstStyle/>
                    <a:p>
                      <a:pPr marL="0" indent="0">
                        <a:buNone/>
                      </a:pPr>
                      <a:r>
                        <a:rPr lang="en-US" sz="1000" dirty="0">
                          <a:solidFill>
                            <a:srgbClr val="000000"/>
                          </a:solidFill>
                          <a:latin typeface="Calibri" pitchFamily="34" charset="0"/>
                          <a:ea typeface="Calibri" pitchFamily="34" charset="-122"/>
                          <a:cs typeface="Calibri" pitchFamily="34" charset="-120"/>
                        </a:rPr>
                        <a:t>High specificity, lower sensitivity</a:t>
                      </a:r>
                      <a:endParaRPr lang="en-US" sz="1000" dirty="0">
                        <a:latin typeface="Calibri" charset="0"/>
                        <a:ea typeface="Calibri" charset="0"/>
                        <a:cs typeface="Calibri" charset="0"/>
                      </a:endParaRPr>
                    </a:p>
                  </a:txBody>
                  <a:tcPr>
                    <a:lnL w="12700" cap="flat" cmpd="sng" algn="ctr">
                      <a:solidFill>
                        <a:srgbClr val="E8ECF0"/>
                      </a:solidFill>
                      <a:prstDash val="solid"/>
                      <a:round/>
                      <a:headEnd type="none" w="med" len="med"/>
                      <a:tailEnd type="none" w="med" len="med"/>
                    </a:lnL>
                    <a:lnR w="12700" cap="flat" cmpd="sng" algn="ctr">
                      <a:solidFill>
                        <a:srgbClr val="E8ECF0"/>
                      </a:solidFill>
                      <a:prstDash val="solid"/>
                      <a:round/>
                      <a:headEnd type="none" w="med" len="med"/>
                      <a:tailEnd type="none" w="med" len="med"/>
                    </a:lnR>
                    <a:lnT w="12700" cap="flat" cmpd="sng" algn="ctr">
                      <a:solidFill>
                        <a:srgbClr val="E8ECF0"/>
                      </a:solidFill>
                      <a:prstDash val="solid"/>
                      <a:round/>
                      <a:headEnd type="none" w="med" len="med"/>
                      <a:tailEnd type="none" w="med" len="med"/>
                    </a:lnT>
                    <a:lnB w="12700" cap="flat" cmpd="sng" algn="ctr">
                      <a:solidFill>
                        <a:srgbClr val="E8EC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06 · Limitations: Six Key Constraints on the Model</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sp>
        <p:nvSpPr>
          <p:cNvPr id="5" name="Shape 3"/>
          <p:cNvSpPr/>
          <p:nvPr/>
        </p:nvSpPr>
        <p:spPr>
          <a:xfrm>
            <a:off x="256032" y="713232"/>
            <a:ext cx="2743200" cy="2084832"/>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6" name="Shape 4"/>
          <p:cNvSpPr/>
          <p:nvPr/>
        </p:nvSpPr>
        <p:spPr>
          <a:xfrm>
            <a:off x="256032" y="713232"/>
            <a:ext cx="2743200" cy="384048"/>
          </a:xfrm>
          <a:prstGeom prst="rect">
            <a:avLst/>
          </a:prstGeom>
          <a:solidFill>
            <a:srgbClr val="13294B"/>
          </a:solidFill>
          <a:ln w="12700">
            <a:solidFill>
              <a:srgbClr val="13294B"/>
            </a:solidFill>
            <a:prstDash val="solid"/>
          </a:ln>
        </p:spPr>
        <p:txBody>
          <a:bodyPr/>
          <a:lstStyle/>
          <a:p>
            <a:endParaRPr lang="en-US"/>
          </a:p>
        </p:txBody>
      </p:sp>
      <p:sp>
        <p:nvSpPr>
          <p:cNvPr id="7" name="Text 5"/>
          <p:cNvSpPr/>
          <p:nvPr/>
        </p:nvSpPr>
        <p:spPr>
          <a:xfrm>
            <a:off x="347472" y="713232"/>
            <a:ext cx="2651760" cy="38404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Synthetic Data</a:t>
            </a:r>
            <a:endParaRPr lang="en-US" sz="1200" dirty="0"/>
          </a:p>
        </p:txBody>
      </p:sp>
      <p:sp>
        <p:nvSpPr>
          <p:cNvPr id="8" name="Text 6"/>
          <p:cNvSpPr/>
          <p:nvPr/>
        </p:nvSpPr>
        <p:spPr>
          <a:xfrm>
            <a:off x="347472" y="1170432"/>
            <a:ext cx="2606040" cy="1536192"/>
          </a:xfrm>
          <a:prstGeom prst="rect">
            <a:avLst/>
          </a:prstGeom>
          <a:noFill/>
          <a:ln/>
        </p:spPr>
        <p:txBody>
          <a:bodyPr wrap="square" rtlCol="0" anchor="ctr"/>
          <a:lstStyle/>
          <a:p>
            <a:pPr marL="0" indent="0">
              <a:buNone/>
            </a:pPr>
            <a:r>
              <a:rPr lang="en-US" sz="1050" dirty="0">
                <a:solidFill>
                  <a:srgbClr val="1A1A1A"/>
                </a:solidFill>
                <a:latin typeface="Calibri" pitchFamily="34" charset="0"/>
                <a:ea typeface="Calibri" pitchFamily="34" charset="-122"/>
                <a:cs typeface="Calibri" pitchFamily="34" charset="-120"/>
              </a:rPr>
              <a:t>Generated by deep-learning model — tail compression in Gtp, ALT, triglycerides. May be overconfident on extreme real-world values not well-represented in training.</a:t>
            </a:r>
            <a:endParaRPr lang="en-US" sz="1050" dirty="0"/>
          </a:p>
        </p:txBody>
      </p:sp>
      <p:sp>
        <p:nvSpPr>
          <p:cNvPr id="9" name="Shape 7"/>
          <p:cNvSpPr/>
          <p:nvPr/>
        </p:nvSpPr>
        <p:spPr>
          <a:xfrm>
            <a:off x="3200400" y="713232"/>
            <a:ext cx="2743200" cy="2084832"/>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0" name="Shape 8"/>
          <p:cNvSpPr/>
          <p:nvPr/>
        </p:nvSpPr>
        <p:spPr>
          <a:xfrm>
            <a:off x="3200400" y="713232"/>
            <a:ext cx="2743200" cy="384048"/>
          </a:xfrm>
          <a:prstGeom prst="rect">
            <a:avLst/>
          </a:prstGeom>
          <a:solidFill>
            <a:srgbClr val="4B9CD3"/>
          </a:solidFill>
          <a:ln w="12700">
            <a:solidFill>
              <a:srgbClr val="4B9CD3"/>
            </a:solidFill>
            <a:prstDash val="solid"/>
          </a:ln>
        </p:spPr>
        <p:txBody>
          <a:bodyPr/>
          <a:lstStyle/>
          <a:p>
            <a:endParaRPr lang="en-US"/>
          </a:p>
        </p:txBody>
      </p:sp>
      <p:sp>
        <p:nvSpPr>
          <p:cNvPr id="11" name="Text 9"/>
          <p:cNvSpPr/>
          <p:nvPr/>
        </p:nvSpPr>
        <p:spPr>
          <a:xfrm>
            <a:off x="3291840" y="713232"/>
            <a:ext cx="2651760" cy="38404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Korean Population Only</a:t>
            </a:r>
            <a:endParaRPr lang="en-US" sz="1200" dirty="0"/>
          </a:p>
        </p:txBody>
      </p:sp>
      <p:sp>
        <p:nvSpPr>
          <p:cNvPr id="12" name="Text 10"/>
          <p:cNvSpPr/>
          <p:nvPr/>
        </p:nvSpPr>
        <p:spPr>
          <a:xfrm>
            <a:off x="3291840" y="1170432"/>
            <a:ext cx="2606040" cy="1536192"/>
          </a:xfrm>
          <a:prstGeom prst="rect">
            <a:avLst/>
          </a:prstGeom>
          <a:noFill/>
          <a:ln/>
        </p:spPr>
        <p:txBody>
          <a:bodyPr wrap="square" rtlCol="0" anchor="ctr"/>
          <a:lstStyle/>
          <a:p>
            <a:pPr marL="0" indent="0">
              <a:buNone/>
            </a:pPr>
            <a:r>
              <a:rPr lang="en-US" sz="1050" dirty="0">
                <a:solidFill>
                  <a:srgbClr val="1A1A1A"/>
                </a:solidFill>
                <a:latin typeface="Calibri" pitchFamily="34" charset="0"/>
                <a:ea typeface="Calibri" pitchFamily="34" charset="-122"/>
                <a:cs typeface="Calibri" pitchFamily="34" charset="-120"/>
              </a:rPr>
              <a:t>Smoking prevalence, body composition norms, and male-to-female smoking ratio differ substantially from Western populations. Retraining on local data is required.</a:t>
            </a:r>
            <a:endParaRPr lang="en-US" sz="1050" dirty="0"/>
          </a:p>
        </p:txBody>
      </p:sp>
      <p:sp>
        <p:nvSpPr>
          <p:cNvPr id="13" name="Shape 11"/>
          <p:cNvSpPr/>
          <p:nvPr/>
        </p:nvSpPr>
        <p:spPr>
          <a:xfrm>
            <a:off x="6144768" y="713232"/>
            <a:ext cx="2743200" cy="2084832"/>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4" name="Shape 12"/>
          <p:cNvSpPr/>
          <p:nvPr/>
        </p:nvSpPr>
        <p:spPr>
          <a:xfrm>
            <a:off x="6144768" y="713232"/>
            <a:ext cx="2743200" cy="384048"/>
          </a:xfrm>
          <a:prstGeom prst="rect">
            <a:avLst/>
          </a:prstGeom>
          <a:solidFill>
            <a:srgbClr val="13294B"/>
          </a:solidFill>
          <a:ln w="12700">
            <a:solidFill>
              <a:srgbClr val="13294B"/>
            </a:solidFill>
            <a:prstDash val="solid"/>
          </a:ln>
        </p:spPr>
        <p:txBody>
          <a:bodyPr/>
          <a:lstStyle/>
          <a:p>
            <a:endParaRPr lang="en-US"/>
          </a:p>
        </p:txBody>
      </p:sp>
      <p:sp>
        <p:nvSpPr>
          <p:cNvPr id="15" name="Text 13"/>
          <p:cNvSpPr/>
          <p:nvPr/>
        </p:nvSpPr>
        <p:spPr>
          <a:xfrm>
            <a:off x="6236208" y="713232"/>
            <a:ext cx="2651760" cy="38404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No Sex Field</a:t>
            </a:r>
            <a:endParaRPr lang="en-US" sz="1200" dirty="0"/>
          </a:p>
        </p:txBody>
      </p:sp>
      <p:sp>
        <p:nvSpPr>
          <p:cNvPr id="16" name="Text 14"/>
          <p:cNvSpPr/>
          <p:nvPr/>
        </p:nvSpPr>
        <p:spPr>
          <a:xfrm>
            <a:off x="6236208" y="1170432"/>
            <a:ext cx="2606040" cy="1536192"/>
          </a:xfrm>
          <a:prstGeom prst="rect">
            <a:avLst/>
          </a:prstGeom>
          <a:noFill/>
          <a:ln/>
        </p:spPr>
        <p:txBody>
          <a:bodyPr wrap="square" rtlCol="0" anchor="ctr"/>
          <a:lstStyle/>
          <a:p>
            <a:pPr marL="0" indent="0">
              <a:buNone/>
            </a:pPr>
            <a:r>
              <a:rPr lang="en-US" sz="1050" dirty="0">
                <a:solidFill>
                  <a:srgbClr val="1A1A1A"/>
                </a:solidFill>
                <a:latin typeface="Calibri" pitchFamily="34" charset="0"/>
                <a:ea typeface="Calibri" pitchFamily="34" charset="-122"/>
                <a:cs typeface="Calibri" pitchFamily="34" charset="-120"/>
              </a:rPr>
              <a:t>Height absorbs a 41pp sex-by-smoking confound throughout. Importances for height, waist, and creatinine are all inflated. Adding sex would clarify genuine biomarker signals.</a:t>
            </a:r>
            <a:endParaRPr lang="en-US" sz="1050" dirty="0"/>
          </a:p>
        </p:txBody>
      </p:sp>
      <p:sp>
        <p:nvSpPr>
          <p:cNvPr id="17" name="Shape 15"/>
          <p:cNvSpPr/>
          <p:nvPr/>
        </p:nvSpPr>
        <p:spPr>
          <a:xfrm>
            <a:off x="256032" y="2926080"/>
            <a:ext cx="2743200" cy="2084832"/>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8" name="Shape 16"/>
          <p:cNvSpPr/>
          <p:nvPr/>
        </p:nvSpPr>
        <p:spPr>
          <a:xfrm>
            <a:off x="256032" y="2926080"/>
            <a:ext cx="2743200" cy="384048"/>
          </a:xfrm>
          <a:prstGeom prst="rect">
            <a:avLst/>
          </a:prstGeom>
          <a:solidFill>
            <a:srgbClr val="4B9CD3"/>
          </a:solidFill>
          <a:ln w="12700">
            <a:solidFill>
              <a:srgbClr val="4B9CD3"/>
            </a:solidFill>
            <a:prstDash val="solid"/>
          </a:ln>
        </p:spPr>
        <p:txBody>
          <a:bodyPr/>
          <a:lstStyle/>
          <a:p>
            <a:endParaRPr lang="en-US"/>
          </a:p>
        </p:txBody>
      </p:sp>
      <p:sp>
        <p:nvSpPr>
          <p:cNvPr id="19" name="Text 17"/>
          <p:cNvSpPr/>
          <p:nvPr/>
        </p:nvSpPr>
        <p:spPr>
          <a:xfrm>
            <a:off x="347472" y="2926080"/>
            <a:ext cx="2651760" cy="38404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Alcohol Confound</a:t>
            </a:r>
            <a:endParaRPr lang="en-US" sz="1200" dirty="0"/>
          </a:p>
        </p:txBody>
      </p:sp>
      <p:sp>
        <p:nvSpPr>
          <p:cNvPr id="20" name="Text 18"/>
          <p:cNvSpPr/>
          <p:nvPr/>
        </p:nvSpPr>
        <p:spPr>
          <a:xfrm>
            <a:off x="347472" y="3383280"/>
            <a:ext cx="2606040" cy="1536192"/>
          </a:xfrm>
          <a:prstGeom prst="rect">
            <a:avLst/>
          </a:prstGeom>
          <a:noFill/>
          <a:ln/>
        </p:spPr>
        <p:txBody>
          <a:bodyPr wrap="square" rtlCol="0" anchor="ctr"/>
          <a:lstStyle/>
          <a:p>
            <a:pPr marL="0" indent="0">
              <a:buNone/>
            </a:pPr>
            <a:r>
              <a:rPr lang="en-US" sz="1050" dirty="0">
                <a:solidFill>
                  <a:srgbClr val="1A1A1A"/>
                </a:solidFill>
                <a:latin typeface="Calibri" pitchFamily="34" charset="0"/>
                <a:ea typeface="Calibri" pitchFamily="34" charset="-122"/>
                <a:cs typeface="Calibri" pitchFamily="34" charset="-120"/>
              </a:rPr>
              <a:t>Gtp, ALT, AST all respond to both tobacco and alcohol. No alcohol variable in dataset. Heavy drinkers receive elevated smoking probability regardless of actual smoking status.</a:t>
            </a:r>
            <a:endParaRPr lang="en-US" sz="1050" dirty="0"/>
          </a:p>
        </p:txBody>
      </p:sp>
      <p:sp>
        <p:nvSpPr>
          <p:cNvPr id="21" name="Shape 19"/>
          <p:cNvSpPr/>
          <p:nvPr/>
        </p:nvSpPr>
        <p:spPr>
          <a:xfrm>
            <a:off x="3200400" y="2926080"/>
            <a:ext cx="2743200" cy="2084832"/>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22" name="Shape 20"/>
          <p:cNvSpPr/>
          <p:nvPr/>
        </p:nvSpPr>
        <p:spPr>
          <a:xfrm>
            <a:off x="3200400" y="2926080"/>
            <a:ext cx="2743200" cy="384048"/>
          </a:xfrm>
          <a:prstGeom prst="rect">
            <a:avLst/>
          </a:prstGeom>
          <a:solidFill>
            <a:srgbClr val="13294B"/>
          </a:solidFill>
          <a:ln w="12700">
            <a:solidFill>
              <a:srgbClr val="13294B"/>
            </a:solidFill>
            <a:prstDash val="solid"/>
          </a:ln>
        </p:spPr>
        <p:txBody>
          <a:bodyPr/>
          <a:lstStyle/>
          <a:p>
            <a:endParaRPr lang="en-US"/>
          </a:p>
        </p:txBody>
      </p:sp>
      <p:sp>
        <p:nvSpPr>
          <p:cNvPr id="23" name="Text 21"/>
          <p:cNvSpPr/>
          <p:nvPr/>
        </p:nvSpPr>
        <p:spPr>
          <a:xfrm>
            <a:off x="3291840" y="2926080"/>
            <a:ext cx="2651760" cy="38404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Ex-Smoker Misclassification</a:t>
            </a:r>
            <a:endParaRPr lang="en-US" sz="1200" dirty="0"/>
          </a:p>
        </p:txBody>
      </p:sp>
      <p:sp>
        <p:nvSpPr>
          <p:cNvPr id="24" name="Text 22"/>
          <p:cNvSpPr/>
          <p:nvPr/>
        </p:nvSpPr>
        <p:spPr>
          <a:xfrm>
            <a:off x="3291840" y="3383280"/>
            <a:ext cx="2606040" cy="1536192"/>
          </a:xfrm>
          <a:prstGeom prst="rect">
            <a:avLst/>
          </a:prstGeom>
          <a:noFill/>
          <a:ln/>
        </p:spPr>
        <p:txBody>
          <a:bodyPr wrap="square" rtlCol="0" anchor="ctr"/>
          <a:lstStyle/>
          <a:p>
            <a:pPr marL="0" indent="0">
              <a:buNone/>
            </a:pPr>
            <a:r>
              <a:rPr lang="en-US" sz="1050" dirty="0">
                <a:solidFill>
                  <a:srgbClr val="1A1A1A"/>
                </a:solidFill>
                <a:latin typeface="Calibri" pitchFamily="34" charset="0"/>
                <a:ea typeface="Calibri" pitchFamily="34" charset="-122"/>
                <a:cs typeface="Calibri" pitchFamily="34" charset="-120"/>
              </a:rPr>
              <a:t>Hemoglobin normalizes slowly post-cessation; triglyceride effects persist years. A recent quitter gets falsely classified as a current smoker with elevated confidence.</a:t>
            </a:r>
            <a:endParaRPr lang="en-US" sz="1050" dirty="0"/>
          </a:p>
        </p:txBody>
      </p:sp>
      <p:sp>
        <p:nvSpPr>
          <p:cNvPr id="25" name="Shape 23"/>
          <p:cNvSpPr/>
          <p:nvPr/>
        </p:nvSpPr>
        <p:spPr>
          <a:xfrm>
            <a:off x="6144768" y="2926080"/>
            <a:ext cx="2743200" cy="2084832"/>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26" name="Shape 24"/>
          <p:cNvSpPr/>
          <p:nvPr/>
        </p:nvSpPr>
        <p:spPr>
          <a:xfrm>
            <a:off x="6144768" y="2926080"/>
            <a:ext cx="2743200" cy="384048"/>
          </a:xfrm>
          <a:prstGeom prst="rect">
            <a:avLst/>
          </a:prstGeom>
          <a:solidFill>
            <a:srgbClr val="4B9CD3"/>
          </a:solidFill>
          <a:ln w="12700">
            <a:solidFill>
              <a:srgbClr val="4B9CD3"/>
            </a:solidFill>
            <a:prstDash val="solid"/>
          </a:ln>
        </p:spPr>
        <p:txBody>
          <a:bodyPr/>
          <a:lstStyle/>
          <a:p>
            <a:endParaRPr lang="en-US"/>
          </a:p>
        </p:txBody>
      </p:sp>
      <p:sp>
        <p:nvSpPr>
          <p:cNvPr id="27" name="Text 25"/>
          <p:cNvSpPr/>
          <p:nvPr/>
        </p:nvSpPr>
        <p:spPr>
          <a:xfrm>
            <a:off x="6236208" y="2926080"/>
            <a:ext cx="2651760" cy="38404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Age &amp; LassoCV Artifacts</a:t>
            </a:r>
            <a:endParaRPr lang="en-US" sz="1200" dirty="0"/>
          </a:p>
        </p:txBody>
      </p:sp>
      <p:sp>
        <p:nvSpPr>
          <p:cNvPr id="28" name="Text 26"/>
          <p:cNvSpPr/>
          <p:nvPr/>
        </p:nvSpPr>
        <p:spPr>
          <a:xfrm>
            <a:off x="6236208" y="3383280"/>
            <a:ext cx="2606040" cy="1536192"/>
          </a:xfrm>
          <a:prstGeom prst="rect">
            <a:avLst/>
          </a:prstGeom>
          <a:noFill/>
          <a:ln/>
        </p:spPr>
        <p:txBody>
          <a:bodyPr wrap="square" rtlCol="0" anchor="ctr"/>
          <a:lstStyle/>
          <a:p>
            <a:pPr marL="0" indent="0">
              <a:buNone/>
            </a:pPr>
            <a:r>
              <a:rPr lang="en-US" sz="1050" dirty="0">
                <a:solidFill>
                  <a:srgbClr val="1A1A1A"/>
                </a:solidFill>
                <a:latin typeface="Calibri" pitchFamily="34" charset="0"/>
                <a:ea typeface="Calibri" pitchFamily="34" charset="-122"/>
                <a:cs typeface="Calibri" pitchFamily="34" charset="-120"/>
              </a:rPr>
              <a:t>Age 40 = 35.9% of data — predictions at &lt;30 or &gt;60 are undertrained. LassoCV feature selection is sklearn-version sensitive — pinning the version in requirements.txt is needed.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3294B"/>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4B9CD3"/>
          </a:solidFill>
          <a:ln w="12700">
            <a:solidFill>
              <a:srgbClr val="4B9CD3"/>
            </a:solidFill>
            <a:prstDash val="solid"/>
          </a:ln>
        </p:spPr>
        <p:txBody>
          <a:bodyPr/>
          <a:lstStyle/>
          <a:p>
            <a:endParaRPr lang="en-US"/>
          </a:p>
        </p:txBody>
      </p:sp>
      <p:sp>
        <p:nvSpPr>
          <p:cNvPr id="3" name="Shape 1"/>
          <p:cNvSpPr/>
          <p:nvPr/>
        </p:nvSpPr>
        <p:spPr>
          <a:xfrm>
            <a:off x="7406640" y="201168"/>
            <a:ext cx="1508760" cy="475488"/>
          </a:xfrm>
          <a:prstGeom prst="rect">
            <a:avLst/>
          </a:prstGeom>
          <a:solidFill>
            <a:srgbClr val="4B9CD3"/>
          </a:solidFill>
          <a:ln w="12700">
            <a:solidFill>
              <a:srgbClr val="4B9CD3"/>
            </a:solidFill>
            <a:prstDash val="solid"/>
          </a:ln>
        </p:spPr>
        <p:txBody>
          <a:bodyPr/>
          <a:lstStyle/>
          <a:p>
            <a:endParaRPr lang="en-US"/>
          </a:p>
        </p:txBody>
      </p:sp>
      <p:sp>
        <p:nvSpPr>
          <p:cNvPr id="4" name="Text 2"/>
          <p:cNvSpPr/>
          <p:nvPr/>
        </p:nvSpPr>
        <p:spPr>
          <a:xfrm>
            <a:off x="7406640" y="201168"/>
            <a:ext cx="1508760" cy="47548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UNC Chapel Hill</a:t>
            </a:r>
            <a:endParaRPr lang="en-US" sz="1100" dirty="0"/>
          </a:p>
        </p:txBody>
      </p:sp>
      <p:sp>
        <p:nvSpPr>
          <p:cNvPr id="5" name="Text 3"/>
          <p:cNvSpPr/>
          <p:nvPr/>
        </p:nvSpPr>
        <p:spPr>
          <a:xfrm>
            <a:off x="411480" y="228600"/>
            <a:ext cx="6858000" cy="594360"/>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Conclusions &amp; Next Steps</a:t>
            </a:r>
            <a:endParaRPr lang="en-US" sz="2600" dirty="0"/>
          </a:p>
        </p:txBody>
      </p:sp>
      <p:sp>
        <p:nvSpPr>
          <p:cNvPr id="6" name="Text 4"/>
          <p:cNvSpPr/>
          <p:nvPr/>
        </p:nvSpPr>
        <p:spPr>
          <a:xfrm>
            <a:off x="411480" y="914400"/>
            <a:ext cx="4206240" cy="292608"/>
          </a:xfrm>
          <a:prstGeom prst="rect">
            <a:avLst/>
          </a:prstGeom>
          <a:noFill/>
          <a:ln/>
        </p:spPr>
        <p:txBody>
          <a:bodyPr wrap="square" rtlCol="0" anchor="ctr"/>
          <a:lstStyle/>
          <a:p>
            <a:pPr marL="0" indent="0">
              <a:buNone/>
            </a:pPr>
            <a:r>
              <a:rPr lang="en-US" sz="1300" b="1" dirty="0">
                <a:solidFill>
                  <a:srgbClr val="9BC4E2"/>
                </a:solidFill>
                <a:latin typeface="Calibri" pitchFamily="34" charset="0"/>
                <a:ea typeface="Calibri" pitchFamily="34" charset="-122"/>
                <a:cs typeface="Calibri" pitchFamily="34" charset="-120"/>
              </a:rPr>
              <a:t>Key Findings</a:t>
            </a:r>
            <a:endParaRPr lang="en-US" sz="1300" dirty="0"/>
          </a:p>
        </p:txBody>
      </p:sp>
      <p:sp>
        <p:nvSpPr>
          <p:cNvPr id="7" name="Shape 5"/>
          <p:cNvSpPr/>
          <p:nvPr/>
        </p:nvSpPr>
        <p:spPr>
          <a:xfrm>
            <a:off x="411480" y="1353312"/>
            <a:ext cx="347472" cy="347472"/>
          </a:xfrm>
          <a:prstGeom prst="rect">
            <a:avLst/>
          </a:prstGeom>
          <a:solidFill>
            <a:srgbClr val="4B9CD3"/>
          </a:solidFill>
          <a:ln w="12700">
            <a:solidFill>
              <a:srgbClr val="4B9CD3"/>
            </a:solidFill>
            <a:prstDash val="solid"/>
          </a:ln>
        </p:spPr>
        <p:txBody>
          <a:bodyPr/>
          <a:lstStyle/>
          <a:p>
            <a:endParaRPr lang="en-US"/>
          </a:p>
        </p:txBody>
      </p:sp>
      <p:sp>
        <p:nvSpPr>
          <p:cNvPr id="8" name="Text 6"/>
          <p:cNvSpPr/>
          <p:nvPr/>
        </p:nvSpPr>
        <p:spPr>
          <a:xfrm>
            <a:off x="411480" y="1353312"/>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896112" y="1261872"/>
            <a:ext cx="3749040" cy="777240"/>
          </a:xfrm>
          <a:prstGeom prst="rect">
            <a:avLst/>
          </a:prstGeom>
          <a:noFill/>
          <a:ln/>
        </p:spPr>
        <p:txBody>
          <a:bodyPr wrap="square" rtlCol="0" anchor="ctr"/>
          <a:lstStyle/>
          <a:p>
            <a:pPr marL="0" indent="0">
              <a:buNone/>
            </a:pPr>
            <a:r>
              <a:rPr lang="en-US" sz="1200" dirty="0">
                <a:solidFill>
                  <a:srgbClr val="D6EAF8"/>
                </a:solidFill>
                <a:latin typeface="Calibri" pitchFamily="34" charset="0"/>
                <a:ea typeface="Calibri" pitchFamily="34" charset="-122"/>
                <a:cs typeface="Calibri" pitchFamily="34" charset="-120"/>
              </a:rPr>
              <a:t>Routine lab work alone achieves AUC 0.8887 — no self-report required.</a:t>
            </a:r>
            <a:endParaRPr lang="en-US" sz="1200" dirty="0"/>
          </a:p>
        </p:txBody>
      </p:sp>
      <p:sp>
        <p:nvSpPr>
          <p:cNvPr id="10" name="Shape 8"/>
          <p:cNvSpPr/>
          <p:nvPr/>
        </p:nvSpPr>
        <p:spPr>
          <a:xfrm>
            <a:off x="411480" y="2240280"/>
            <a:ext cx="347472" cy="347472"/>
          </a:xfrm>
          <a:prstGeom prst="rect">
            <a:avLst/>
          </a:prstGeom>
          <a:solidFill>
            <a:srgbClr val="4B9CD3"/>
          </a:solidFill>
          <a:ln w="12700">
            <a:solidFill>
              <a:srgbClr val="4B9CD3"/>
            </a:solidFill>
            <a:prstDash val="solid"/>
          </a:ln>
        </p:spPr>
        <p:txBody>
          <a:bodyPr/>
          <a:lstStyle/>
          <a:p>
            <a:endParaRPr lang="en-US"/>
          </a:p>
        </p:txBody>
      </p:sp>
      <p:sp>
        <p:nvSpPr>
          <p:cNvPr id="11" name="Text 9"/>
          <p:cNvSpPr/>
          <p:nvPr/>
        </p:nvSpPr>
        <p:spPr>
          <a:xfrm>
            <a:off x="411480" y="224028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896112" y="2148840"/>
            <a:ext cx="3749040" cy="777240"/>
          </a:xfrm>
          <a:prstGeom prst="rect">
            <a:avLst/>
          </a:prstGeom>
          <a:noFill/>
          <a:ln/>
        </p:spPr>
        <p:txBody>
          <a:bodyPr wrap="square" rtlCol="0" anchor="ctr"/>
          <a:lstStyle/>
          <a:p>
            <a:pPr marL="0" indent="0">
              <a:buNone/>
            </a:pPr>
            <a:r>
              <a:rPr lang="en-US" sz="1200" dirty="0">
                <a:solidFill>
                  <a:srgbClr val="D6EAF8"/>
                </a:solidFill>
                <a:latin typeface="Calibri" pitchFamily="34" charset="0"/>
                <a:ea typeface="Calibri" pitchFamily="34" charset="-122"/>
                <a:cs typeface="Calibri" pitchFamily="34" charset="-120"/>
              </a:rPr>
              <a:t>Hemoglobin dominates (Gini 0.41): smoking → carboxyhgb → erythropoietin → polycythemia. Confirmed across three NEJM-level studies.</a:t>
            </a:r>
            <a:endParaRPr lang="en-US" sz="1200" dirty="0"/>
          </a:p>
        </p:txBody>
      </p:sp>
      <p:sp>
        <p:nvSpPr>
          <p:cNvPr id="13" name="Shape 11"/>
          <p:cNvSpPr/>
          <p:nvPr/>
        </p:nvSpPr>
        <p:spPr>
          <a:xfrm>
            <a:off x="411480" y="3127248"/>
            <a:ext cx="347472" cy="347472"/>
          </a:xfrm>
          <a:prstGeom prst="rect">
            <a:avLst/>
          </a:prstGeom>
          <a:solidFill>
            <a:srgbClr val="4B9CD3"/>
          </a:solidFill>
          <a:ln w="12700">
            <a:solidFill>
              <a:srgbClr val="4B9CD3"/>
            </a:solidFill>
            <a:prstDash val="solid"/>
          </a:ln>
        </p:spPr>
        <p:txBody>
          <a:bodyPr/>
          <a:lstStyle/>
          <a:p>
            <a:endParaRPr lang="en-US"/>
          </a:p>
        </p:txBody>
      </p:sp>
      <p:sp>
        <p:nvSpPr>
          <p:cNvPr id="14" name="Text 12"/>
          <p:cNvSpPr/>
          <p:nvPr/>
        </p:nvSpPr>
        <p:spPr>
          <a:xfrm>
            <a:off x="411480" y="3127248"/>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896112" y="3035808"/>
            <a:ext cx="3749040" cy="777240"/>
          </a:xfrm>
          <a:prstGeom prst="rect">
            <a:avLst/>
          </a:prstGeom>
          <a:noFill/>
          <a:ln/>
        </p:spPr>
        <p:txBody>
          <a:bodyPr wrap="square" rtlCol="0" anchor="ctr"/>
          <a:lstStyle/>
          <a:p>
            <a:pPr marL="0" indent="0">
              <a:buNone/>
            </a:pPr>
            <a:r>
              <a:rPr lang="en-US" sz="1200" dirty="0">
                <a:solidFill>
                  <a:srgbClr val="D6EAF8"/>
                </a:solidFill>
                <a:latin typeface="Calibri" pitchFamily="34" charset="0"/>
                <a:ea typeface="Calibri" pitchFamily="34" charset="-122"/>
                <a:cs typeface="Calibri" pitchFamily="34" charset="-120"/>
              </a:rPr>
              <a:t>At threshold 0.35, recall exceeds 0.85 — viable for population screening deployment.</a:t>
            </a:r>
            <a:endParaRPr lang="en-US" sz="1200" dirty="0"/>
          </a:p>
        </p:txBody>
      </p:sp>
      <p:sp>
        <p:nvSpPr>
          <p:cNvPr id="16" name="Shape 14"/>
          <p:cNvSpPr/>
          <p:nvPr/>
        </p:nvSpPr>
        <p:spPr>
          <a:xfrm>
            <a:off x="411480" y="4014216"/>
            <a:ext cx="347472" cy="347472"/>
          </a:xfrm>
          <a:prstGeom prst="rect">
            <a:avLst/>
          </a:prstGeom>
          <a:solidFill>
            <a:srgbClr val="4B9CD3"/>
          </a:solidFill>
          <a:ln w="12700">
            <a:solidFill>
              <a:srgbClr val="4B9CD3"/>
            </a:solidFill>
            <a:prstDash val="solid"/>
          </a:ln>
        </p:spPr>
        <p:txBody>
          <a:bodyPr/>
          <a:lstStyle/>
          <a:p>
            <a:endParaRPr lang="en-US"/>
          </a:p>
        </p:txBody>
      </p:sp>
      <p:sp>
        <p:nvSpPr>
          <p:cNvPr id="17" name="Text 15"/>
          <p:cNvSpPr/>
          <p:nvPr/>
        </p:nvSpPr>
        <p:spPr>
          <a:xfrm>
            <a:off x="411480" y="4014216"/>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896112" y="3922776"/>
            <a:ext cx="3749040" cy="777240"/>
          </a:xfrm>
          <a:prstGeom prst="rect">
            <a:avLst/>
          </a:prstGeom>
          <a:noFill/>
          <a:ln/>
        </p:spPr>
        <p:txBody>
          <a:bodyPr wrap="square" rtlCol="0" anchor="ctr"/>
          <a:lstStyle/>
          <a:p>
            <a:pPr marL="0" indent="0">
              <a:buNone/>
            </a:pPr>
            <a:r>
              <a:rPr lang="en-US" sz="1200" dirty="0">
                <a:solidFill>
                  <a:srgbClr val="D6EAF8"/>
                </a:solidFill>
                <a:latin typeface="Calibri" pitchFamily="34" charset="0"/>
                <a:ea typeface="Calibri" pitchFamily="34" charset="-122"/>
                <a:cs typeface="Calibri" pitchFamily="34" charset="-120"/>
              </a:rPr>
              <a:t>Algorithm choice is not the limiting factor. All three families cluster within 0.01 AUC.</a:t>
            </a:r>
            <a:endParaRPr lang="en-US" sz="1200" dirty="0"/>
          </a:p>
        </p:txBody>
      </p:sp>
      <p:sp>
        <p:nvSpPr>
          <p:cNvPr id="19" name="Shape 17"/>
          <p:cNvSpPr/>
          <p:nvPr/>
        </p:nvSpPr>
        <p:spPr>
          <a:xfrm>
            <a:off x="4892040" y="914400"/>
            <a:ext cx="3931920" cy="292608"/>
          </a:xfrm>
          <a:prstGeom prst="rect">
            <a:avLst/>
          </a:prstGeom>
          <a:solidFill>
            <a:srgbClr val="4B9CD3"/>
          </a:solidFill>
          <a:ln w="12700">
            <a:solidFill>
              <a:srgbClr val="4B9CD3"/>
            </a:solidFill>
            <a:prstDash val="solid"/>
          </a:ln>
        </p:spPr>
        <p:txBody>
          <a:bodyPr/>
          <a:lstStyle/>
          <a:p>
            <a:endParaRPr lang="en-US"/>
          </a:p>
        </p:txBody>
      </p:sp>
      <p:sp>
        <p:nvSpPr>
          <p:cNvPr id="20" name="Text 18"/>
          <p:cNvSpPr/>
          <p:nvPr/>
        </p:nvSpPr>
        <p:spPr>
          <a:xfrm>
            <a:off x="4892040" y="914400"/>
            <a:ext cx="3931920"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Next Steps to Break 0.90 AUC</a:t>
            </a:r>
            <a:endParaRPr lang="en-US" sz="1200" dirty="0"/>
          </a:p>
        </p:txBody>
      </p:sp>
      <p:sp>
        <p:nvSpPr>
          <p:cNvPr id="21" name="Shape 19"/>
          <p:cNvSpPr/>
          <p:nvPr/>
        </p:nvSpPr>
        <p:spPr>
          <a:xfrm>
            <a:off x="4892040" y="1298448"/>
            <a:ext cx="3931920" cy="530352"/>
          </a:xfrm>
          <a:prstGeom prst="rect">
            <a:avLst/>
          </a:prstGeom>
          <a:solidFill>
            <a:srgbClr val="1A3A5C"/>
          </a:solidFill>
          <a:ln w="12700">
            <a:solidFill>
              <a:srgbClr val="1A3A5C"/>
            </a:solidFill>
            <a:prstDash val="solid"/>
          </a:ln>
        </p:spPr>
        <p:txBody>
          <a:bodyPr/>
          <a:lstStyle/>
          <a:p>
            <a:endParaRPr lang="en-US"/>
          </a:p>
        </p:txBody>
      </p:sp>
      <p:sp>
        <p:nvSpPr>
          <p:cNvPr id="22" name="Shape 20"/>
          <p:cNvSpPr/>
          <p:nvPr/>
        </p:nvSpPr>
        <p:spPr>
          <a:xfrm>
            <a:off x="4892040" y="1298448"/>
            <a:ext cx="1005840" cy="530352"/>
          </a:xfrm>
          <a:prstGeom prst="rect">
            <a:avLst/>
          </a:prstGeom>
          <a:solidFill>
            <a:srgbClr val="4B9CD3"/>
          </a:solidFill>
          <a:ln w="12700">
            <a:solidFill>
              <a:srgbClr val="4B9CD3"/>
            </a:solidFill>
            <a:prstDash val="solid"/>
          </a:ln>
        </p:spPr>
        <p:txBody>
          <a:bodyPr/>
          <a:lstStyle/>
          <a:p>
            <a:endParaRPr lang="en-US"/>
          </a:p>
        </p:txBody>
      </p:sp>
      <p:sp>
        <p:nvSpPr>
          <p:cNvPr id="23" name="Text 21"/>
          <p:cNvSpPr/>
          <p:nvPr/>
        </p:nvSpPr>
        <p:spPr>
          <a:xfrm>
            <a:off x="4892040" y="1298448"/>
            <a:ext cx="1005840" cy="53035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159K dataset</a:t>
            </a:r>
            <a:endParaRPr lang="en-US" sz="1000" dirty="0"/>
          </a:p>
        </p:txBody>
      </p:sp>
      <p:sp>
        <p:nvSpPr>
          <p:cNvPr id="24" name="Text 22"/>
          <p:cNvSpPr/>
          <p:nvPr/>
        </p:nvSpPr>
        <p:spPr>
          <a:xfrm>
            <a:off x="5989320" y="1298448"/>
            <a:ext cx="2788920" cy="530352"/>
          </a:xfrm>
          <a:prstGeom prst="rect">
            <a:avLst/>
          </a:prstGeom>
          <a:noFill/>
          <a:ln/>
        </p:spPr>
        <p:txBody>
          <a:bodyPr wrap="square" rtlCol="0" anchor="ctr"/>
          <a:lstStyle/>
          <a:p>
            <a:pPr marL="0" indent="0">
              <a:buNone/>
            </a:pPr>
            <a:r>
              <a:rPr lang="en-US" sz="1050" dirty="0">
                <a:solidFill>
                  <a:srgbClr val="D6EAF8"/>
                </a:solidFill>
                <a:latin typeface="Calibri" pitchFamily="34" charset="0"/>
                <a:ea typeface="Calibri" pitchFamily="34" charset="-122"/>
                <a:cs typeface="Calibri" pitchFamily="34" charset="-120"/>
              </a:rPr>
              <a:t>Full Bio-Signals data → +0.015–0.030 AUC (10× scaling)</a:t>
            </a:r>
            <a:endParaRPr lang="en-US" sz="1050" dirty="0"/>
          </a:p>
        </p:txBody>
      </p:sp>
      <p:sp>
        <p:nvSpPr>
          <p:cNvPr id="25" name="Shape 23"/>
          <p:cNvSpPr/>
          <p:nvPr/>
        </p:nvSpPr>
        <p:spPr>
          <a:xfrm>
            <a:off x="4892040" y="1911096"/>
            <a:ext cx="3931920" cy="530352"/>
          </a:xfrm>
          <a:prstGeom prst="rect">
            <a:avLst/>
          </a:prstGeom>
          <a:solidFill>
            <a:srgbClr val="1A3A5C"/>
          </a:solidFill>
          <a:ln w="12700">
            <a:solidFill>
              <a:srgbClr val="1A3A5C"/>
            </a:solidFill>
            <a:prstDash val="solid"/>
          </a:ln>
        </p:spPr>
        <p:txBody>
          <a:bodyPr/>
          <a:lstStyle/>
          <a:p>
            <a:endParaRPr lang="en-US"/>
          </a:p>
        </p:txBody>
      </p:sp>
      <p:sp>
        <p:nvSpPr>
          <p:cNvPr id="26" name="Shape 24"/>
          <p:cNvSpPr/>
          <p:nvPr/>
        </p:nvSpPr>
        <p:spPr>
          <a:xfrm>
            <a:off x="4892040" y="1911096"/>
            <a:ext cx="1005840" cy="530352"/>
          </a:xfrm>
          <a:prstGeom prst="rect">
            <a:avLst/>
          </a:prstGeom>
          <a:solidFill>
            <a:srgbClr val="4B9CD3"/>
          </a:solidFill>
          <a:ln w="12700">
            <a:solidFill>
              <a:srgbClr val="4B9CD3"/>
            </a:solidFill>
            <a:prstDash val="solid"/>
          </a:ln>
        </p:spPr>
        <p:txBody>
          <a:bodyPr/>
          <a:lstStyle/>
          <a:p>
            <a:endParaRPr lang="en-US"/>
          </a:p>
        </p:txBody>
      </p:sp>
      <p:sp>
        <p:nvSpPr>
          <p:cNvPr id="27" name="Text 25"/>
          <p:cNvSpPr/>
          <p:nvPr/>
        </p:nvSpPr>
        <p:spPr>
          <a:xfrm>
            <a:off x="4892040" y="1911096"/>
            <a:ext cx="1005840" cy="53035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XGB + LightGBM</a:t>
            </a:r>
            <a:endParaRPr lang="en-US" sz="1000" dirty="0"/>
          </a:p>
        </p:txBody>
      </p:sp>
      <p:sp>
        <p:nvSpPr>
          <p:cNvPr id="28" name="Text 26"/>
          <p:cNvSpPr/>
          <p:nvPr/>
        </p:nvSpPr>
        <p:spPr>
          <a:xfrm>
            <a:off x="5989320" y="1911096"/>
            <a:ext cx="2788920" cy="530352"/>
          </a:xfrm>
          <a:prstGeom prst="rect">
            <a:avLst/>
          </a:prstGeom>
          <a:noFill/>
          <a:ln/>
        </p:spPr>
        <p:txBody>
          <a:bodyPr wrap="square" rtlCol="0" anchor="ctr"/>
          <a:lstStyle/>
          <a:p>
            <a:pPr marL="0" indent="0">
              <a:buNone/>
            </a:pPr>
            <a:r>
              <a:rPr lang="en-US" sz="1050" dirty="0">
                <a:solidFill>
                  <a:srgbClr val="D6EAF8"/>
                </a:solidFill>
                <a:latin typeface="Calibri" pitchFamily="34" charset="0"/>
                <a:ea typeface="Calibri" pitchFamily="34" charset="-122"/>
                <a:cs typeface="Calibri" pitchFamily="34" charset="-120"/>
              </a:rPr>
              <a:t>Stacked ensemble with LR meta-learner</a:t>
            </a:r>
            <a:endParaRPr lang="en-US" sz="1050" dirty="0"/>
          </a:p>
        </p:txBody>
      </p:sp>
      <p:sp>
        <p:nvSpPr>
          <p:cNvPr id="29" name="Shape 27"/>
          <p:cNvSpPr/>
          <p:nvPr/>
        </p:nvSpPr>
        <p:spPr>
          <a:xfrm>
            <a:off x="4892040" y="2523744"/>
            <a:ext cx="3931920" cy="530352"/>
          </a:xfrm>
          <a:prstGeom prst="rect">
            <a:avLst/>
          </a:prstGeom>
          <a:solidFill>
            <a:srgbClr val="1A3A5C"/>
          </a:solidFill>
          <a:ln w="12700">
            <a:solidFill>
              <a:srgbClr val="1A3A5C"/>
            </a:solidFill>
            <a:prstDash val="solid"/>
          </a:ln>
        </p:spPr>
        <p:txBody>
          <a:bodyPr/>
          <a:lstStyle/>
          <a:p>
            <a:endParaRPr lang="en-US"/>
          </a:p>
        </p:txBody>
      </p:sp>
      <p:sp>
        <p:nvSpPr>
          <p:cNvPr id="30" name="Shape 28"/>
          <p:cNvSpPr/>
          <p:nvPr/>
        </p:nvSpPr>
        <p:spPr>
          <a:xfrm>
            <a:off x="4892040" y="2523744"/>
            <a:ext cx="1005840" cy="530352"/>
          </a:xfrm>
          <a:prstGeom prst="rect">
            <a:avLst/>
          </a:prstGeom>
          <a:solidFill>
            <a:srgbClr val="4B9CD3"/>
          </a:solidFill>
          <a:ln w="12700">
            <a:solidFill>
              <a:srgbClr val="4B9CD3"/>
            </a:solidFill>
            <a:prstDash val="solid"/>
          </a:ln>
        </p:spPr>
        <p:txBody>
          <a:bodyPr/>
          <a:lstStyle/>
          <a:p>
            <a:endParaRPr lang="en-US"/>
          </a:p>
        </p:txBody>
      </p:sp>
      <p:sp>
        <p:nvSpPr>
          <p:cNvPr id="31" name="Text 29"/>
          <p:cNvSpPr/>
          <p:nvPr/>
        </p:nvSpPr>
        <p:spPr>
          <a:xfrm>
            <a:off x="4892040" y="2523744"/>
            <a:ext cx="1005840" cy="53035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SHAP values</a:t>
            </a:r>
            <a:endParaRPr lang="en-US" sz="1000" dirty="0"/>
          </a:p>
        </p:txBody>
      </p:sp>
      <p:sp>
        <p:nvSpPr>
          <p:cNvPr id="32" name="Text 30"/>
          <p:cNvSpPr/>
          <p:nvPr/>
        </p:nvSpPr>
        <p:spPr>
          <a:xfrm>
            <a:off x="5989320" y="2523744"/>
            <a:ext cx="2788920" cy="530352"/>
          </a:xfrm>
          <a:prstGeom prst="rect">
            <a:avLst/>
          </a:prstGeom>
          <a:noFill/>
          <a:ln/>
        </p:spPr>
        <p:txBody>
          <a:bodyPr wrap="square" rtlCol="0" anchor="ctr"/>
          <a:lstStyle/>
          <a:p>
            <a:pPr marL="0" indent="0">
              <a:buNone/>
            </a:pPr>
            <a:r>
              <a:rPr lang="en-US" sz="1050" dirty="0">
                <a:solidFill>
                  <a:srgbClr val="D6EAF8"/>
                </a:solidFill>
                <a:latin typeface="Calibri" pitchFamily="34" charset="0"/>
                <a:ea typeface="Calibri" pitchFamily="34" charset="-122"/>
                <a:cs typeface="Calibri" pitchFamily="34" charset="-120"/>
              </a:rPr>
              <a:t>Replace Gini MDI with model-agnostic attribution</a:t>
            </a:r>
            <a:endParaRPr lang="en-US" sz="1050" dirty="0"/>
          </a:p>
        </p:txBody>
      </p:sp>
      <p:sp>
        <p:nvSpPr>
          <p:cNvPr id="33" name="Shape 31"/>
          <p:cNvSpPr/>
          <p:nvPr/>
        </p:nvSpPr>
        <p:spPr>
          <a:xfrm>
            <a:off x="4892040" y="3136392"/>
            <a:ext cx="3931920" cy="530352"/>
          </a:xfrm>
          <a:prstGeom prst="rect">
            <a:avLst/>
          </a:prstGeom>
          <a:solidFill>
            <a:srgbClr val="1A3A5C"/>
          </a:solidFill>
          <a:ln w="12700">
            <a:solidFill>
              <a:srgbClr val="1A3A5C"/>
            </a:solidFill>
            <a:prstDash val="solid"/>
          </a:ln>
        </p:spPr>
        <p:txBody>
          <a:bodyPr/>
          <a:lstStyle/>
          <a:p>
            <a:endParaRPr lang="en-US"/>
          </a:p>
        </p:txBody>
      </p:sp>
      <p:sp>
        <p:nvSpPr>
          <p:cNvPr id="34" name="Shape 32"/>
          <p:cNvSpPr/>
          <p:nvPr/>
        </p:nvSpPr>
        <p:spPr>
          <a:xfrm>
            <a:off x="4892040" y="3136392"/>
            <a:ext cx="1005840" cy="530352"/>
          </a:xfrm>
          <a:prstGeom prst="rect">
            <a:avLst/>
          </a:prstGeom>
          <a:solidFill>
            <a:srgbClr val="4B9CD3"/>
          </a:solidFill>
          <a:ln w="12700">
            <a:solidFill>
              <a:srgbClr val="4B9CD3"/>
            </a:solidFill>
            <a:prstDash val="solid"/>
          </a:ln>
        </p:spPr>
        <p:txBody>
          <a:bodyPr/>
          <a:lstStyle/>
          <a:p>
            <a:endParaRPr lang="en-US"/>
          </a:p>
        </p:txBody>
      </p:sp>
      <p:sp>
        <p:nvSpPr>
          <p:cNvPr id="35" name="Text 33"/>
          <p:cNvSpPr/>
          <p:nvPr/>
        </p:nvSpPr>
        <p:spPr>
          <a:xfrm>
            <a:off x="4892040" y="3136392"/>
            <a:ext cx="1005840" cy="53035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Add sex field</a:t>
            </a:r>
            <a:endParaRPr lang="en-US" sz="1000" dirty="0"/>
          </a:p>
        </p:txBody>
      </p:sp>
      <p:sp>
        <p:nvSpPr>
          <p:cNvPr id="36" name="Text 34"/>
          <p:cNvSpPr/>
          <p:nvPr/>
        </p:nvSpPr>
        <p:spPr>
          <a:xfrm>
            <a:off x="5989320" y="3136392"/>
            <a:ext cx="2788920" cy="530352"/>
          </a:xfrm>
          <a:prstGeom prst="rect">
            <a:avLst/>
          </a:prstGeom>
          <a:noFill/>
          <a:ln/>
        </p:spPr>
        <p:txBody>
          <a:bodyPr wrap="square" rtlCol="0" anchor="ctr"/>
          <a:lstStyle/>
          <a:p>
            <a:pPr marL="0" indent="0">
              <a:buNone/>
            </a:pPr>
            <a:r>
              <a:rPr lang="en-US" sz="1050" dirty="0">
                <a:solidFill>
                  <a:srgbClr val="D6EAF8"/>
                </a:solidFill>
                <a:latin typeface="Calibri" pitchFamily="34" charset="0"/>
                <a:ea typeface="Calibri" pitchFamily="34" charset="-122"/>
                <a:cs typeface="Calibri" pitchFamily="34" charset="-120"/>
              </a:rPr>
              <a:t>Disentangle height confound from real anthropometric signal</a:t>
            </a:r>
            <a:endParaRPr lang="en-US" sz="1050" dirty="0"/>
          </a:p>
        </p:txBody>
      </p:sp>
      <p:sp>
        <p:nvSpPr>
          <p:cNvPr id="37" name="Shape 35"/>
          <p:cNvSpPr/>
          <p:nvPr/>
        </p:nvSpPr>
        <p:spPr>
          <a:xfrm>
            <a:off x="4892040" y="3749040"/>
            <a:ext cx="3931920" cy="530352"/>
          </a:xfrm>
          <a:prstGeom prst="rect">
            <a:avLst/>
          </a:prstGeom>
          <a:solidFill>
            <a:srgbClr val="1A3A5C"/>
          </a:solidFill>
          <a:ln w="12700">
            <a:solidFill>
              <a:srgbClr val="1A3A5C"/>
            </a:solidFill>
            <a:prstDash val="solid"/>
          </a:ln>
        </p:spPr>
        <p:txBody>
          <a:bodyPr/>
          <a:lstStyle/>
          <a:p>
            <a:endParaRPr lang="en-US"/>
          </a:p>
        </p:txBody>
      </p:sp>
      <p:sp>
        <p:nvSpPr>
          <p:cNvPr id="38" name="Shape 36"/>
          <p:cNvSpPr/>
          <p:nvPr/>
        </p:nvSpPr>
        <p:spPr>
          <a:xfrm>
            <a:off x="4892040" y="3749040"/>
            <a:ext cx="1005840" cy="530352"/>
          </a:xfrm>
          <a:prstGeom prst="rect">
            <a:avLst/>
          </a:prstGeom>
          <a:solidFill>
            <a:srgbClr val="4B9CD3"/>
          </a:solidFill>
          <a:ln w="12700">
            <a:solidFill>
              <a:srgbClr val="4B9CD3"/>
            </a:solidFill>
            <a:prstDash val="solid"/>
          </a:ln>
        </p:spPr>
        <p:txBody>
          <a:bodyPr/>
          <a:lstStyle/>
          <a:p>
            <a:endParaRPr lang="en-US"/>
          </a:p>
        </p:txBody>
      </p:sp>
      <p:sp>
        <p:nvSpPr>
          <p:cNvPr id="39" name="Text 37"/>
          <p:cNvSpPr/>
          <p:nvPr/>
        </p:nvSpPr>
        <p:spPr>
          <a:xfrm>
            <a:off x="4892040" y="3749040"/>
            <a:ext cx="1005840" cy="53035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Add alcohol var</a:t>
            </a:r>
            <a:endParaRPr lang="en-US" sz="1000" dirty="0"/>
          </a:p>
        </p:txBody>
      </p:sp>
      <p:sp>
        <p:nvSpPr>
          <p:cNvPr id="40" name="Text 38"/>
          <p:cNvSpPr/>
          <p:nvPr/>
        </p:nvSpPr>
        <p:spPr>
          <a:xfrm>
            <a:off x="5989320" y="3749040"/>
            <a:ext cx="2788920" cy="530352"/>
          </a:xfrm>
          <a:prstGeom prst="rect">
            <a:avLst/>
          </a:prstGeom>
          <a:noFill/>
          <a:ln/>
        </p:spPr>
        <p:txBody>
          <a:bodyPr wrap="square" rtlCol="0" anchor="ctr"/>
          <a:lstStyle/>
          <a:p>
            <a:pPr marL="0" indent="0">
              <a:buNone/>
            </a:pPr>
            <a:r>
              <a:rPr lang="en-US" sz="1050" dirty="0">
                <a:solidFill>
                  <a:srgbClr val="D6EAF8"/>
                </a:solidFill>
                <a:latin typeface="Calibri" pitchFamily="34" charset="0"/>
                <a:ea typeface="Calibri" pitchFamily="34" charset="-122"/>
                <a:cs typeface="Calibri" pitchFamily="34" charset="-120"/>
              </a:rPr>
              <a:t>Isolate tobacco-specific signal in Gtp, ALT, AST</a:t>
            </a:r>
            <a:endParaRPr lang="en-US" sz="1050" dirty="0"/>
          </a:p>
        </p:txBody>
      </p:sp>
      <p:sp>
        <p:nvSpPr>
          <p:cNvPr id="41" name="Shape 39"/>
          <p:cNvSpPr/>
          <p:nvPr/>
        </p:nvSpPr>
        <p:spPr>
          <a:xfrm>
            <a:off x="4892040" y="4361688"/>
            <a:ext cx="3931920" cy="530352"/>
          </a:xfrm>
          <a:prstGeom prst="rect">
            <a:avLst/>
          </a:prstGeom>
          <a:solidFill>
            <a:srgbClr val="1A3A5C"/>
          </a:solidFill>
          <a:ln w="12700">
            <a:solidFill>
              <a:srgbClr val="1A3A5C"/>
            </a:solidFill>
            <a:prstDash val="solid"/>
          </a:ln>
        </p:spPr>
        <p:txBody>
          <a:bodyPr/>
          <a:lstStyle/>
          <a:p>
            <a:endParaRPr lang="en-US"/>
          </a:p>
        </p:txBody>
      </p:sp>
      <p:sp>
        <p:nvSpPr>
          <p:cNvPr id="42" name="Shape 40"/>
          <p:cNvSpPr/>
          <p:nvPr/>
        </p:nvSpPr>
        <p:spPr>
          <a:xfrm>
            <a:off x="4892040" y="4361688"/>
            <a:ext cx="1005840" cy="530352"/>
          </a:xfrm>
          <a:prstGeom prst="rect">
            <a:avLst/>
          </a:prstGeom>
          <a:solidFill>
            <a:srgbClr val="4B9CD3"/>
          </a:solidFill>
          <a:ln w="12700">
            <a:solidFill>
              <a:srgbClr val="4B9CD3"/>
            </a:solidFill>
            <a:prstDash val="solid"/>
          </a:ln>
        </p:spPr>
        <p:txBody>
          <a:bodyPr/>
          <a:lstStyle/>
          <a:p>
            <a:endParaRPr lang="en-US"/>
          </a:p>
        </p:txBody>
      </p:sp>
      <p:sp>
        <p:nvSpPr>
          <p:cNvPr id="43" name="Text 41"/>
          <p:cNvSpPr/>
          <p:nvPr/>
        </p:nvSpPr>
        <p:spPr>
          <a:xfrm>
            <a:off x="4892040" y="4361688"/>
            <a:ext cx="1005840" cy="53035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Platt scaling</a:t>
            </a:r>
            <a:endParaRPr lang="en-US" sz="1000" dirty="0"/>
          </a:p>
        </p:txBody>
      </p:sp>
      <p:sp>
        <p:nvSpPr>
          <p:cNvPr id="44" name="Text 42"/>
          <p:cNvSpPr/>
          <p:nvPr/>
        </p:nvSpPr>
        <p:spPr>
          <a:xfrm>
            <a:off x="5989320" y="4361688"/>
            <a:ext cx="2788920" cy="530352"/>
          </a:xfrm>
          <a:prstGeom prst="rect">
            <a:avLst/>
          </a:prstGeom>
          <a:noFill/>
          <a:ln/>
        </p:spPr>
        <p:txBody>
          <a:bodyPr wrap="square" rtlCol="0" anchor="ctr"/>
          <a:lstStyle/>
          <a:p>
            <a:pPr marL="0" indent="0">
              <a:buNone/>
            </a:pPr>
            <a:r>
              <a:rPr lang="en-US" sz="1050" dirty="0">
                <a:solidFill>
                  <a:srgbClr val="D6EAF8"/>
                </a:solidFill>
                <a:latin typeface="Calibri" pitchFamily="34" charset="0"/>
                <a:ea typeface="Calibri" pitchFamily="34" charset="-122"/>
                <a:cs typeface="Calibri" pitchFamily="34" charset="-120"/>
              </a:rPr>
              <a:t>Calibrate high-confidence predictions capped at 0.85</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3294B"/>
          </a:solidFill>
          <a:ln w="12700">
            <a:solidFill>
              <a:srgbClr val="13294B"/>
            </a:solidFill>
            <a:prstDash val="solid"/>
          </a:ln>
        </p:spPr>
        <p:txBody>
          <a:bodyPr/>
          <a:lstStyle/>
          <a:p>
            <a:endParaRPr lang="en-US"/>
          </a:p>
        </p:txBody>
      </p:sp>
      <p:sp>
        <p:nvSpPr>
          <p:cNvPr id="3" name="Text 1"/>
          <p:cNvSpPr/>
          <p:nvPr/>
        </p:nvSpPr>
        <p:spPr>
          <a:xfrm>
            <a:off x="320040" y="0"/>
            <a:ext cx="8503920" cy="5486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Appendix · Anticipated Q</a:t>
            </a:r>
            <a:r>
              <a:rPr lang="en-US" sz="2000" b="1">
                <a:solidFill>
                  <a:srgbClr val="FFFFFF"/>
                </a:solidFill>
                <a:latin typeface="Calibri" pitchFamily="34" charset="0"/>
                <a:ea typeface="Calibri" pitchFamily="34" charset="-122"/>
                <a:cs typeface="Calibri" pitchFamily="34" charset="-120"/>
              </a:rPr>
              <a:t>&amp;A: </a:t>
            </a:r>
            <a:r>
              <a:rPr lang="en-US" sz="2000" b="1" dirty="0">
                <a:solidFill>
                  <a:srgbClr val="FFFFFF"/>
                </a:solidFill>
                <a:latin typeface="Calibri" pitchFamily="34" charset="0"/>
                <a:ea typeface="Calibri" pitchFamily="34" charset="-122"/>
                <a:cs typeface="Calibri" pitchFamily="34" charset="-120"/>
              </a:rPr>
              <a:t>Have Ready During Q&amp;A Period</a:t>
            </a:r>
            <a:endParaRPr lang="en-US" sz="2000" dirty="0"/>
          </a:p>
        </p:txBody>
      </p:sp>
      <p:sp>
        <p:nvSpPr>
          <p:cNvPr id="4" name="Shape 2"/>
          <p:cNvSpPr/>
          <p:nvPr/>
        </p:nvSpPr>
        <p:spPr>
          <a:xfrm>
            <a:off x="0" y="548640"/>
            <a:ext cx="9144000" cy="54864"/>
          </a:xfrm>
          <a:prstGeom prst="rect">
            <a:avLst/>
          </a:prstGeom>
          <a:solidFill>
            <a:srgbClr val="4B9CD3"/>
          </a:solidFill>
          <a:ln w="12700">
            <a:solidFill>
              <a:srgbClr val="4B9CD3"/>
            </a:solidFill>
            <a:prstDash val="solid"/>
          </a:ln>
        </p:spPr>
        <p:txBody>
          <a:bodyPr/>
          <a:lstStyle/>
          <a:p>
            <a:endParaRPr lang="en-US"/>
          </a:p>
        </p:txBody>
      </p:sp>
      <p:sp>
        <p:nvSpPr>
          <p:cNvPr id="5" name="Shape 3"/>
          <p:cNvSpPr/>
          <p:nvPr/>
        </p:nvSpPr>
        <p:spPr>
          <a:xfrm>
            <a:off x="274320" y="749808"/>
            <a:ext cx="8631936" cy="950976"/>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6" name="Shape 4"/>
          <p:cNvSpPr/>
          <p:nvPr/>
        </p:nvSpPr>
        <p:spPr>
          <a:xfrm>
            <a:off x="274320" y="749808"/>
            <a:ext cx="64008" cy="950976"/>
          </a:xfrm>
          <a:prstGeom prst="rect">
            <a:avLst/>
          </a:prstGeom>
          <a:solidFill>
            <a:srgbClr val="4B9CD3"/>
          </a:solidFill>
          <a:ln w="12700">
            <a:solidFill>
              <a:srgbClr val="4B9CD3"/>
            </a:solidFill>
            <a:prstDash val="solid"/>
          </a:ln>
        </p:spPr>
        <p:txBody>
          <a:bodyPr/>
          <a:lstStyle/>
          <a:p>
            <a:endParaRPr lang="en-US"/>
          </a:p>
        </p:txBody>
      </p:sp>
      <p:sp>
        <p:nvSpPr>
          <p:cNvPr id="7" name="Text 5"/>
          <p:cNvSpPr/>
          <p:nvPr/>
        </p:nvSpPr>
        <p:spPr>
          <a:xfrm>
            <a:off x="457200" y="795528"/>
            <a:ext cx="8321040" cy="274320"/>
          </a:xfrm>
          <a:prstGeom prst="rect">
            <a:avLst/>
          </a:prstGeom>
          <a:noFill/>
          <a:ln/>
        </p:spPr>
        <p:txBody>
          <a:bodyPr wrap="square" lIns="0" tIns="0" rIns="0" bIns="0" rtlCol="0" anchor="ctr"/>
          <a:lstStyle/>
          <a:p>
            <a:pPr marL="0" indent="0">
              <a:buNone/>
            </a:pPr>
            <a:r>
              <a:rPr lang="en-US" sz="1150" b="1" dirty="0">
                <a:solidFill>
                  <a:srgbClr val="13294B"/>
                </a:solidFill>
                <a:latin typeface="Calibri" pitchFamily="34" charset="0"/>
                <a:ea typeface="Calibri" pitchFamily="34" charset="-122"/>
                <a:cs typeface="Calibri" pitchFamily="34" charset="-120"/>
              </a:rPr>
              <a:t>Q: Why not just use serum cotinine — the gold-standard biomarker?</a:t>
            </a:r>
            <a:endParaRPr lang="en-US" sz="1150" dirty="0"/>
          </a:p>
        </p:txBody>
      </p:sp>
      <p:sp>
        <p:nvSpPr>
          <p:cNvPr id="8" name="Text 6"/>
          <p:cNvSpPr/>
          <p:nvPr/>
        </p:nvSpPr>
        <p:spPr>
          <a:xfrm>
            <a:off x="457200" y="1106424"/>
            <a:ext cx="8321040" cy="5212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 Cotinine isn't in this dataset. The project is explicitly constrained to what's already collected in a standard health screening panel. The clinical value of this approach is that it uses what's already there — no additional tests needed.</a:t>
            </a:r>
            <a:endParaRPr lang="en-US" sz="1100" dirty="0"/>
          </a:p>
        </p:txBody>
      </p:sp>
      <p:sp>
        <p:nvSpPr>
          <p:cNvPr id="9" name="Shape 7"/>
          <p:cNvSpPr/>
          <p:nvPr/>
        </p:nvSpPr>
        <p:spPr>
          <a:xfrm>
            <a:off x="274320" y="1819656"/>
            <a:ext cx="8631936" cy="950976"/>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0" name="Shape 8"/>
          <p:cNvSpPr/>
          <p:nvPr/>
        </p:nvSpPr>
        <p:spPr>
          <a:xfrm>
            <a:off x="274320" y="1819656"/>
            <a:ext cx="64008" cy="950976"/>
          </a:xfrm>
          <a:prstGeom prst="rect">
            <a:avLst/>
          </a:prstGeom>
          <a:solidFill>
            <a:srgbClr val="4B9CD3"/>
          </a:solidFill>
          <a:ln w="12700">
            <a:solidFill>
              <a:srgbClr val="4B9CD3"/>
            </a:solidFill>
            <a:prstDash val="solid"/>
          </a:ln>
        </p:spPr>
        <p:txBody>
          <a:bodyPr/>
          <a:lstStyle/>
          <a:p>
            <a:endParaRPr lang="en-US"/>
          </a:p>
        </p:txBody>
      </p:sp>
      <p:sp>
        <p:nvSpPr>
          <p:cNvPr id="11" name="Text 9"/>
          <p:cNvSpPr/>
          <p:nvPr/>
        </p:nvSpPr>
        <p:spPr>
          <a:xfrm>
            <a:off x="457200" y="1865376"/>
            <a:ext cx="8321040" cy="274320"/>
          </a:xfrm>
          <a:prstGeom prst="rect">
            <a:avLst/>
          </a:prstGeom>
          <a:noFill/>
          <a:ln/>
        </p:spPr>
        <p:txBody>
          <a:bodyPr wrap="square" lIns="0" tIns="0" rIns="0" bIns="0" rtlCol="0" anchor="ctr"/>
          <a:lstStyle/>
          <a:p>
            <a:pPr marL="0" indent="0">
              <a:buNone/>
            </a:pPr>
            <a:r>
              <a:rPr lang="en-US" sz="1150" b="1" dirty="0">
                <a:solidFill>
                  <a:srgbClr val="13294B"/>
                </a:solidFill>
                <a:latin typeface="Calibri" pitchFamily="34" charset="0"/>
                <a:ea typeface="Calibri" pitchFamily="34" charset="-122"/>
                <a:cs typeface="Calibri" pitchFamily="34" charset="-120"/>
              </a:rPr>
              <a:t>Q: Height is doing heavy lifting as a sex proxy — does that break clinical utility?</a:t>
            </a:r>
            <a:endParaRPr lang="en-US" sz="1150" dirty="0"/>
          </a:p>
        </p:txBody>
      </p:sp>
      <p:sp>
        <p:nvSpPr>
          <p:cNvPr id="12" name="Text 10"/>
          <p:cNvSpPr/>
          <p:nvPr/>
        </p:nvSpPr>
        <p:spPr>
          <a:xfrm>
            <a:off x="457200" y="2176272"/>
            <a:ext cx="8321040" cy="5212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 It's a real limitation. Adding an explicit sex field would likely push height's Gini from 0.196 down substantially and isolate the genuine anthropometric smoking signal. In the current form the model is partially learning a sex-by-smoking joint distribution.</a:t>
            </a:r>
            <a:endParaRPr lang="en-US" sz="1100" dirty="0"/>
          </a:p>
        </p:txBody>
      </p:sp>
      <p:sp>
        <p:nvSpPr>
          <p:cNvPr id="13" name="Shape 11"/>
          <p:cNvSpPr/>
          <p:nvPr/>
        </p:nvSpPr>
        <p:spPr>
          <a:xfrm>
            <a:off x="274320" y="2889504"/>
            <a:ext cx="8631936" cy="950976"/>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4" name="Shape 12"/>
          <p:cNvSpPr/>
          <p:nvPr/>
        </p:nvSpPr>
        <p:spPr>
          <a:xfrm>
            <a:off x="274320" y="2889504"/>
            <a:ext cx="64008" cy="950976"/>
          </a:xfrm>
          <a:prstGeom prst="rect">
            <a:avLst/>
          </a:prstGeom>
          <a:solidFill>
            <a:srgbClr val="4B9CD3"/>
          </a:solidFill>
          <a:ln w="12700">
            <a:solidFill>
              <a:srgbClr val="4B9CD3"/>
            </a:solidFill>
            <a:prstDash val="solid"/>
          </a:ln>
        </p:spPr>
        <p:txBody>
          <a:bodyPr/>
          <a:lstStyle/>
          <a:p>
            <a:endParaRPr lang="en-US"/>
          </a:p>
        </p:txBody>
      </p:sp>
      <p:sp>
        <p:nvSpPr>
          <p:cNvPr id="15" name="Text 13"/>
          <p:cNvSpPr/>
          <p:nvPr/>
        </p:nvSpPr>
        <p:spPr>
          <a:xfrm>
            <a:off x="457200" y="2935224"/>
            <a:ext cx="8321040" cy="274320"/>
          </a:xfrm>
          <a:prstGeom prst="rect">
            <a:avLst/>
          </a:prstGeom>
          <a:noFill/>
          <a:ln/>
        </p:spPr>
        <p:txBody>
          <a:bodyPr wrap="square" lIns="0" tIns="0" rIns="0" bIns="0" rtlCol="0" anchor="ctr"/>
          <a:lstStyle/>
          <a:p>
            <a:pPr marL="0" indent="0">
              <a:buNone/>
            </a:pPr>
            <a:r>
              <a:rPr lang="en-US" sz="1150" b="1" dirty="0">
                <a:solidFill>
                  <a:srgbClr val="13294B"/>
                </a:solidFill>
                <a:latin typeface="Calibri" pitchFamily="34" charset="0"/>
                <a:ea typeface="Calibri" pitchFamily="34" charset="-122"/>
                <a:cs typeface="Calibri" pitchFamily="34" charset="-120"/>
              </a:rPr>
              <a:t>Q: Why Gradient Boosting over XGBoost or LightGBM?</a:t>
            </a:r>
            <a:endParaRPr lang="en-US" sz="1150" dirty="0"/>
          </a:p>
        </p:txBody>
      </p:sp>
      <p:sp>
        <p:nvSpPr>
          <p:cNvPr id="16" name="Text 14"/>
          <p:cNvSpPr/>
          <p:nvPr/>
        </p:nvSpPr>
        <p:spPr>
          <a:xfrm>
            <a:off x="457200" y="3246120"/>
            <a:ext cx="8321040" cy="5212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 Sklearn GBM was used for reproducibility and simplicity within course scope. XGB and LightGBM are valid next steps — explicitly listed as stacking candidates in the follow-up section.</a:t>
            </a:r>
            <a:endParaRPr lang="en-US" sz="1100" dirty="0"/>
          </a:p>
        </p:txBody>
      </p:sp>
      <p:sp>
        <p:nvSpPr>
          <p:cNvPr id="17" name="Shape 15"/>
          <p:cNvSpPr/>
          <p:nvPr/>
        </p:nvSpPr>
        <p:spPr>
          <a:xfrm>
            <a:off x="274320" y="3959352"/>
            <a:ext cx="8631936" cy="950976"/>
          </a:xfrm>
          <a:prstGeom prst="rect">
            <a:avLst/>
          </a:prstGeom>
          <a:solidFill>
            <a:srgbClr val="FFFFFF"/>
          </a:solidFill>
          <a:ln w="12700">
            <a:solidFill>
              <a:srgbClr val="E8ECF0"/>
            </a:solidFill>
            <a:prstDash val="solid"/>
          </a:ln>
          <a:effectLst>
            <a:outerShdw blurRad="50800" dist="25400" dir="8100000" algn="bl" rotWithShape="0">
              <a:srgbClr val="000000">
                <a:alpha val="10000"/>
              </a:srgbClr>
            </a:outerShdw>
          </a:effectLst>
        </p:spPr>
        <p:txBody>
          <a:bodyPr/>
          <a:lstStyle/>
          <a:p>
            <a:endParaRPr lang="en-US"/>
          </a:p>
        </p:txBody>
      </p:sp>
      <p:sp>
        <p:nvSpPr>
          <p:cNvPr id="18" name="Shape 16"/>
          <p:cNvSpPr/>
          <p:nvPr/>
        </p:nvSpPr>
        <p:spPr>
          <a:xfrm>
            <a:off x="274320" y="3959352"/>
            <a:ext cx="64008" cy="950976"/>
          </a:xfrm>
          <a:prstGeom prst="rect">
            <a:avLst/>
          </a:prstGeom>
          <a:solidFill>
            <a:srgbClr val="4B9CD3"/>
          </a:solidFill>
          <a:ln w="12700">
            <a:solidFill>
              <a:srgbClr val="4B9CD3"/>
            </a:solidFill>
            <a:prstDash val="solid"/>
          </a:ln>
        </p:spPr>
        <p:txBody>
          <a:bodyPr/>
          <a:lstStyle/>
          <a:p>
            <a:endParaRPr lang="en-US"/>
          </a:p>
        </p:txBody>
      </p:sp>
      <p:sp>
        <p:nvSpPr>
          <p:cNvPr id="19" name="Text 17"/>
          <p:cNvSpPr/>
          <p:nvPr/>
        </p:nvSpPr>
        <p:spPr>
          <a:xfrm>
            <a:off x="457200" y="4005072"/>
            <a:ext cx="8321040" cy="274320"/>
          </a:xfrm>
          <a:prstGeom prst="rect">
            <a:avLst/>
          </a:prstGeom>
          <a:noFill/>
          <a:ln/>
        </p:spPr>
        <p:txBody>
          <a:bodyPr wrap="square" lIns="0" tIns="0" rIns="0" bIns="0" rtlCol="0" anchor="ctr"/>
          <a:lstStyle/>
          <a:p>
            <a:pPr marL="0" indent="0">
              <a:buNone/>
            </a:pPr>
            <a:r>
              <a:rPr lang="en-US" sz="1150" b="1" dirty="0">
                <a:solidFill>
                  <a:srgbClr val="13294B"/>
                </a:solidFill>
                <a:latin typeface="Calibri" pitchFamily="34" charset="0"/>
                <a:ea typeface="Calibri" pitchFamily="34" charset="-122"/>
                <a:cs typeface="Calibri" pitchFamily="34" charset="-120"/>
              </a:rPr>
              <a:t>Q: The LassoCV feature selection doesn't reproduce in newer sklearn — is 'fully reproducible' a valid claim?</a:t>
            </a:r>
            <a:endParaRPr lang="en-US" sz="1150" dirty="0"/>
          </a:p>
        </p:txBody>
      </p:sp>
      <p:sp>
        <p:nvSpPr>
          <p:cNvPr id="20" name="Text 18"/>
          <p:cNvSpPr/>
          <p:nvPr/>
        </p:nvSpPr>
        <p:spPr>
          <a:xfrm>
            <a:off x="457200" y="4315968"/>
            <a:ext cx="8321040" cy="5212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 It's the one weak point. Pinning the sklearn version in requirements.txt and noting it in Appendix D closes the gap. Overall model performance holds regardless — numbers were independently verified on the uploaded CSV.</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5021</Words>
  <Application>Microsoft Macintosh PowerPoint</Application>
  <PresentationFormat>On-screen Show (16:9)</PresentationFormat>
  <Paragraphs>429</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Smoker Status Prediction — UNC Chapel Hill</dc:title>
  <dc:subject>PptxGenJS Presentation</dc:subject>
  <dc:creator>Aidan Colvin</dc:creator>
  <cp:lastModifiedBy>Aidan Colvin</cp:lastModifiedBy>
  <cp:revision>6</cp:revision>
  <dcterms:created xsi:type="dcterms:W3CDTF">2026-04-18T16:47:03Z</dcterms:created>
  <dcterms:modified xsi:type="dcterms:W3CDTF">2026-04-20T17:14:25Z</dcterms:modified>
</cp:coreProperties>
</file>